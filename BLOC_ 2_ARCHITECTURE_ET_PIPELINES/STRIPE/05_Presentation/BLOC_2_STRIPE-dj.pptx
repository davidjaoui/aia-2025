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2"/>
  </p:notesMasterIdLst>
  <p:sldIdLst>
    <p:sldId id="256" r:id="rId2"/>
    <p:sldId id="274" r:id="rId3"/>
    <p:sldId id="260" r:id="rId4"/>
    <p:sldId id="264" r:id="rId5"/>
    <p:sldId id="276" r:id="rId6"/>
    <p:sldId id="277" r:id="rId7"/>
    <p:sldId id="284" r:id="rId8"/>
    <p:sldId id="285" r:id="rId9"/>
    <p:sldId id="286" r:id="rId10"/>
    <p:sldId id="262" r:id="rId1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3FFFC"/>
    <a:srgbClr val="3FDAD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5" d="100"/>
          <a:sy n="115" d="100"/>
        </p:scale>
        <p:origin x="514" y="77"/>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77af7a6af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377af7a6af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a:extLst>
            <a:ext uri="{FF2B5EF4-FFF2-40B4-BE49-F238E27FC236}">
              <a16:creationId xmlns:a16="http://schemas.microsoft.com/office/drawing/2014/main" id="{2C04B894-06F1-570C-D71A-B0EC1204D3A2}"/>
            </a:ext>
          </a:extLst>
        </p:cNvPr>
        <p:cNvGrpSpPr/>
        <p:nvPr/>
      </p:nvGrpSpPr>
      <p:grpSpPr>
        <a:xfrm>
          <a:off x="0" y="0"/>
          <a:ext cx="0" cy="0"/>
          <a:chOff x="0" y="0"/>
          <a:chExt cx="0" cy="0"/>
        </a:xfrm>
      </p:grpSpPr>
      <p:sp>
        <p:nvSpPr>
          <p:cNvPr id="78" name="Google Shape;78;gf4f11f959e_0_5:notes">
            <a:extLst>
              <a:ext uri="{FF2B5EF4-FFF2-40B4-BE49-F238E27FC236}">
                <a16:creationId xmlns:a16="http://schemas.microsoft.com/office/drawing/2014/main" id="{8A2E5CE2-2C3A-6EED-91E5-EB22A77E19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9" name="Google Shape;79;gf4f11f959e_0_5:notes">
            <a:extLst>
              <a:ext uri="{FF2B5EF4-FFF2-40B4-BE49-F238E27FC236}">
                <a16:creationId xmlns:a16="http://schemas.microsoft.com/office/drawing/2014/main" id="{22D90CC6-B9E3-C944-00A3-323DB7172F2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5398422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f4f11f959e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2" name="Google Shape;92;gf4f11f959e_0_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D18D8B3B-7B1A-28AD-1F38-28EE64633811}"/>
            </a:ext>
          </a:extLst>
        </p:cNvPr>
        <p:cNvGrpSpPr/>
        <p:nvPr/>
      </p:nvGrpSpPr>
      <p:grpSpPr>
        <a:xfrm>
          <a:off x="0" y="0"/>
          <a:ext cx="0" cy="0"/>
          <a:chOff x="0" y="0"/>
          <a:chExt cx="0" cy="0"/>
        </a:xfrm>
      </p:grpSpPr>
      <p:sp>
        <p:nvSpPr>
          <p:cNvPr id="91" name="Google Shape;91;gf4f11f959e_0_29:notes">
            <a:extLst>
              <a:ext uri="{FF2B5EF4-FFF2-40B4-BE49-F238E27FC236}">
                <a16:creationId xmlns:a16="http://schemas.microsoft.com/office/drawing/2014/main" id="{3F548A22-368D-240C-755D-9A8D825BFC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2" name="Google Shape;92;gf4f11f959e_0_29:notes">
            <a:extLst>
              <a:ext uri="{FF2B5EF4-FFF2-40B4-BE49-F238E27FC236}">
                <a16:creationId xmlns:a16="http://schemas.microsoft.com/office/drawing/2014/main" id="{D3A90892-E0E5-A598-D4FA-B64B1DDD5BE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9018291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D18D8B3B-7B1A-28AD-1F38-28EE64633811}"/>
            </a:ext>
          </a:extLst>
        </p:cNvPr>
        <p:cNvGrpSpPr/>
        <p:nvPr/>
      </p:nvGrpSpPr>
      <p:grpSpPr>
        <a:xfrm>
          <a:off x="0" y="0"/>
          <a:ext cx="0" cy="0"/>
          <a:chOff x="0" y="0"/>
          <a:chExt cx="0" cy="0"/>
        </a:xfrm>
      </p:grpSpPr>
      <p:sp>
        <p:nvSpPr>
          <p:cNvPr id="91" name="Google Shape;91;gf4f11f959e_0_29:notes">
            <a:extLst>
              <a:ext uri="{FF2B5EF4-FFF2-40B4-BE49-F238E27FC236}">
                <a16:creationId xmlns:a16="http://schemas.microsoft.com/office/drawing/2014/main" id="{3F548A22-368D-240C-755D-9A8D825BFC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2" name="Google Shape;92;gf4f11f959e_0_29:notes">
            <a:extLst>
              <a:ext uri="{FF2B5EF4-FFF2-40B4-BE49-F238E27FC236}">
                <a16:creationId xmlns:a16="http://schemas.microsoft.com/office/drawing/2014/main" id="{D3A90892-E0E5-A598-D4FA-B64B1DDD5BE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0066691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D18D8B3B-7B1A-28AD-1F38-28EE64633811}"/>
            </a:ext>
          </a:extLst>
        </p:cNvPr>
        <p:cNvGrpSpPr/>
        <p:nvPr/>
      </p:nvGrpSpPr>
      <p:grpSpPr>
        <a:xfrm>
          <a:off x="0" y="0"/>
          <a:ext cx="0" cy="0"/>
          <a:chOff x="0" y="0"/>
          <a:chExt cx="0" cy="0"/>
        </a:xfrm>
      </p:grpSpPr>
      <p:sp>
        <p:nvSpPr>
          <p:cNvPr id="91" name="Google Shape;91;gf4f11f959e_0_29:notes">
            <a:extLst>
              <a:ext uri="{FF2B5EF4-FFF2-40B4-BE49-F238E27FC236}">
                <a16:creationId xmlns:a16="http://schemas.microsoft.com/office/drawing/2014/main" id="{3F548A22-368D-240C-755D-9A8D825BFC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2" name="Google Shape;92;gf4f11f959e_0_29:notes">
            <a:extLst>
              <a:ext uri="{FF2B5EF4-FFF2-40B4-BE49-F238E27FC236}">
                <a16:creationId xmlns:a16="http://schemas.microsoft.com/office/drawing/2014/main" id="{D3A90892-E0E5-A598-D4FA-B64B1DDD5BE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9043140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D18D8B3B-7B1A-28AD-1F38-28EE64633811}"/>
            </a:ext>
          </a:extLst>
        </p:cNvPr>
        <p:cNvGrpSpPr/>
        <p:nvPr/>
      </p:nvGrpSpPr>
      <p:grpSpPr>
        <a:xfrm>
          <a:off x="0" y="0"/>
          <a:ext cx="0" cy="0"/>
          <a:chOff x="0" y="0"/>
          <a:chExt cx="0" cy="0"/>
        </a:xfrm>
      </p:grpSpPr>
      <p:sp>
        <p:nvSpPr>
          <p:cNvPr id="91" name="Google Shape;91;gf4f11f959e_0_29:notes">
            <a:extLst>
              <a:ext uri="{FF2B5EF4-FFF2-40B4-BE49-F238E27FC236}">
                <a16:creationId xmlns:a16="http://schemas.microsoft.com/office/drawing/2014/main" id="{3F548A22-368D-240C-755D-9A8D825BFC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2" name="Google Shape;92;gf4f11f959e_0_29:notes">
            <a:extLst>
              <a:ext uri="{FF2B5EF4-FFF2-40B4-BE49-F238E27FC236}">
                <a16:creationId xmlns:a16="http://schemas.microsoft.com/office/drawing/2014/main" id="{D3A90892-E0E5-A598-D4FA-B64B1DDD5BE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9962405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D18D8B3B-7B1A-28AD-1F38-28EE64633811}"/>
            </a:ext>
          </a:extLst>
        </p:cNvPr>
        <p:cNvGrpSpPr/>
        <p:nvPr/>
      </p:nvGrpSpPr>
      <p:grpSpPr>
        <a:xfrm>
          <a:off x="0" y="0"/>
          <a:ext cx="0" cy="0"/>
          <a:chOff x="0" y="0"/>
          <a:chExt cx="0" cy="0"/>
        </a:xfrm>
      </p:grpSpPr>
      <p:sp>
        <p:nvSpPr>
          <p:cNvPr id="91" name="Google Shape;91;gf4f11f959e_0_29:notes">
            <a:extLst>
              <a:ext uri="{FF2B5EF4-FFF2-40B4-BE49-F238E27FC236}">
                <a16:creationId xmlns:a16="http://schemas.microsoft.com/office/drawing/2014/main" id="{3F548A22-368D-240C-755D-9A8D825BFC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2" name="Google Shape;92;gf4f11f959e_0_29:notes">
            <a:extLst>
              <a:ext uri="{FF2B5EF4-FFF2-40B4-BE49-F238E27FC236}">
                <a16:creationId xmlns:a16="http://schemas.microsoft.com/office/drawing/2014/main" id="{D3A90892-E0E5-A598-D4FA-B64B1DDD5BE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8868513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D18D8B3B-7B1A-28AD-1F38-28EE64633811}"/>
            </a:ext>
          </a:extLst>
        </p:cNvPr>
        <p:cNvGrpSpPr/>
        <p:nvPr/>
      </p:nvGrpSpPr>
      <p:grpSpPr>
        <a:xfrm>
          <a:off x="0" y="0"/>
          <a:ext cx="0" cy="0"/>
          <a:chOff x="0" y="0"/>
          <a:chExt cx="0" cy="0"/>
        </a:xfrm>
      </p:grpSpPr>
      <p:sp>
        <p:nvSpPr>
          <p:cNvPr id="91" name="Google Shape;91;gf4f11f959e_0_29:notes">
            <a:extLst>
              <a:ext uri="{FF2B5EF4-FFF2-40B4-BE49-F238E27FC236}">
                <a16:creationId xmlns:a16="http://schemas.microsoft.com/office/drawing/2014/main" id="{3F548A22-368D-240C-755D-9A8D825BFC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2" name="Google Shape;92;gf4f11f959e_0_29:notes">
            <a:extLst>
              <a:ext uri="{FF2B5EF4-FFF2-40B4-BE49-F238E27FC236}">
                <a16:creationId xmlns:a16="http://schemas.microsoft.com/office/drawing/2014/main" id="{D3A90892-E0E5-A598-D4FA-B64B1DDD5BE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3240309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77ed9f117a_2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77ed9f117a_2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fr"/>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hyperlink" Target="https://github.com/Davidjaoui/AIA-2025/blob/f4e4ad7aa2e00ae1bc5144b4590b3997d50d2901/BLOC_%202_ARCHITECTURE_ET_PIPELINES/STRIPE/03_Documentations/01_Documentation%20Architecture%20globale.pdf" TargetMode="Externa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hyperlink" Target="https://github.com/Davidjaoui/AIA-2025/blob/f4e4ad7aa2e00ae1bc5144b4590b3997d50d2901/BLOC_%202_ARCHITECTURE_ET_PIPELINES/STRIPE/03_Documentations/03_Documentation%20OLAP.pdf" TargetMode="Externa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hyperlink" Target="https://github.com/Davidjaoui/AIA-2025/blob/f4e4ad7aa2e00ae1bc5144b4590b3997d50d2901/BLOC_%202_ARCHITECTURE_ET_PIPELINES/STRIPE/03_Documentations/04_Documentation%20NoSQL.pdf" TargetMode="Externa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hyperlink" Target="https://github.com/Davidjaoui/AIA-2025/blob/f4e4ad7aa2e00ae1bc5144b4590b3997d50d2901/BLOC_%202_ARCHITECTURE_ET_PIPELINES/STRIPE/03_Documentations/05_Documentation%20plan%20de%20s%C3%A9curit%C3%A9%20et%20conformit%C3%A9.pdf" TargetMode="Externa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hyperlink" Target="https://github.com/Davidjaoui/AIA-2025/blob/f4e4ad7aa2e00ae1bc5144b4590b3997d50d2901/BLOC_%202_ARCHITECTURE_ET_PIPELINES/STRIPE/03_Documentations/06_Documentation%20int%C3%A9gration%20ML.pdf" TargetMode="Externa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FDAD2"/>
        </a:solidFill>
        <a:effectLst/>
      </p:bgPr>
    </p:bg>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708992" y="712713"/>
            <a:ext cx="1726016" cy="61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fr" sz="4400" b="1" dirty="0">
                <a:solidFill>
                  <a:schemeClr val="tx1"/>
                </a:solidFill>
                <a:latin typeface="Aptos" panose="020B0004020202020204" pitchFamily="34" charset="0"/>
                <a:ea typeface="Inter Medium"/>
                <a:sym typeface="Inter SemiBold"/>
              </a:rPr>
              <a:t>Projet</a:t>
            </a:r>
            <a:endParaRPr sz="4400" b="1" dirty="0">
              <a:solidFill>
                <a:schemeClr val="tx1"/>
              </a:solidFill>
              <a:latin typeface="Aptos" panose="020B0004020202020204" pitchFamily="34" charset="0"/>
              <a:ea typeface="Inter Medium"/>
              <a:sym typeface="Inter SemiBold"/>
            </a:endParaRPr>
          </a:p>
        </p:txBody>
      </p:sp>
      <p:pic>
        <p:nvPicPr>
          <p:cNvPr id="56" name="Google Shape;56;p13"/>
          <p:cNvPicPr preferRelativeResize="0"/>
          <p:nvPr/>
        </p:nvPicPr>
        <p:blipFill>
          <a:blip r:embed="rId3">
            <a:alphaModFix/>
          </a:blip>
          <a:stretch>
            <a:fillRect/>
          </a:stretch>
        </p:blipFill>
        <p:spPr>
          <a:xfrm>
            <a:off x="76200" y="90544"/>
            <a:ext cx="973275" cy="651050"/>
          </a:xfrm>
          <a:prstGeom prst="rect">
            <a:avLst/>
          </a:prstGeom>
          <a:noFill/>
          <a:ln>
            <a:noFill/>
          </a:ln>
        </p:spPr>
      </p:pic>
      <p:sp>
        <p:nvSpPr>
          <p:cNvPr id="57" name="Google Shape;57;p13"/>
          <p:cNvSpPr txBox="1">
            <a:spLocks noGrp="1"/>
          </p:cNvSpPr>
          <p:nvPr>
            <p:ph type="ctrTitle"/>
          </p:nvPr>
        </p:nvSpPr>
        <p:spPr>
          <a:xfrm>
            <a:off x="1104521" y="3762709"/>
            <a:ext cx="6934959" cy="832139"/>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fr-FR" sz="4400" b="1" dirty="0">
                <a:solidFill>
                  <a:schemeClr val="tx1"/>
                </a:solidFill>
                <a:latin typeface="Aptos" panose="020B0004020202020204" pitchFamily="34" charset="0"/>
                <a:ea typeface="Inter Medium"/>
              </a:rPr>
              <a:t>Architecture and Pipelines</a:t>
            </a:r>
            <a:endParaRPr sz="4400" b="1" dirty="0">
              <a:solidFill>
                <a:schemeClr val="tx1"/>
              </a:solidFill>
              <a:latin typeface="Aptos" panose="020B0004020202020204" pitchFamily="34" charset="0"/>
              <a:ea typeface="Inter Medium"/>
              <a:cs typeface="Inter Medium"/>
              <a:sym typeface="Inter Medium"/>
            </a:endParaRPr>
          </a:p>
        </p:txBody>
      </p:sp>
      <p:pic>
        <p:nvPicPr>
          <p:cNvPr id="1032" name="Picture 8">
            <a:extLst>
              <a:ext uri="{FF2B5EF4-FFF2-40B4-BE49-F238E27FC236}">
                <a16:creationId xmlns:a16="http://schemas.microsoft.com/office/drawing/2014/main" id="{66D00A16-B51B-5802-F3FB-009C1E8EBA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7563" y="1866900"/>
            <a:ext cx="2428875" cy="14097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3FDAD2"/>
        </a:solidFill>
        <a:effectLst/>
      </p:bgPr>
    </p:bg>
    <p:spTree>
      <p:nvGrpSpPr>
        <p:cNvPr id="1" name="Shape 80">
          <a:extLst>
            <a:ext uri="{FF2B5EF4-FFF2-40B4-BE49-F238E27FC236}">
              <a16:creationId xmlns:a16="http://schemas.microsoft.com/office/drawing/2014/main" id="{83C140B6-A3CA-6AB9-FDFA-0920AA2E86C8}"/>
            </a:ext>
          </a:extLst>
        </p:cNvPr>
        <p:cNvGrpSpPr/>
        <p:nvPr/>
      </p:nvGrpSpPr>
      <p:grpSpPr>
        <a:xfrm>
          <a:off x="0" y="0"/>
          <a:ext cx="0" cy="0"/>
          <a:chOff x="0" y="0"/>
          <a:chExt cx="0" cy="0"/>
        </a:xfrm>
      </p:grpSpPr>
      <p:sp>
        <p:nvSpPr>
          <p:cNvPr id="81" name="Google Shape;81;p16">
            <a:extLst>
              <a:ext uri="{FF2B5EF4-FFF2-40B4-BE49-F238E27FC236}">
                <a16:creationId xmlns:a16="http://schemas.microsoft.com/office/drawing/2014/main" id="{0061F83D-46D6-88DB-E750-8C2BFD677B85}"/>
              </a:ext>
            </a:extLst>
          </p:cNvPr>
          <p:cNvSpPr/>
          <p:nvPr/>
        </p:nvSpPr>
        <p:spPr>
          <a:xfrm>
            <a:off x="-126879" y="-8850"/>
            <a:ext cx="3335400" cy="5161200"/>
          </a:xfrm>
          <a:prstGeom prst="rect">
            <a:avLst/>
          </a:prstGeom>
          <a:solidFill>
            <a:srgbClr val="C3FFF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16">
            <a:extLst>
              <a:ext uri="{FF2B5EF4-FFF2-40B4-BE49-F238E27FC236}">
                <a16:creationId xmlns:a16="http://schemas.microsoft.com/office/drawing/2014/main" id="{3CFAE3BB-29CE-41A1-DFE6-4170695F9169}"/>
              </a:ext>
            </a:extLst>
          </p:cNvPr>
          <p:cNvSpPr txBox="1">
            <a:spLocks noGrp="1"/>
          </p:cNvSpPr>
          <p:nvPr>
            <p:ph type="title"/>
          </p:nvPr>
        </p:nvSpPr>
        <p:spPr>
          <a:xfrm>
            <a:off x="952921" y="528843"/>
            <a:ext cx="2513100" cy="909652"/>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fr" sz="2400" b="1" dirty="0">
                <a:solidFill>
                  <a:schemeClr val="tx1">
                    <a:lumMod val="65000"/>
                    <a:lumOff val="35000"/>
                  </a:schemeClr>
                </a:solidFill>
                <a:latin typeface="Aptos" panose="020B0004020202020204" pitchFamily="34" charset="0"/>
                <a:ea typeface="Inter"/>
                <a:cs typeface="Inter"/>
                <a:sym typeface="Inter"/>
              </a:rPr>
              <a:t>Contexte du projet</a:t>
            </a:r>
            <a:endParaRPr sz="2400" b="1" dirty="0">
              <a:solidFill>
                <a:schemeClr val="tx1">
                  <a:lumMod val="65000"/>
                  <a:lumOff val="35000"/>
                </a:schemeClr>
              </a:solidFill>
              <a:latin typeface="Aptos" panose="020B0004020202020204" pitchFamily="34" charset="0"/>
              <a:ea typeface="Inter"/>
              <a:cs typeface="Inter"/>
              <a:sym typeface="Inter"/>
            </a:endParaRPr>
          </a:p>
        </p:txBody>
      </p:sp>
      <p:sp>
        <p:nvSpPr>
          <p:cNvPr id="84" name="Google Shape;84;p16">
            <a:extLst>
              <a:ext uri="{FF2B5EF4-FFF2-40B4-BE49-F238E27FC236}">
                <a16:creationId xmlns:a16="http://schemas.microsoft.com/office/drawing/2014/main" id="{C1E338F8-25DE-A367-B69B-21AE27098E3C}"/>
              </a:ext>
            </a:extLst>
          </p:cNvPr>
          <p:cNvSpPr txBox="1">
            <a:spLocks noGrp="1"/>
          </p:cNvSpPr>
          <p:nvPr>
            <p:ph type="ctrTitle" idx="4294967295"/>
          </p:nvPr>
        </p:nvSpPr>
        <p:spPr>
          <a:xfrm>
            <a:off x="3858315" y="566155"/>
            <a:ext cx="5326432" cy="3672811"/>
          </a:xfrm>
          <a:prstGeom prst="rect">
            <a:avLst/>
          </a:prstGeom>
          <a:noFill/>
          <a:ln>
            <a:noFill/>
          </a:ln>
        </p:spPr>
        <p:txBody>
          <a:bodyPr spcFirstLastPara="1" wrap="square" lIns="91425" tIns="91425" rIns="91425" bIns="91425" anchor="t" anchorCtr="0">
            <a:noAutofit/>
          </a:bodyPr>
          <a:lstStyle/>
          <a:p>
            <a:r>
              <a:rPr lang="fr-FR" sz="1600" dirty="0" err="1">
                <a:solidFill>
                  <a:schemeClr val="tx1">
                    <a:lumMod val="65000"/>
                    <a:lumOff val="35000"/>
                  </a:schemeClr>
                </a:solidFill>
                <a:latin typeface="Aptos" panose="020B0004020202020204" pitchFamily="34" charset="0"/>
              </a:rPr>
              <a:t>Stripe</a:t>
            </a:r>
            <a:r>
              <a:rPr lang="fr-FR" sz="1600" dirty="0">
                <a:solidFill>
                  <a:schemeClr val="tx1">
                    <a:lumMod val="65000"/>
                    <a:lumOff val="35000"/>
                  </a:schemeClr>
                </a:solidFill>
                <a:latin typeface="Aptos" panose="020B0004020202020204" pitchFamily="34" charset="0"/>
              </a:rPr>
              <a:t>, acteur majeur des paiements et des opérations financières, connaît une croissance rapide de ses volumes de données et doit gérer des informations toujours plus complexes issues de systèmes OLTP, OLAP et NoSQL.</a:t>
            </a:r>
            <a:br>
              <a:rPr lang="fr-FR" sz="1600" dirty="0">
                <a:solidFill>
                  <a:schemeClr val="tx1">
                    <a:lumMod val="65000"/>
                    <a:lumOff val="35000"/>
                  </a:schemeClr>
                </a:solidFill>
                <a:latin typeface="Aptos" panose="020B0004020202020204" pitchFamily="34" charset="0"/>
              </a:rPr>
            </a:br>
            <a:br>
              <a:rPr lang="fr-FR" sz="1600" dirty="0">
                <a:solidFill>
                  <a:schemeClr val="tx1">
                    <a:lumMod val="65000"/>
                    <a:lumOff val="35000"/>
                  </a:schemeClr>
                </a:solidFill>
                <a:latin typeface="Aptos" panose="020B0004020202020204" pitchFamily="34" charset="0"/>
              </a:rPr>
            </a:br>
            <a:br>
              <a:rPr lang="fr-FR" sz="1600" dirty="0">
                <a:solidFill>
                  <a:schemeClr val="tx1">
                    <a:lumMod val="65000"/>
                    <a:lumOff val="35000"/>
                  </a:schemeClr>
                </a:solidFill>
                <a:latin typeface="Aptos" panose="020B0004020202020204" pitchFamily="34" charset="0"/>
              </a:rPr>
            </a:br>
            <a:br>
              <a:rPr lang="fr-FR" sz="1600" dirty="0">
                <a:solidFill>
                  <a:schemeClr val="tx1">
                    <a:lumMod val="65000"/>
                    <a:lumOff val="35000"/>
                  </a:schemeClr>
                </a:solidFill>
                <a:latin typeface="Aptos" panose="020B0004020202020204" pitchFamily="34" charset="0"/>
              </a:rPr>
            </a:br>
            <a:br>
              <a:rPr lang="fr-FR" sz="1600" dirty="0">
                <a:solidFill>
                  <a:schemeClr val="tx1">
                    <a:lumMod val="65000"/>
                    <a:lumOff val="35000"/>
                  </a:schemeClr>
                </a:solidFill>
                <a:latin typeface="Aptos" panose="020B0004020202020204" pitchFamily="34" charset="0"/>
              </a:rPr>
            </a:br>
            <a:r>
              <a:rPr lang="fr-FR" sz="1600" dirty="0">
                <a:solidFill>
                  <a:schemeClr val="tx1">
                    <a:lumMod val="65000"/>
                    <a:lumOff val="35000"/>
                  </a:schemeClr>
                </a:solidFill>
                <a:latin typeface="Aptos" panose="020B0004020202020204" pitchFamily="34" charset="0"/>
              </a:rPr>
              <a:t>Mettre en place une architecture de données robuste et évolutive, capable de supporter:</a:t>
            </a:r>
            <a:br>
              <a:rPr lang="fr-FR" sz="1600" dirty="0">
                <a:solidFill>
                  <a:schemeClr val="tx1">
                    <a:lumMod val="65000"/>
                    <a:lumOff val="35000"/>
                  </a:schemeClr>
                </a:solidFill>
                <a:latin typeface="Aptos" panose="020B0004020202020204" pitchFamily="34" charset="0"/>
              </a:rPr>
            </a:br>
            <a:r>
              <a:rPr lang="fr-FR" sz="1600" dirty="0">
                <a:solidFill>
                  <a:schemeClr val="tx1">
                    <a:lumMod val="65000"/>
                    <a:lumOff val="35000"/>
                  </a:schemeClr>
                </a:solidFill>
                <a:latin typeface="Aptos" panose="020B0004020202020204" pitchFamily="34" charset="0"/>
              </a:rPr>
              <a:t> </a:t>
            </a:r>
            <a:br>
              <a:rPr lang="fr-FR" sz="1600" dirty="0">
                <a:solidFill>
                  <a:schemeClr val="tx1">
                    <a:lumMod val="65000"/>
                    <a:lumOff val="35000"/>
                  </a:schemeClr>
                </a:solidFill>
                <a:latin typeface="Aptos" panose="020B0004020202020204" pitchFamily="34" charset="0"/>
              </a:rPr>
            </a:br>
            <a:r>
              <a:rPr lang="fr-FR" sz="1600" dirty="0">
                <a:solidFill>
                  <a:schemeClr val="tx1">
                    <a:lumMod val="65000"/>
                    <a:lumOff val="35000"/>
                  </a:schemeClr>
                </a:solidFill>
                <a:latin typeface="Aptos" panose="020B0004020202020204" pitchFamily="34" charset="0"/>
              </a:rPr>
              <a:t>- Un fort volume de transactions, </a:t>
            </a:r>
            <a:br>
              <a:rPr lang="fr-FR" sz="1600" dirty="0">
                <a:solidFill>
                  <a:schemeClr val="tx1">
                    <a:lumMod val="65000"/>
                    <a:lumOff val="35000"/>
                  </a:schemeClr>
                </a:solidFill>
                <a:latin typeface="Aptos" panose="020B0004020202020204" pitchFamily="34" charset="0"/>
              </a:rPr>
            </a:br>
            <a:r>
              <a:rPr lang="fr-FR" sz="1600" dirty="0">
                <a:solidFill>
                  <a:schemeClr val="tx1">
                    <a:lumMod val="65000"/>
                    <a:lumOff val="35000"/>
                  </a:schemeClr>
                </a:solidFill>
                <a:latin typeface="Aptos" panose="020B0004020202020204" pitchFamily="34" charset="0"/>
              </a:rPr>
              <a:t>- Des analyses avancées, </a:t>
            </a:r>
            <a:br>
              <a:rPr lang="fr-FR" sz="1600" dirty="0">
                <a:solidFill>
                  <a:schemeClr val="tx1">
                    <a:lumMod val="65000"/>
                    <a:lumOff val="35000"/>
                  </a:schemeClr>
                </a:solidFill>
                <a:latin typeface="Aptos" panose="020B0004020202020204" pitchFamily="34" charset="0"/>
              </a:rPr>
            </a:br>
            <a:r>
              <a:rPr lang="fr-FR" sz="1600" dirty="0">
                <a:solidFill>
                  <a:schemeClr val="tx1">
                    <a:lumMod val="65000"/>
                    <a:lumOff val="35000"/>
                  </a:schemeClr>
                </a:solidFill>
                <a:latin typeface="Aptos" panose="020B0004020202020204" pitchFamily="34" charset="0"/>
              </a:rPr>
              <a:t>- L’exploitation de données non structurées pour la détection de fraude, </a:t>
            </a:r>
            <a:br>
              <a:rPr lang="fr-FR" sz="1600" dirty="0">
                <a:solidFill>
                  <a:schemeClr val="tx1">
                    <a:lumMod val="65000"/>
                    <a:lumOff val="35000"/>
                  </a:schemeClr>
                </a:solidFill>
                <a:latin typeface="Aptos" panose="020B0004020202020204" pitchFamily="34" charset="0"/>
              </a:rPr>
            </a:br>
            <a:r>
              <a:rPr lang="fr-FR" sz="1600" dirty="0">
                <a:solidFill>
                  <a:schemeClr val="tx1">
                    <a:lumMod val="65000"/>
                    <a:lumOff val="35000"/>
                  </a:schemeClr>
                </a:solidFill>
                <a:latin typeface="Aptos" panose="020B0004020202020204" pitchFamily="34" charset="0"/>
              </a:rPr>
              <a:t>- L’analyse du comportement client et les recommandations en temps réel.</a:t>
            </a:r>
            <a:br>
              <a:rPr lang="fr-FR" sz="1200" dirty="0"/>
            </a:br>
            <a:endParaRPr sz="1800" b="0" i="0" u="none" strike="noStrike" cap="none" dirty="0">
              <a:solidFill>
                <a:schemeClr val="tx1">
                  <a:lumMod val="65000"/>
                  <a:lumOff val="35000"/>
                </a:schemeClr>
              </a:solidFill>
              <a:latin typeface="Aptos" panose="020B0004020202020204" pitchFamily="34" charset="0"/>
              <a:ea typeface="Inter"/>
              <a:cs typeface="Inter"/>
              <a:sym typeface="Inter"/>
            </a:endParaRPr>
          </a:p>
        </p:txBody>
      </p:sp>
      <p:sp>
        <p:nvSpPr>
          <p:cNvPr id="85" name="Google Shape;85;p16">
            <a:extLst>
              <a:ext uri="{FF2B5EF4-FFF2-40B4-BE49-F238E27FC236}">
                <a16:creationId xmlns:a16="http://schemas.microsoft.com/office/drawing/2014/main" id="{19711759-8150-2454-E693-FCC33CAD5770}"/>
              </a:ext>
            </a:extLst>
          </p:cNvPr>
          <p:cNvSpPr/>
          <p:nvPr/>
        </p:nvSpPr>
        <p:spPr>
          <a:xfrm rot="-355994" flipV="1">
            <a:off x="3517748" y="780757"/>
            <a:ext cx="261199" cy="45719"/>
          </a:xfrm>
          <a:prstGeom prst="roundRect">
            <a:avLst>
              <a:gd name="adj" fmla="val 50000"/>
            </a:avLst>
          </a:prstGeom>
          <a:solidFill>
            <a:srgbClr val="C3FFF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 name="Google Shape;87;p16">
            <a:extLst>
              <a:ext uri="{FF2B5EF4-FFF2-40B4-BE49-F238E27FC236}">
                <a16:creationId xmlns:a16="http://schemas.microsoft.com/office/drawing/2014/main" id="{973B2B10-C7A2-85B9-5A6D-5D83ED966D15}"/>
              </a:ext>
            </a:extLst>
          </p:cNvPr>
          <p:cNvSpPr/>
          <p:nvPr/>
        </p:nvSpPr>
        <p:spPr>
          <a:xfrm rot="-355994">
            <a:off x="3502433" y="2738378"/>
            <a:ext cx="261199" cy="46747"/>
          </a:xfrm>
          <a:prstGeom prst="roundRect">
            <a:avLst>
              <a:gd name="adj" fmla="val 50000"/>
            </a:avLst>
          </a:prstGeom>
          <a:solidFill>
            <a:srgbClr val="C3FFF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 name="Google Shape;56;p13">
            <a:extLst>
              <a:ext uri="{FF2B5EF4-FFF2-40B4-BE49-F238E27FC236}">
                <a16:creationId xmlns:a16="http://schemas.microsoft.com/office/drawing/2014/main" id="{E64216D7-3B34-5736-8E0E-02E706BC4E31}"/>
              </a:ext>
            </a:extLst>
          </p:cNvPr>
          <p:cNvPicPr preferRelativeResize="0"/>
          <p:nvPr/>
        </p:nvPicPr>
        <p:blipFill>
          <a:blip r:embed="rId3">
            <a:alphaModFix/>
          </a:blip>
          <a:stretch>
            <a:fillRect/>
          </a:stretch>
        </p:blipFill>
        <p:spPr>
          <a:xfrm>
            <a:off x="76200" y="90544"/>
            <a:ext cx="973275" cy="651050"/>
          </a:xfrm>
          <a:prstGeom prst="rect">
            <a:avLst/>
          </a:prstGeom>
          <a:noFill/>
          <a:ln>
            <a:noFill/>
          </a:ln>
        </p:spPr>
      </p:pic>
      <p:sp>
        <p:nvSpPr>
          <p:cNvPr id="4" name="Google Shape;82;p16">
            <a:extLst>
              <a:ext uri="{FF2B5EF4-FFF2-40B4-BE49-F238E27FC236}">
                <a16:creationId xmlns:a16="http://schemas.microsoft.com/office/drawing/2014/main" id="{B5773900-6D42-7D62-0FDA-6B8A4FDD3B7E}"/>
              </a:ext>
            </a:extLst>
          </p:cNvPr>
          <p:cNvSpPr txBox="1">
            <a:spLocks/>
          </p:cNvSpPr>
          <p:nvPr/>
        </p:nvSpPr>
        <p:spPr>
          <a:xfrm>
            <a:off x="952921" y="2462931"/>
            <a:ext cx="2513100" cy="90965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fr-FR" sz="2400" b="1" dirty="0">
                <a:solidFill>
                  <a:schemeClr val="tx1">
                    <a:lumMod val="65000"/>
                    <a:lumOff val="35000"/>
                  </a:schemeClr>
                </a:solidFill>
                <a:latin typeface="Aptos" panose="020B0004020202020204" pitchFamily="34" charset="0"/>
                <a:ea typeface="Inter"/>
                <a:cs typeface="Inter"/>
                <a:sym typeface="Inter"/>
              </a:rPr>
              <a:t>Objectif</a:t>
            </a:r>
          </a:p>
        </p:txBody>
      </p:sp>
    </p:spTree>
    <p:extLst>
      <p:ext uri="{BB962C8B-B14F-4D97-AF65-F5344CB8AC3E}">
        <p14:creationId xmlns:p14="http://schemas.microsoft.com/office/powerpoint/2010/main" val="28834838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3FDAD2"/>
        </a:solidFill>
        <a:effectLst/>
      </p:bgPr>
    </p:bg>
    <p:spTree>
      <p:nvGrpSpPr>
        <p:cNvPr id="1" name="Shape 93"/>
        <p:cNvGrpSpPr/>
        <p:nvPr/>
      </p:nvGrpSpPr>
      <p:grpSpPr>
        <a:xfrm>
          <a:off x="0" y="0"/>
          <a:ext cx="0" cy="0"/>
          <a:chOff x="0" y="0"/>
          <a:chExt cx="0" cy="0"/>
        </a:xfrm>
      </p:grpSpPr>
      <p:sp>
        <p:nvSpPr>
          <p:cNvPr id="95" name="Google Shape;95;p17"/>
          <p:cNvSpPr txBox="1">
            <a:spLocks noGrp="1"/>
          </p:cNvSpPr>
          <p:nvPr>
            <p:ph type="ctrTitle" idx="4294967295"/>
          </p:nvPr>
        </p:nvSpPr>
        <p:spPr>
          <a:xfrm>
            <a:off x="2037991" y="174644"/>
            <a:ext cx="2223219" cy="385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fr" sz="2000" b="1" i="0" u="none" strike="noStrike" cap="none" dirty="0">
                <a:solidFill>
                  <a:schemeClr val="tx1">
                    <a:lumMod val="65000"/>
                    <a:lumOff val="35000"/>
                  </a:schemeClr>
                </a:solidFill>
                <a:latin typeface="Aptos" panose="020B0004020202020204" pitchFamily="34" charset="0"/>
                <a:ea typeface="Inter"/>
                <a:cs typeface="Inter"/>
                <a:sym typeface="Inter"/>
              </a:rPr>
              <a:t>L’Architecture</a:t>
            </a:r>
            <a:endParaRPr sz="2000" b="1" i="0" u="none" strike="noStrike" cap="none" dirty="0">
              <a:solidFill>
                <a:schemeClr val="tx1">
                  <a:lumMod val="65000"/>
                  <a:lumOff val="35000"/>
                </a:schemeClr>
              </a:solidFill>
              <a:latin typeface="Aptos" panose="020B0004020202020204" pitchFamily="34" charset="0"/>
              <a:ea typeface="Inter"/>
              <a:cs typeface="Inter"/>
              <a:sym typeface="Inter"/>
            </a:endParaRPr>
          </a:p>
        </p:txBody>
      </p:sp>
      <p:pic>
        <p:nvPicPr>
          <p:cNvPr id="2" name="Google Shape;56;p13">
            <a:extLst>
              <a:ext uri="{FF2B5EF4-FFF2-40B4-BE49-F238E27FC236}">
                <a16:creationId xmlns:a16="http://schemas.microsoft.com/office/drawing/2014/main" id="{29AF42A0-D3B7-10B5-470C-4D627B891DF8}"/>
              </a:ext>
            </a:extLst>
          </p:cNvPr>
          <p:cNvPicPr preferRelativeResize="0"/>
          <p:nvPr/>
        </p:nvPicPr>
        <p:blipFill>
          <a:blip r:embed="rId3">
            <a:alphaModFix/>
          </a:blip>
          <a:stretch>
            <a:fillRect/>
          </a:stretch>
        </p:blipFill>
        <p:spPr>
          <a:xfrm>
            <a:off x="76200" y="90544"/>
            <a:ext cx="973275" cy="651050"/>
          </a:xfrm>
          <a:prstGeom prst="rect">
            <a:avLst/>
          </a:prstGeom>
          <a:noFill/>
          <a:ln>
            <a:noFill/>
          </a:ln>
        </p:spPr>
      </p:pic>
      <p:pic>
        <p:nvPicPr>
          <p:cNvPr id="3" name="Image 2" descr="Une image contenant texte, capture d’écran, diagramme, Police&#10;&#10;Description générée automatiquement">
            <a:extLst>
              <a:ext uri="{FF2B5EF4-FFF2-40B4-BE49-F238E27FC236}">
                <a16:creationId xmlns:a16="http://schemas.microsoft.com/office/drawing/2014/main" id="{FFDCBBD3-5A67-34EB-DBDE-6EBB2D75D5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985368"/>
            <a:ext cx="6109240" cy="3554882"/>
          </a:xfrm>
          <a:prstGeom prst="rect">
            <a:avLst/>
          </a:prstGeom>
        </p:spPr>
      </p:pic>
      <p:sp>
        <p:nvSpPr>
          <p:cNvPr id="5" name="Rectangle 2">
            <a:extLst>
              <a:ext uri="{FF2B5EF4-FFF2-40B4-BE49-F238E27FC236}">
                <a16:creationId xmlns:a16="http://schemas.microsoft.com/office/drawing/2014/main" id="{79351F62-2379-3435-E44A-67CC2C434DDF}"/>
              </a:ext>
            </a:extLst>
          </p:cNvPr>
          <p:cNvSpPr>
            <a:spLocks noGrp="1" noChangeArrowheads="1"/>
          </p:cNvSpPr>
          <p:nvPr>
            <p:ph type="ctrTitle" idx="4294967295"/>
          </p:nvPr>
        </p:nvSpPr>
        <p:spPr bwMode="auto">
          <a:xfrm>
            <a:off x="6088063" y="136359"/>
            <a:ext cx="2693987" cy="5001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100" b="1" i="0" u="none" strike="noStrike" cap="none" normalizeH="0" baseline="0" dirty="0">
                <a:ln>
                  <a:noFill/>
                </a:ln>
                <a:solidFill>
                  <a:schemeClr val="accent5">
                    <a:lumMod val="75000"/>
                  </a:schemeClr>
                </a:solidFill>
                <a:effectLst/>
                <a:latin typeface="Aptos" panose="020B0004020202020204" pitchFamily="34" charset="0"/>
              </a:rPr>
              <a:t>Séparation claire OLTP / Streaming / OLAP / NoSQL</a:t>
            </a:r>
            <a:r>
              <a:rPr kumimoji="0" lang="fr-FR" altLang="fr-FR" sz="1100" b="0" i="0" u="none" strike="noStrike" cap="none" normalizeH="0" baseline="0" dirty="0">
                <a:ln>
                  <a:noFill/>
                </a:ln>
                <a:solidFill>
                  <a:schemeClr val="accent5">
                    <a:lumMod val="75000"/>
                  </a:schemeClr>
                </a:solidFill>
                <a:effectLst/>
                <a:latin typeface="Aptos" panose="020B0004020202020204" pitchFamily="34" charset="0"/>
              </a:rPr>
              <a:t>, garantissant performance, scalabilité et isolation des usages.</a:t>
            </a:r>
            <a:br>
              <a:rPr kumimoji="0" lang="fr-FR" altLang="fr-FR" sz="1100" b="0" i="0" u="none" strike="noStrike" cap="none" normalizeH="0" baseline="0" dirty="0">
                <a:ln>
                  <a:noFill/>
                </a:ln>
                <a:solidFill>
                  <a:schemeClr val="accent5">
                    <a:lumMod val="75000"/>
                  </a:schemeClr>
                </a:solidFill>
                <a:effectLst/>
                <a:latin typeface="Aptos" panose="020B0004020202020204" pitchFamily="34" charset="0"/>
              </a:rPr>
            </a:br>
            <a:endParaRPr kumimoji="0" lang="fr-FR" altLang="fr-FR" sz="1100" b="0" i="0" u="none" strike="noStrike" cap="none" normalizeH="0" baseline="0" dirty="0">
              <a:ln>
                <a:noFill/>
              </a:ln>
              <a:solidFill>
                <a:schemeClr val="accent5">
                  <a:lumMod val="75000"/>
                </a:schemeClr>
              </a:solidFill>
              <a:effectLst/>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100" b="1" i="0" u="none" strike="noStrike" cap="none" normalizeH="0" baseline="0" dirty="0">
                <a:ln>
                  <a:noFill/>
                </a:ln>
                <a:solidFill>
                  <a:schemeClr val="accent5">
                    <a:lumMod val="75000"/>
                  </a:schemeClr>
                </a:solidFill>
                <a:effectLst/>
                <a:latin typeface="Aptos" panose="020B0004020202020204" pitchFamily="34" charset="0"/>
              </a:rPr>
              <a:t>Ingestion temps réel complète</a:t>
            </a:r>
            <a:r>
              <a:rPr kumimoji="0" lang="fr-FR" altLang="fr-FR" sz="1100" b="0" i="0" u="none" strike="noStrike" cap="none" normalizeH="0" baseline="0" dirty="0">
                <a:ln>
                  <a:noFill/>
                </a:ln>
                <a:solidFill>
                  <a:schemeClr val="accent5">
                    <a:lumMod val="75000"/>
                  </a:schemeClr>
                </a:solidFill>
                <a:effectLst/>
                <a:latin typeface="Aptos" panose="020B0004020202020204" pitchFamily="34" charset="0"/>
              </a:rPr>
              <a:t> (CDC, Kafka, </a:t>
            </a:r>
            <a:r>
              <a:rPr kumimoji="0" lang="fr-FR" altLang="fr-FR" sz="1100" b="0" i="0" u="none" strike="noStrike" cap="none" normalizeH="0" baseline="0" dirty="0" err="1">
                <a:ln>
                  <a:noFill/>
                </a:ln>
                <a:solidFill>
                  <a:schemeClr val="accent5">
                    <a:lumMod val="75000"/>
                  </a:schemeClr>
                </a:solidFill>
                <a:effectLst/>
                <a:latin typeface="Aptos" panose="020B0004020202020204" pitchFamily="34" charset="0"/>
              </a:rPr>
              <a:t>stream</a:t>
            </a:r>
            <a:r>
              <a:rPr kumimoji="0" lang="fr-FR" altLang="fr-FR" sz="1100" b="0" i="0" u="none" strike="noStrike" cap="none" normalizeH="0" baseline="0" dirty="0">
                <a:ln>
                  <a:noFill/>
                </a:ln>
                <a:solidFill>
                  <a:schemeClr val="accent5">
                    <a:lumMod val="75000"/>
                  </a:schemeClr>
                </a:solidFill>
                <a:effectLst/>
                <a:latin typeface="Aptos" panose="020B0004020202020204" pitchFamily="34" charset="0"/>
              </a:rPr>
              <a:t> </a:t>
            </a:r>
            <a:r>
              <a:rPr kumimoji="0" lang="fr-FR" altLang="fr-FR" sz="1100" b="0" i="0" u="none" strike="noStrike" cap="none" normalizeH="0" baseline="0" dirty="0" err="1">
                <a:ln>
                  <a:noFill/>
                </a:ln>
                <a:solidFill>
                  <a:schemeClr val="accent5">
                    <a:lumMod val="75000"/>
                  </a:schemeClr>
                </a:solidFill>
                <a:effectLst/>
                <a:latin typeface="Aptos" panose="020B0004020202020204" pitchFamily="34" charset="0"/>
              </a:rPr>
              <a:t>processing</a:t>
            </a:r>
            <a:r>
              <a:rPr kumimoji="0" lang="fr-FR" altLang="fr-FR" sz="1100" b="0" i="0" u="none" strike="noStrike" cap="none" normalizeH="0" baseline="0" dirty="0">
                <a:ln>
                  <a:noFill/>
                </a:ln>
                <a:solidFill>
                  <a:schemeClr val="accent5">
                    <a:lumMod val="75000"/>
                  </a:schemeClr>
                </a:solidFill>
                <a:effectLst/>
                <a:latin typeface="Aptos" panose="020B0004020202020204" pitchFamily="34" charset="0"/>
              </a:rPr>
              <a:t>) pour le traitement de gros volumes avec faible latence.</a:t>
            </a:r>
            <a:br>
              <a:rPr kumimoji="0" lang="fr-FR" altLang="fr-FR" sz="1100" b="0" i="0" u="none" strike="noStrike" cap="none" normalizeH="0" baseline="0" dirty="0">
                <a:ln>
                  <a:noFill/>
                </a:ln>
                <a:solidFill>
                  <a:schemeClr val="accent5">
                    <a:lumMod val="75000"/>
                  </a:schemeClr>
                </a:solidFill>
                <a:effectLst/>
                <a:latin typeface="Aptos" panose="020B0004020202020204" pitchFamily="34" charset="0"/>
              </a:rPr>
            </a:br>
            <a:endParaRPr kumimoji="0" lang="fr-FR" altLang="fr-FR" sz="1100" b="0" i="0" u="none" strike="noStrike" cap="none" normalizeH="0" baseline="0" dirty="0">
              <a:ln>
                <a:noFill/>
              </a:ln>
              <a:solidFill>
                <a:schemeClr val="accent5">
                  <a:lumMod val="75000"/>
                </a:schemeClr>
              </a:solidFill>
              <a:effectLst/>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100" b="1" i="0" u="none" strike="noStrike" cap="none" normalizeH="0" baseline="0" dirty="0">
                <a:ln>
                  <a:noFill/>
                </a:ln>
                <a:solidFill>
                  <a:schemeClr val="accent5">
                    <a:lumMod val="75000"/>
                  </a:schemeClr>
                </a:solidFill>
                <a:effectLst/>
                <a:latin typeface="Aptos" panose="020B0004020202020204" pitchFamily="34" charset="0"/>
              </a:rPr>
              <a:t>Data Lake centralisé Bronze / Silver / Gold</a:t>
            </a:r>
            <a:r>
              <a:rPr kumimoji="0" lang="fr-FR" altLang="fr-FR" sz="1100" b="0" i="0" u="none" strike="noStrike" cap="none" normalizeH="0" baseline="0" dirty="0">
                <a:ln>
                  <a:noFill/>
                </a:ln>
                <a:solidFill>
                  <a:schemeClr val="accent5">
                    <a:lumMod val="75000"/>
                  </a:schemeClr>
                </a:solidFill>
                <a:effectLst/>
                <a:latin typeface="Aptos" panose="020B0004020202020204" pitchFamily="34" charset="0"/>
              </a:rPr>
              <a:t>, socle unique pour le stockage, l’historisation et l’analyse.</a:t>
            </a:r>
            <a:br>
              <a:rPr kumimoji="0" lang="fr-FR" altLang="fr-FR" sz="1100" b="0" i="0" u="none" strike="noStrike" cap="none" normalizeH="0" baseline="0" dirty="0">
                <a:ln>
                  <a:noFill/>
                </a:ln>
                <a:solidFill>
                  <a:schemeClr val="accent5">
                    <a:lumMod val="75000"/>
                  </a:schemeClr>
                </a:solidFill>
                <a:effectLst/>
                <a:latin typeface="Aptos" panose="020B0004020202020204" pitchFamily="34" charset="0"/>
              </a:rPr>
            </a:br>
            <a:endParaRPr kumimoji="0" lang="fr-FR" altLang="fr-FR" sz="1100" b="0" i="0" u="none" strike="noStrike" cap="none" normalizeH="0" baseline="0" dirty="0">
              <a:ln>
                <a:noFill/>
              </a:ln>
              <a:solidFill>
                <a:schemeClr val="accent5">
                  <a:lumMod val="75000"/>
                </a:schemeClr>
              </a:solidFill>
              <a:effectLst/>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100" b="1" i="0" u="none" strike="noStrike" cap="none" normalizeH="0" baseline="0" dirty="0">
                <a:ln>
                  <a:noFill/>
                </a:ln>
                <a:solidFill>
                  <a:schemeClr val="accent5">
                    <a:lumMod val="75000"/>
                  </a:schemeClr>
                </a:solidFill>
                <a:effectLst/>
                <a:latin typeface="Aptos" panose="020B0004020202020204" pitchFamily="34" charset="0"/>
              </a:rPr>
              <a:t>Pipeline ETL/ELT industrialisé</a:t>
            </a:r>
            <a:r>
              <a:rPr kumimoji="0" lang="fr-FR" altLang="fr-FR" sz="1100" b="0" i="0" u="none" strike="noStrike" cap="none" normalizeH="0" baseline="0" dirty="0">
                <a:ln>
                  <a:noFill/>
                </a:ln>
                <a:solidFill>
                  <a:schemeClr val="accent5">
                    <a:lumMod val="75000"/>
                  </a:schemeClr>
                </a:solidFill>
                <a:effectLst/>
                <a:latin typeface="Aptos" panose="020B0004020202020204" pitchFamily="34" charset="0"/>
              </a:rPr>
              <a:t> (</a:t>
            </a:r>
            <a:r>
              <a:rPr kumimoji="0" lang="fr-FR" altLang="fr-FR" sz="1100" b="0" i="0" u="none" strike="noStrike" cap="none" normalizeH="0" baseline="0" dirty="0" err="1">
                <a:ln>
                  <a:noFill/>
                </a:ln>
                <a:solidFill>
                  <a:schemeClr val="accent5">
                    <a:lumMod val="75000"/>
                  </a:schemeClr>
                </a:solidFill>
                <a:effectLst/>
                <a:latin typeface="Aptos" panose="020B0004020202020204" pitchFamily="34" charset="0"/>
              </a:rPr>
              <a:t>Airflow</a:t>
            </a:r>
            <a:r>
              <a:rPr kumimoji="0" lang="fr-FR" altLang="fr-FR" sz="1100" b="0" i="0" u="none" strike="noStrike" cap="none" normalizeH="0" baseline="0" dirty="0">
                <a:ln>
                  <a:noFill/>
                </a:ln>
                <a:solidFill>
                  <a:schemeClr val="accent5">
                    <a:lumMod val="75000"/>
                  </a:schemeClr>
                </a:solidFill>
                <a:effectLst/>
                <a:latin typeface="Aptos" panose="020B0004020202020204" pitchFamily="34" charset="0"/>
              </a:rPr>
              <a:t>, </a:t>
            </a:r>
            <a:r>
              <a:rPr kumimoji="0" lang="fr-FR" altLang="fr-FR" sz="1100" b="0" i="0" u="none" strike="noStrike" cap="none" normalizeH="0" baseline="0" dirty="0" err="1">
                <a:ln>
                  <a:noFill/>
                </a:ln>
                <a:solidFill>
                  <a:schemeClr val="accent5">
                    <a:lumMod val="75000"/>
                  </a:schemeClr>
                </a:solidFill>
                <a:effectLst/>
                <a:latin typeface="Aptos" panose="020B0004020202020204" pitchFamily="34" charset="0"/>
              </a:rPr>
              <a:t>dbt</a:t>
            </a:r>
            <a:r>
              <a:rPr kumimoji="0" lang="fr-FR" altLang="fr-FR" sz="1100" b="0" i="0" u="none" strike="noStrike" cap="none" normalizeH="0" baseline="0" dirty="0">
                <a:ln>
                  <a:noFill/>
                </a:ln>
                <a:solidFill>
                  <a:schemeClr val="accent5">
                    <a:lumMod val="75000"/>
                  </a:schemeClr>
                </a:solidFill>
                <a:effectLst/>
                <a:latin typeface="Aptos" panose="020B0004020202020204" pitchFamily="34" charset="0"/>
              </a:rPr>
              <a:t>, Spark) assurant fiabilité et qualité des données.</a:t>
            </a:r>
            <a:br>
              <a:rPr kumimoji="0" lang="fr-FR" altLang="fr-FR" sz="1100" b="0" i="0" u="none" strike="noStrike" cap="none" normalizeH="0" baseline="0" dirty="0">
                <a:ln>
                  <a:noFill/>
                </a:ln>
                <a:solidFill>
                  <a:schemeClr val="accent5">
                    <a:lumMod val="75000"/>
                  </a:schemeClr>
                </a:solidFill>
                <a:effectLst/>
                <a:latin typeface="Aptos" panose="020B0004020202020204" pitchFamily="34" charset="0"/>
              </a:rPr>
            </a:br>
            <a:endParaRPr kumimoji="0" lang="fr-FR" altLang="fr-FR" sz="1100" b="0" i="0" u="none" strike="noStrike" cap="none" normalizeH="0" baseline="0" dirty="0">
              <a:ln>
                <a:noFill/>
              </a:ln>
              <a:solidFill>
                <a:schemeClr val="accent5">
                  <a:lumMod val="75000"/>
                </a:schemeClr>
              </a:solidFill>
              <a:effectLst/>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100" b="1" i="0" u="none" strike="noStrike" cap="none" normalizeH="0" baseline="0" dirty="0">
                <a:ln>
                  <a:noFill/>
                </a:ln>
                <a:solidFill>
                  <a:schemeClr val="accent5">
                    <a:lumMod val="75000"/>
                  </a:schemeClr>
                </a:solidFill>
                <a:effectLst/>
                <a:latin typeface="Aptos" panose="020B0004020202020204" pitchFamily="34" charset="0"/>
              </a:rPr>
              <a:t>Couche NoSQL adaptée aux usages avancés</a:t>
            </a:r>
            <a:r>
              <a:rPr kumimoji="0" lang="fr-FR" altLang="fr-FR" sz="1100" b="0" i="0" u="none" strike="noStrike" cap="none" normalizeH="0" baseline="0" dirty="0">
                <a:ln>
                  <a:noFill/>
                </a:ln>
                <a:solidFill>
                  <a:schemeClr val="accent5">
                    <a:lumMod val="75000"/>
                  </a:schemeClr>
                </a:solidFill>
                <a:effectLst/>
                <a:latin typeface="Aptos" panose="020B0004020202020204" pitchFamily="34" charset="0"/>
              </a:rPr>
              <a:t> : données non structurées, logs, séries temporelles et </a:t>
            </a:r>
            <a:r>
              <a:rPr kumimoji="0" lang="fr-FR" altLang="fr-FR" sz="1100" b="0" i="0" u="none" strike="noStrike" cap="none" normalizeH="0" baseline="0" dirty="0" err="1">
                <a:ln>
                  <a:noFill/>
                </a:ln>
                <a:solidFill>
                  <a:schemeClr val="accent5">
                    <a:lumMod val="75000"/>
                  </a:schemeClr>
                </a:solidFill>
                <a:effectLst/>
                <a:latin typeface="Aptos" panose="020B0004020202020204" pitchFamily="34" charset="0"/>
              </a:rPr>
              <a:t>Feature</a:t>
            </a:r>
            <a:r>
              <a:rPr kumimoji="0" lang="fr-FR" altLang="fr-FR" sz="1100" b="0" i="0" u="none" strike="noStrike" cap="none" normalizeH="0" baseline="0" dirty="0">
                <a:ln>
                  <a:noFill/>
                </a:ln>
                <a:solidFill>
                  <a:schemeClr val="accent5">
                    <a:lumMod val="75000"/>
                  </a:schemeClr>
                </a:solidFill>
                <a:effectLst/>
                <a:latin typeface="Aptos" panose="020B0004020202020204" pitchFamily="34" charset="0"/>
              </a:rPr>
              <a:t> Store ML.</a:t>
            </a:r>
            <a:br>
              <a:rPr kumimoji="0" lang="fr-FR" altLang="fr-FR" sz="1100" b="0" i="0" u="none" strike="noStrike" cap="none" normalizeH="0" baseline="0" dirty="0">
                <a:ln>
                  <a:noFill/>
                </a:ln>
                <a:solidFill>
                  <a:schemeClr val="accent5">
                    <a:lumMod val="75000"/>
                  </a:schemeClr>
                </a:solidFill>
                <a:effectLst/>
                <a:latin typeface="Aptos" panose="020B0004020202020204" pitchFamily="34" charset="0"/>
              </a:rPr>
            </a:br>
            <a:endParaRPr kumimoji="0" lang="fr-FR" altLang="fr-FR" sz="1100" b="0" i="0" u="none" strike="noStrike" cap="none" normalizeH="0" baseline="0" dirty="0">
              <a:ln>
                <a:noFill/>
              </a:ln>
              <a:solidFill>
                <a:schemeClr val="accent5">
                  <a:lumMod val="75000"/>
                </a:schemeClr>
              </a:solidFill>
              <a:effectLst/>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100" b="1" i="0" u="none" strike="noStrike" cap="none" normalizeH="0" baseline="0" dirty="0">
                <a:ln>
                  <a:noFill/>
                </a:ln>
                <a:solidFill>
                  <a:schemeClr val="accent5">
                    <a:lumMod val="75000"/>
                  </a:schemeClr>
                </a:solidFill>
                <a:effectLst/>
                <a:latin typeface="Aptos" panose="020B0004020202020204" pitchFamily="34" charset="0"/>
              </a:rPr>
              <a:t>Intégration end-to-end du Machine Learning</a:t>
            </a:r>
            <a:r>
              <a:rPr kumimoji="0" lang="fr-FR" altLang="fr-FR" sz="1100" b="0" i="0" u="none" strike="noStrike" cap="none" normalizeH="0" baseline="0" dirty="0">
                <a:ln>
                  <a:noFill/>
                </a:ln>
                <a:solidFill>
                  <a:schemeClr val="accent5">
                    <a:lumMod val="75000"/>
                  </a:schemeClr>
                </a:solidFill>
                <a:effectLst/>
                <a:latin typeface="Aptos" panose="020B0004020202020204" pitchFamily="34" charset="0"/>
              </a:rPr>
              <a:t> (</a:t>
            </a:r>
            <a:r>
              <a:rPr kumimoji="0" lang="fr-FR" altLang="fr-FR" sz="1100" b="0" i="0" u="none" strike="noStrike" cap="none" normalizeH="0" baseline="0" dirty="0" err="1">
                <a:ln>
                  <a:noFill/>
                </a:ln>
                <a:solidFill>
                  <a:schemeClr val="accent5">
                    <a:lumMod val="75000"/>
                  </a:schemeClr>
                </a:solidFill>
                <a:effectLst/>
                <a:latin typeface="Aptos" panose="020B0004020202020204" pitchFamily="34" charset="0"/>
              </a:rPr>
              <a:t>Feature</a:t>
            </a:r>
            <a:r>
              <a:rPr kumimoji="0" lang="fr-FR" altLang="fr-FR" sz="1100" b="0" i="0" u="none" strike="noStrike" cap="none" normalizeH="0" baseline="0" dirty="0">
                <a:ln>
                  <a:noFill/>
                </a:ln>
                <a:solidFill>
                  <a:schemeClr val="accent5">
                    <a:lumMod val="75000"/>
                  </a:schemeClr>
                </a:solidFill>
                <a:effectLst/>
                <a:latin typeface="Aptos" panose="020B0004020202020204" pitchFamily="34" charset="0"/>
              </a:rPr>
              <a:t> Store, </a:t>
            </a:r>
            <a:r>
              <a:rPr kumimoji="0" lang="fr-FR" altLang="fr-FR" sz="1100" b="0" i="0" u="none" strike="noStrike" cap="none" normalizeH="0" baseline="0" dirty="0" err="1">
                <a:ln>
                  <a:noFill/>
                </a:ln>
                <a:solidFill>
                  <a:schemeClr val="accent5">
                    <a:lumMod val="75000"/>
                  </a:schemeClr>
                </a:solidFill>
                <a:effectLst/>
                <a:latin typeface="Aptos" panose="020B0004020202020204" pitchFamily="34" charset="0"/>
              </a:rPr>
              <a:t>MLOps</a:t>
            </a:r>
            <a:r>
              <a:rPr kumimoji="0" lang="fr-FR" altLang="fr-FR" sz="1100" b="0" i="0" u="none" strike="noStrike" cap="none" normalizeH="0" baseline="0" dirty="0">
                <a:ln>
                  <a:noFill/>
                </a:ln>
                <a:solidFill>
                  <a:schemeClr val="accent5">
                    <a:lumMod val="75000"/>
                  </a:schemeClr>
                </a:solidFill>
                <a:effectLst/>
                <a:latin typeface="Aptos" panose="020B0004020202020204" pitchFamily="34" charset="0"/>
              </a:rPr>
              <a:t>, </a:t>
            </a:r>
            <a:r>
              <a:rPr kumimoji="0" lang="fr-FR" altLang="fr-FR" sz="1100" b="0" i="0" u="none" strike="noStrike" cap="none" normalizeH="0" baseline="0" dirty="0" err="1">
                <a:ln>
                  <a:noFill/>
                </a:ln>
                <a:solidFill>
                  <a:schemeClr val="accent5">
                    <a:lumMod val="75000"/>
                  </a:schemeClr>
                </a:solidFill>
                <a:effectLst/>
                <a:latin typeface="Aptos" panose="020B0004020202020204" pitchFamily="34" charset="0"/>
              </a:rPr>
              <a:t>serving</a:t>
            </a:r>
            <a:r>
              <a:rPr kumimoji="0" lang="fr-FR" altLang="fr-FR" sz="1100" b="0" i="0" u="none" strike="noStrike" cap="none" normalizeH="0" baseline="0" dirty="0">
                <a:ln>
                  <a:noFill/>
                </a:ln>
                <a:solidFill>
                  <a:schemeClr val="accent5">
                    <a:lumMod val="75000"/>
                  </a:schemeClr>
                </a:solidFill>
                <a:effectLst/>
                <a:latin typeface="Aptos" panose="020B0004020202020204" pitchFamily="34" charset="0"/>
              </a:rPr>
              <a:t> temps réel).</a:t>
            </a:r>
            <a:br>
              <a:rPr kumimoji="0" lang="fr-FR" altLang="fr-FR" sz="1100" b="0" i="0" u="none" strike="noStrike" cap="none" normalizeH="0" baseline="0" dirty="0">
                <a:ln>
                  <a:noFill/>
                </a:ln>
                <a:solidFill>
                  <a:schemeClr val="accent5">
                    <a:lumMod val="75000"/>
                  </a:schemeClr>
                </a:solidFill>
                <a:effectLst/>
                <a:latin typeface="Aptos" panose="020B0004020202020204" pitchFamily="34" charset="0"/>
              </a:rPr>
            </a:br>
            <a:endParaRPr kumimoji="0" lang="fr-FR" altLang="fr-FR" sz="1100" b="0" i="0" u="none" strike="noStrike" cap="none" normalizeH="0" baseline="0" dirty="0">
              <a:ln>
                <a:noFill/>
              </a:ln>
              <a:solidFill>
                <a:schemeClr val="accent5">
                  <a:lumMod val="75000"/>
                </a:schemeClr>
              </a:solidFill>
              <a:effectLst/>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100" b="1" i="0" u="none" strike="noStrike" cap="none" normalizeH="0" baseline="0" dirty="0">
                <a:ln>
                  <a:noFill/>
                </a:ln>
                <a:solidFill>
                  <a:schemeClr val="accent5">
                    <a:lumMod val="75000"/>
                  </a:schemeClr>
                </a:solidFill>
                <a:effectLst/>
                <a:latin typeface="Aptos" panose="020B0004020202020204" pitchFamily="34" charset="0"/>
              </a:rPr>
              <a:t>Sécurité, conformité et gouvernance renforcées</a:t>
            </a:r>
            <a:r>
              <a:rPr kumimoji="0" lang="fr-FR" altLang="fr-FR" sz="1100" b="0" i="0" u="none" strike="noStrike" cap="none" normalizeH="0" baseline="0" dirty="0">
                <a:ln>
                  <a:noFill/>
                </a:ln>
                <a:solidFill>
                  <a:schemeClr val="accent5">
                    <a:lumMod val="75000"/>
                  </a:schemeClr>
                </a:solidFill>
                <a:effectLst/>
                <a:latin typeface="Aptos" panose="020B0004020202020204" pitchFamily="34" charset="0"/>
              </a:rPr>
              <a:t> via IAM/RBAC, chiffrement, audit et observabilité centralisée.</a:t>
            </a:r>
          </a:p>
        </p:txBody>
      </p:sp>
      <p:pic>
        <p:nvPicPr>
          <p:cNvPr id="8" name="Image 7">
            <a:hlinkClick r:id="rId5"/>
            <a:extLst>
              <a:ext uri="{FF2B5EF4-FFF2-40B4-BE49-F238E27FC236}">
                <a16:creationId xmlns:a16="http://schemas.microsoft.com/office/drawing/2014/main" id="{8B6AB7E9-8982-FD19-1F9B-1430E2D11663}"/>
              </a:ext>
            </a:extLst>
          </p:cNvPr>
          <p:cNvPicPr>
            <a:picLocks noChangeAspect="1"/>
          </p:cNvPicPr>
          <p:nvPr/>
        </p:nvPicPr>
        <p:blipFill>
          <a:blip r:embed="rId6"/>
          <a:stretch>
            <a:fillRect/>
          </a:stretch>
        </p:blipFill>
        <p:spPr>
          <a:xfrm>
            <a:off x="0" y="4595745"/>
            <a:ext cx="457211" cy="45721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3FDAD2"/>
        </a:solidFill>
        <a:effectLst/>
      </p:bgPr>
    </p:bg>
    <p:spTree>
      <p:nvGrpSpPr>
        <p:cNvPr id="1" name="Shape 93">
          <a:extLst>
            <a:ext uri="{FF2B5EF4-FFF2-40B4-BE49-F238E27FC236}">
              <a16:creationId xmlns:a16="http://schemas.microsoft.com/office/drawing/2014/main" id="{57C345A0-647E-7977-678F-7CE109FB9CF9}"/>
            </a:ext>
          </a:extLst>
        </p:cNvPr>
        <p:cNvGrpSpPr/>
        <p:nvPr/>
      </p:nvGrpSpPr>
      <p:grpSpPr>
        <a:xfrm>
          <a:off x="0" y="0"/>
          <a:ext cx="0" cy="0"/>
          <a:chOff x="0" y="0"/>
          <a:chExt cx="0" cy="0"/>
        </a:xfrm>
      </p:grpSpPr>
      <p:sp>
        <p:nvSpPr>
          <p:cNvPr id="95" name="Google Shape;95;p17">
            <a:extLst>
              <a:ext uri="{FF2B5EF4-FFF2-40B4-BE49-F238E27FC236}">
                <a16:creationId xmlns:a16="http://schemas.microsoft.com/office/drawing/2014/main" id="{7DE5A950-2D4D-1F73-4611-F5756F25140A}"/>
              </a:ext>
            </a:extLst>
          </p:cNvPr>
          <p:cNvSpPr txBox="1">
            <a:spLocks noGrp="1"/>
          </p:cNvSpPr>
          <p:nvPr>
            <p:ph type="ctrTitle" idx="4294967295"/>
          </p:nvPr>
        </p:nvSpPr>
        <p:spPr>
          <a:xfrm>
            <a:off x="1869937" y="132106"/>
            <a:ext cx="5315100" cy="385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fr-FR" sz="2000" b="1" dirty="0">
                <a:solidFill>
                  <a:schemeClr val="tx1">
                    <a:lumMod val="65000"/>
                    <a:lumOff val="35000"/>
                  </a:schemeClr>
                </a:solidFill>
                <a:latin typeface="Aptos" panose="020B0004020202020204" pitchFamily="34" charset="0"/>
                <a:ea typeface="Inter"/>
              </a:rPr>
              <a:t>Diagramme entité-relation (ERD) </a:t>
            </a:r>
            <a:endParaRPr sz="2000" b="1" dirty="0">
              <a:solidFill>
                <a:schemeClr val="tx1">
                  <a:lumMod val="65000"/>
                  <a:lumOff val="35000"/>
                </a:schemeClr>
              </a:solidFill>
              <a:latin typeface="Aptos" panose="020B0004020202020204" pitchFamily="34" charset="0"/>
              <a:ea typeface="Inter"/>
              <a:sym typeface="Inter"/>
            </a:endParaRPr>
          </a:p>
        </p:txBody>
      </p:sp>
      <p:pic>
        <p:nvPicPr>
          <p:cNvPr id="2" name="Google Shape;56;p13">
            <a:extLst>
              <a:ext uri="{FF2B5EF4-FFF2-40B4-BE49-F238E27FC236}">
                <a16:creationId xmlns:a16="http://schemas.microsoft.com/office/drawing/2014/main" id="{E6BF5565-36E5-9F75-A2AD-0E0DBE77D6F1}"/>
              </a:ext>
            </a:extLst>
          </p:cNvPr>
          <p:cNvPicPr preferRelativeResize="0"/>
          <p:nvPr/>
        </p:nvPicPr>
        <p:blipFill>
          <a:blip r:embed="rId3">
            <a:alphaModFix/>
          </a:blip>
          <a:stretch>
            <a:fillRect/>
          </a:stretch>
        </p:blipFill>
        <p:spPr>
          <a:xfrm>
            <a:off x="76200" y="90544"/>
            <a:ext cx="973275" cy="651050"/>
          </a:xfrm>
          <a:prstGeom prst="rect">
            <a:avLst/>
          </a:prstGeom>
          <a:noFill/>
          <a:ln>
            <a:noFill/>
          </a:ln>
        </p:spPr>
      </p:pic>
      <p:pic>
        <p:nvPicPr>
          <p:cNvPr id="3" name="Image 2" descr="Une image contenant capture d’écran, diagramme&#10;&#10;Description générée automatiquement">
            <a:extLst>
              <a:ext uri="{FF2B5EF4-FFF2-40B4-BE49-F238E27FC236}">
                <a16:creationId xmlns:a16="http://schemas.microsoft.com/office/drawing/2014/main" id="{45D077D8-6E24-EDE1-1FF4-6798892BDF9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1940" y="741594"/>
            <a:ext cx="8839200" cy="3441674"/>
          </a:xfrm>
          <a:prstGeom prst="rect">
            <a:avLst/>
          </a:prstGeom>
        </p:spPr>
      </p:pic>
      <p:sp>
        <p:nvSpPr>
          <p:cNvPr id="4" name="Google Shape;82;p16">
            <a:extLst>
              <a:ext uri="{FF2B5EF4-FFF2-40B4-BE49-F238E27FC236}">
                <a16:creationId xmlns:a16="http://schemas.microsoft.com/office/drawing/2014/main" id="{2F17CBF3-EF48-8E01-B203-5123B9E05D00}"/>
              </a:ext>
            </a:extLst>
          </p:cNvPr>
          <p:cNvSpPr txBox="1">
            <a:spLocks/>
          </p:cNvSpPr>
          <p:nvPr/>
        </p:nvSpPr>
        <p:spPr>
          <a:xfrm>
            <a:off x="5568677" y="4110501"/>
            <a:ext cx="3461024" cy="90089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marL="342900" indent="-342900">
              <a:buSzPct val="100000"/>
              <a:buAutoNum type="arabicPeriod"/>
            </a:pPr>
            <a:r>
              <a:rPr lang="fr-FR" sz="1100" dirty="0">
                <a:solidFill>
                  <a:schemeClr val="accent5">
                    <a:lumMod val="75000"/>
                  </a:schemeClr>
                </a:solidFill>
                <a:latin typeface="Aptos" panose="020B0004020202020204" pitchFamily="34" charset="0"/>
                <a:sym typeface="Inter"/>
              </a:rPr>
              <a:t>Normalisation 3NF</a:t>
            </a:r>
          </a:p>
          <a:p>
            <a:pPr marL="342900" indent="-342900">
              <a:buSzPct val="100000"/>
              <a:buAutoNum type="arabicPeriod"/>
            </a:pPr>
            <a:r>
              <a:rPr lang="fr-FR" sz="1100" dirty="0">
                <a:solidFill>
                  <a:schemeClr val="accent5">
                    <a:lumMod val="75000"/>
                  </a:schemeClr>
                </a:solidFill>
                <a:latin typeface="Aptos" panose="020B0004020202020204" pitchFamily="34" charset="0"/>
                <a:sym typeface="Inter"/>
              </a:rPr>
              <a:t>Relations claires et directionnelles</a:t>
            </a:r>
          </a:p>
          <a:p>
            <a:pPr marL="342900" indent="-342900">
              <a:buSzPct val="100000"/>
              <a:buAutoNum type="arabicPeriod"/>
            </a:pPr>
            <a:r>
              <a:rPr lang="fr-FR" sz="1100" dirty="0">
                <a:solidFill>
                  <a:schemeClr val="accent5">
                    <a:lumMod val="75000"/>
                  </a:schemeClr>
                </a:solidFill>
                <a:latin typeface="Aptos" panose="020B0004020202020204" pitchFamily="34" charset="0"/>
                <a:sym typeface="Inter"/>
              </a:rPr>
              <a:t>Intégrité référentielle forte</a:t>
            </a:r>
          </a:p>
          <a:p>
            <a:pPr marL="342900" indent="-342900">
              <a:buSzPct val="100000"/>
              <a:buAutoNum type="arabicPeriod"/>
            </a:pPr>
            <a:r>
              <a:rPr lang="fr-FR" sz="1100" dirty="0">
                <a:solidFill>
                  <a:schemeClr val="accent5">
                    <a:lumMod val="75000"/>
                  </a:schemeClr>
                </a:solidFill>
                <a:latin typeface="Aptos" panose="020B0004020202020204" pitchFamily="34" charset="0"/>
                <a:sym typeface="Inter"/>
              </a:rPr>
              <a:t>Séparation des responsabilités</a:t>
            </a:r>
          </a:p>
          <a:p>
            <a:pPr marL="342900" indent="-342900">
              <a:buSzPct val="100000"/>
              <a:buAutoNum type="arabicPeriod"/>
            </a:pPr>
            <a:r>
              <a:rPr lang="fr-FR" sz="1100" dirty="0">
                <a:solidFill>
                  <a:schemeClr val="accent5">
                    <a:lumMod val="75000"/>
                  </a:schemeClr>
                </a:solidFill>
                <a:latin typeface="Aptos" panose="020B0004020202020204" pitchFamily="34" charset="0"/>
                <a:sym typeface="Inter"/>
              </a:rPr>
              <a:t>Orienté PCI-DSS (Tokens moyens de paiements)</a:t>
            </a:r>
          </a:p>
        </p:txBody>
      </p:sp>
    </p:spTree>
    <p:extLst>
      <p:ext uri="{BB962C8B-B14F-4D97-AF65-F5344CB8AC3E}">
        <p14:creationId xmlns:p14="http://schemas.microsoft.com/office/powerpoint/2010/main" val="5454727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3FDAD2"/>
        </a:solidFill>
        <a:effectLst/>
      </p:bgPr>
    </p:bg>
    <p:spTree>
      <p:nvGrpSpPr>
        <p:cNvPr id="1" name="Shape 93">
          <a:extLst>
            <a:ext uri="{FF2B5EF4-FFF2-40B4-BE49-F238E27FC236}">
              <a16:creationId xmlns:a16="http://schemas.microsoft.com/office/drawing/2014/main" id="{57C345A0-647E-7977-678F-7CE109FB9CF9}"/>
            </a:ext>
          </a:extLst>
        </p:cNvPr>
        <p:cNvGrpSpPr/>
        <p:nvPr/>
      </p:nvGrpSpPr>
      <p:grpSpPr>
        <a:xfrm>
          <a:off x="0" y="0"/>
          <a:ext cx="0" cy="0"/>
          <a:chOff x="0" y="0"/>
          <a:chExt cx="0" cy="0"/>
        </a:xfrm>
      </p:grpSpPr>
      <p:sp>
        <p:nvSpPr>
          <p:cNvPr id="95" name="Google Shape;95;p17">
            <a:extLst>
              <a:ext uri="{FF2B5EF4-FFF2-40B4-BE49-F238E27FC236}">
                <a16:creationId xmlns:a16="http://schemas.microsoft.com/office/drawing/2014/main" id="{7DE5A950-2D4D-1F73-4611-F5756F25140A}"/>
              </a:ext>
            </a:extLst>
          </p:cNvPr>
          <p:cNvSpPr txBox="1">
            <a:spLocks noGrp="1"/>
          </p:cNvSpPr>
          <p:nvPr>
            <p:ph type="ctrTitle" idx="4294967295"/>
          </p:nvPr>
        </p:nvSpPr>
        <p:spPr>
          <a:xfrm>
            <a:off x="1746707" y="177214"/>
            <a:ext cx="5315100" cy="385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fr" sz="2000" b="1" dirty="0">
                <a:solidFill>
                  <a:schemeClr val="tx1">
                    <a:lumMod val="65000"/>
                    <a:lumOff val="35000"/>
                  </a:schemeClr>
                </a:solidFill>
                <a:latin typeface="Aptos" panose="020B0004020202020204" pitchFamily="34" charset="0"/>
                <a:ea typeface="Inter"/>
                <a:sym typeface="Inter"/>
              </a:rPr>
              <a:t>L’OLAP </a:t>
            </a:r>
            <a:endParaRPr sz="2000" b="1" dirty="0">
              <a:solidFill>
                <a:schemeClr val="tx1">
                  <a:lumMod val="65000"/>
                  <a:lumOff val="35000"/>
                </a:schemeClr>
              </a:solidFill>
              <a:latin typeface="Aptos" panose="020B0004020202020204" pitchFamily="34" charset="0"/>
              <a:ea typeface="Inter"/>
              <a:sym typeface="Inter"/>
            </a:endParaRPr>
          </a:p>
        </p:txBody>
      </p:sp>
      <p:pic>
        <p:nvPicPr>
          <p:cNvPr id="2" name="Google Shape;56;p13">
            <a:extLst>
              <a:ext uri="{FF2B5EF4-FFF2-40B4-BE49-F238E27FC236}">
                <a16:creationId xmlns:a16="http://schemas.microsoft.com/office/drawing/2014/main" id="{E6BF5565-36E5-9F75-A2AD-0E0DBE77D6F1}"/>
              </a:ext>
            </a:extLst>
          </p:cNvPr>
          <p:cNvPicPr preferRelativeResize="0"/>
          <p:nvPr/>
        </p:nvPicPr>
        <p:blipFill>
          <a:blip r:embed="rId3">
            <a:alphaModFix/>
          </a:blip>
          <a:stretch>
            <a:fillRect/>
          </a:stretch>
        </p:blipFill>
        <p:spPr>
          <a:xfrm>
            <a:off x="76200" y="90544"/>
            <a:ext cx="973275" cy="651050"/>
          </a:xfrm>
          <a:prstGeom prst="rect">
            <a:avLst/>
          </a:prstGeom>
          <a:noFill/>
          <a:ln>
            <a:noFill/>
          </a:ln>
        </p:spPr>
      </p:pic>
      <p:pic>
        <p:nvPicPr>
          <p:cNvPr id="3" name="Image 2">
            <a:extLst>
              <a:ext uri="{FF2B5EF4-FFF2-40B4-BE49-F238E27FC236}">
                <a16:creationId xmlns:a16="http://schemas.microsoft.com/office/drawing/2014/main" id="{558823D3-36EB-404F-A15D-AD8358F543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089832"/>
            <a:ext cx="9144000" cy="1908431"/>
          </a:xfrm>
          <a:prstGeom prst="rect">
            <a:avLst/>
          </a:prstGeom>
        </p:spPr>
      </p:pic>
      <p:sp>
        <p:nvSpPr>
          <p:cNvPr id="5" name="ZoneTexte 4">
            <a:extLst>
              <a:ext uri="{FF2B5EF4-FFF2-40B4-BE49-F238E27FC236}">
                <a16:creationId xmlns:a16="http://schemas.microsoft.com/office/drawing/2014/main" id="{711BDA8F-2E4B-4405-7111-41DE3E9B05C1}"/>
              </a:ext>
            </a:extLst>
          </p:cNvPr>
          <p:cNvSpPr txBox="1"/>
          <p:nvPr/>
        </p:nvSpPr>
        <p:spPr>
          <a:xfrm>
            <a:off x="3948887" y="3925621"/>
            <a:ext cx="5248453" cy="938719"/>
          </a:xfrm>
          <a:prstGeom prst="rect">
            <a:avLst/>
          </a:prstGeom>
          <a:noFill/>
        </p:spPr>
        <p:txBody>
          <a:bodyPr wrap="square">
            <a:spAutoFit/>
          </a:bodyPr>
          <a:lstStyle/>
          <a:p>
            <a:pPr marL="342900" indent="-342900">
              <a:buClr>
                <a:schemeClr val="dk1"/>
              </a:buClr>
              <a:buSzPct val="100000"/>
              <a:buFont typeface="Arial"/>
              <a:buAutoNum type="arabicPeriod"/>
            </a:pPr>
            <a:r>
              <a:rPr lang="fr-FR" sz="1100" dirty="0">
                <a:solidFill>
                  <a:schemeClr val="accent5">
                    <a:lumMod val="75000"/>
                  </a:schemeClr>
                </a:solidFill>
                <a:latin typeface="Aptos" panose="020B0004020202020204" pitchFamily="34" charset="0"/>
                <a:sym typeface="Inter"/>
              </a:rPr>
              <a:t>Orientation évènements</a:t>
            </a:r>
          </a:p>
          <a:p>
            <a:pPr marL="342900" indent="-342900">
              <a:buClr>
                <a:schemeClr val="dk1"/>
              </a:buClr>
              <a:buSzPct val="100000"/>
              <a:buFont typeface="Arial"/>
              <a:buAutoNum type="arabicPeriod"/>
            </a:pPr>
            <a:r>
              <a:rPr lang="fr-FR" sz="1100" dirty="0">
                <a:solidFill>
                  <a:schemeClr val="accent5">
                    <a:lumMod val="75000"/>
                  </a:schemeClr>
                </a:solidFill>
                <a:latin typeface="Aptos" panose="020B0004020202020204" pitchFamily="34" charset="0"/>
              </a:rPr>
              <a:t>Séparation claire entre données brutes, sessions, </a:t>
            </a:r>
            <a:r>
              <a:rPr lang="fr-FR" sz="1100" dirty="0" err="1">
                <a:solidFill>
                  <a:schemeClr val="accent5">
                    <a:lumMod val="75000"/>
                  </a:schemeClr>
                </a:solidFill>
                <a:latin typeface="Aptos" panose="020B0004020202020204" pitchFamily="34" charset="0"/>
              </a:rPr>
              <a:t>features</a:t>
            </a:r>
            <a:r>
              <a:rPr lang="fr-FR" sz="1100" dirty="0">
                <a:solidFill>
                  <a:schemeClr val="accent5">
                    <a:lumMod val="75000"/>
                  </a:schemeClr>
                </a:solidFill>
                <a:latin typeface="Aptos" panose="020B0004020202020204" pitchFamily="34" charset="0"/>
              </a:rPr>
              <a:t> et événements</a:t>
            </a:r>
          </a:p>
          <a:p>
            <a:pPr marL="342900" indent="-342900">
              <a:buClr>
                <a:schemeClr val="dk1"/>
              </a:buClr>
              <a:buSzPct val="100000"/>
              <a:buFont typeface="Arial"/>
              <a:buAutoNum type="arabicPeriod"/>
            </a:pPr>
            <a:r>
              <a:rPr lang="fr-FR" sz="1100" dirty="0">
                <a:solidFill>
                  <a:schemeClr val="accent5">
                    <a:lumMod val="75000"/>
                  </a:schemeClr>
                </a:solidFill>
                <a:latin typeface="Aptos" panose="020B0004020202020204" pitchFamily="34" charset="0"/>
              </a:rPr>
              <a:t>Intégration fluide avec l’OLTP via CDC</a:t>
            </a:r>
          </a:p>
          <a:p>
            <a:pPr marL="342900" indent="-342900">
              <a:buClr>
                <a:schemeClr val="dk1"/>
              </a:buClr>
              <a:buSzPct val="100000"/>
              <a:buFont typeface="Arial"/>
              <a:buAutoNum type="arabicPeriod"/>
            </a:pPr>
            <a:r>
              <a:rPr lang="fr-FR" sz="1100" dirty="0">
                <a:solidFill>
                  <a:schemeClr val="accent5">
                    <a:lumMod val="75000"/>
                  </a:schemeClr>
                </a:solidFill>
                <a:latin typeface="Aptos" panose="020B0004020202020204" pitchFamily="34" charset="0"/>
              </a:rPr>
              <a:t>Préparation naturelle du </a:t>
            </a:r>
            <a:r>
              <a:rPr lang="fr-FR" sz="1100" dirty="0" err="1">
                <a:solidFill>
                  <a:schemeClr val="accent5">
                    <a:lumMod val="75000"/>
                  </a:schemeClr>
                </a:solidFill>
                <a:latin typeface="Aptos" panose="020B0004020202020204" pitchFamily="34" charset="0"/>
              </a:rPr>
              <a:t>Feature</a:t>
            </a:r>
            <a:r>
              <a:rPr lang="fr-FR" sz="1100" dirty="0">
                <a:solidFill>
                  <a:schemeClr val="accent5">
                    <a:lumMod val="75000"/>
                  </a:schemeClr>
                </a:solidFill>
                <a:latin typeface="Aptos" panose="020B0004020202020204" pitchFamily="34" charset="0"/>
              </a:rPr>
              <a:t> Store pour le ML</a:t>
            </a:r>
          </a:p>
          <a:p>
            <a:pPr marL="342900" indent="-342900">
              <a:buClr>
                <a:schemeClr val="dk1"/>
              </a:buClr>
              <a:buSzPct val="100000"/>
              <a:buFont typeface="Arial"/>
              <a:buAutoNum type="arabicPeriod"/>
            </a:pPr>
            <a:r>
              <a:rPr lang="fr-FR" sz="1100" dirty="0">
                <a:solidFill>
                  <a:schemeClr val="accent5">
                    <a:lumMod val="75000"/>
                  </a:schemeClr>
                </a:solidFill>
                <a:latin typeface="Aptos" panose="020B0004020202020204" pitchFamily="34" charset="0"/>
                <a:sym typeface="Inter"/>
              </a:rPr>
              <a:t>Support optimal pour la détection de fraude en temps réel</a:t>
            </a:r>
          </a:p>
        </p:txBody>
      </p:sp>
      <p:pic>
        <p:nvPicPr>
          <p:cNvPr id="6" name="Image 5">
            <a:hlinkClick r:id="rId5"/>
            <a:extLst>
              <a:ext uri="{FF2B5EF4-FFF2-40B4-BE49-F238E27FC236}">
                <a16:creationId xmlns:a16="http://schemas.microsoft.com/office/drawing/2014/main" id="{46F8B7AD-D7C5-F8FD-C244-8C91A99573BE}"/>
              </a:ext>
            </a:extLst>
          </p:cNvPr>
          <p:cNvPicPr>
            <a:picLocks noChangeAspect="1"/>
          </p:cNvPicPr>
          <p:nvPr/>
        </p:nvPicPr>
        <p:blipFill>
          <a:blip r:embed="rId6"/>
          <a:stretch>
            <a:fillRect/>
          </a:stretch>
        </p:blipFill>
        <p:spPr>
          <a:xfrm>
            <a:off x="0" y="4595745"/>
            <a:ext cx="457211" cy="457211"/>
          </a:xfrm>
          <a:prstGeom prst="rect">
            <a:avLst/>
          </a:prstGeom>
        </p:spPr>
      </p:pic>
    </p:spTree>
    <p:extLst>
      <p:ext uri="{BB962C8B-B14F-4D97-AF65-F5344CB8AC3E}">
        <p14:creationId xmlns:p14="http://schemas.microsoft.com/office/powerpoint/2010/main" val="24048973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3FDAD2"/>
        </a:solidFill>
        <a:effectLst/>
      </p:bgPr>
    </p:bg>
    <p:spTree>
      <p:nvGrpSpPr>
        <p:cNvPr id="1" name="Shape 93">
          <a:extLst>
            <a:ext uri="{FF2B5EF4-FFF2-40B4-BE49-F238E27FC236}">
              <a16:creationId xmlns:a16="http://schemas.microsoft.com/office/drawing/2014/main" id="{57C345A0-647E-7977-678F-7CE109FB9CF9}"/>
            </a:ext>
          </a:extLst>
        </p:cNvPr>
        <p:cNvGrpSpPr/>
        <p:nvPr/>
      </p:nvGrpSpPr>
      <p:grpSpPr>
        <a:xfrm>
          <a:off x="0" y="0"/>
          <a:ext cx="0" cy="0"/>
          <a:chOff x="0" y="0"/>
          <a:chExt cx="0" cy="0"/>
        </a:xfrm>
      </p:grpSpPr>
      <p:sp>
        <p:nvSpPr>
          <p:cNvPr id="95" name="Google Shape;95;p17">
            <a:extLst>
              <a:ext uri="{FF2B5EF4-FFF2-40B4-BE49-F238E27FC236}">
                <a16:creationId xmlns:a16="http://schemas.microsoft.com/office/drawing/2014/main" id="{7DE5A950-2D4D-1F73-4611-F5756F25140A}"/>
              </a:ext>
            </a:extLst>
          </p:cNvPr>
          <p:cNvSpPr txBox="1">
            <a:spLocks noGrp="1"/>
          </p:cNvSpPr>
          <p:nvPr>
            <p:ph type="ctrTitle" idx="4294967295"/>
          </p:nvPr>
        </p:nvSpPr>
        <p:spPr>
          <a:xfrm>
            <a:off x="1914450" y="92437"/>
            <a:ext cx="5315100" cy="385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fr-FR" sz="2000" b="1" dirty="0">
                <a:solidFill>
                  <a:schemeClr val="tx1">
                    <a:lumMod val="65000"/>
                    <a:lumOff val="35000"/>
                  </a:schemeClr>
                </a:solidFill>
                <a:latin typeface="Aptos" panose="020B0004020202020204" pitchFamily="34" charset="0"/>
                <a:ea typeface="Inter"/>
              </a:rPr>
              <a:t>Le NoSQL</a:t>
            </a:r>
            <a:endParaRPr sz="2000" b="1" dirty="0">
              <a:solidFill>
                <a:schemeClr val="tx1">
                  <a:lumMod val="65000"/>
                  <a:lumOff val="35000"/>
                </a:schemeClr>
              </a:solidFill>
              <a:latin typeface="Aptos" panose="020B0004020202020204" pitchFamily="34" charset="0"/>
              <a:ea typeface="Inter"/>
              <a:sym typeface="Inter"/>
            </a:endParaRPr>
          </a:p>
        </p:txBody>
      </p:sp>
      <p:pic>
        <p:nvPicPr>
          <p:cNvPr id="2" name="Google Shape;56;p13">
            <a:extLst>
              <a:ext uri="{FF2B5EF4-FFF2-40B4-BE49-F238E27FC236}">
                <a16:creationId xmlns:a16="http://schemas.microsoft.com/office/drawing/2014/main" id="{E6BF5565-36E5-9F75-A2AD-0E0DBE77D6F1}"/>
              </a:ext>
            </a:extLst>
          </p:cNvPr>
          <p:cNvPicPr preferRelativeResize="0"/>
          <p:nvPr/>
        </p:nvPicPr>
        <p:blipFill>
          <a:blip r:embed="rId3">
            <a:alphaModFix/>
          </a:blip>
          <a:stretch>
            <a:fillRect/>
          </a:stretch>
        </p:blipFill>
        <p:spPr>
          <a:xfrm>
            <a:off x="76200" y="90544"/>
            <a:ext cx="973275" cy="651050"/>
          </a:xfrm>
          <a:prstGeom prst="rect">
            <a:avLst/>
          </a:prstGeom>
          <a:noFill/>
          <a:ln>
            <a:noFill/>
          </a:ln>
        </p:spPr>
      </p:pic>
      <p:pic>
        <p:nvPicPr>
          <p:cNvPr id="3" name="Image 2">
            <a:extLst>
              <a:ext uri="{FF2B5EF4-FFF2-40B4-BE49-F238E27FC236}">
                <a16:creationId xmlns:a16="http://schemas.microsoft.com/office/drawing/2014/main" id="{BDC9CB29-440E-929B-E5B9-9E0A87E988B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034633"/>
            <a:ext cx="9144000" cy="1557011"/>
          </a:xfrm>
          <a:prstGeom prst="rect">
            <a:avLst/>
          </a:prstGeom>
        </p:spPr>
      </p:pic>
      <p:sp>
        <p:nvSpPr>
          <p:cNvPr id="5" name="ZoneTexte 4">
            <a:extLst>
              <a:ext uri="{FF2B5EF4-FFF2-40B4-BE49-F238E27FC236}">
                <a16:creationId xmlns:a16="http://schemas.microsoft.com/office/drawing/2014/main" id="{3D515B7A-E02A-AFF4-B6BF-78B47D13F011}"/>
              </a:ext>
            </a:extLst>
          </p:cNvPr>
          <p:cNvSpPr txBox="1"/>
          <p:nvPr/>
        </p:nvSpPr>
        <p:spPr>
          <a:xfrm>
            <a:off x="4152900" y="4087694"/>
            <a:ext cx="4991100" cy="938719"/>
          </a:xfrm>
          <a:prstGeom prst="rect">
            <a:avLst/>
          </a:prstGeom>
          <a:noFill/>
        </p:spPr>
        <p:txBody>
          <a:bodyPr wrap="square">
            <a:spAutoFit/>
          </a:bodyPr>
          <a:lstStyle/>
          <a:p>
            <a:pPr marL="342900" indent="-342900">
              <a:buClr>
                <a:schemeClr val="dk1"/>
              </a:buClr>
              <a:buSzPct val="100000"/>
              <a:buFont typeface="Arial"/>
              <a:buAutoNum type="arabicPeriod"/>
            </a:pPr>
            <a:r>
              <a:rPr lang="fr-FR" sz="1100" dirty="0">
                <a:solidFill>
                  <a:schemeClr val="accent5">
                    <a:lumMod val="75000"/>
                  </a:schemeClr>
                </a:solidFill>
                <a:latin typeface="Aptos" panose="020B0004020202020204" pitchFamily="34" charset="0"/>
                <a:sym typeface="Inter"/>
              </a:rPr>
              <a:t>Orientation évènements</a:t>
            </a:r>
          </a:p>
          <a:p>
            <a:pPr marL="342900" indent="-342900">
              <a:buClr>
                <a:schemeClr val="dk1"/>
              </a:buClr>
              <a:buSzPct val="100000"/>
              <a:buFont typeface="Arial"/>
              <a:buAutoNum type="arabicPeriod"/>
            </a:pPr>
            <a:r>
              <a:rPr lang="fr-FR" sz="1100" dirty="0">
                <a:solidFill>
                  <a:schemeClr val="accent5">
                    <a:lumMod val="75000"/>
                  </a:schemeClr>
                </a:solidFill>
                <a:latin typeface="Aptos" panose="020B0004020202020204" pitchFamily="34" charset="0"/>
              </a:rPr>
              <a:t>Séparation claire entre données brutes, sessions, </a:t>
            </a:r>
            <a:r>
              <a:rPr lang="fr-FR" sz="1100" dirty="0" err="1">
                <a:solidFill>
                  <a:schemeClr val="accent5">
                    <a:lumMod val="75000"/>
                  </a:schemeClr>
                </a:solidFill>
                <a:latin typeface="Aptos" panose="020B0004020202020204" pitchFamily="34" charset="0"/>
              </a:rPr>
              <a:t>features</a:t>
            </a:r>
            <a:r>
              <a:rPr lang="fr-FR" sz="1100" dirty="0">
                <a:solidFill>
                  <a:schemeClr val="accent5">
                    <a:lumMod val="75000"/>
                  </a:schemeClr>
                </a:solidFill>
                <a:latin typeface="Aptos" panose="020B0004020202020204" pitchFamily="34" charset="0"/>
              </a:rPr>
              <a:t> et événements</a:t>
            </a:r>
          </a:p>
          <a:p>
            <a:pPr marL="342900" indent="-342900">
              <a:buClr>
                <a:schemeClr val="dk1"/>
              </a:buClr>
              <a:buSzPct val="100000"/>
              <a:buFont typeface="Arial"/>
              <a:buAutoNum type="arabicPeriod"/>
            </a:pPr>
            <a:r>
              <a:rPr lang="fr-FR" sz="1100" dirty="0">
                <a:solidFill>
                  <a:schemeClr val="accent5">
                    <a:lumMod val="75000"/>
                  </a:schemeClr>
                </a:solidFill>
                <a:latin typeface="Aptos" panose="020B0004020202020204" pitchFamily="34" charset="0"/>
              </a:rPr>
              <a:t>Intégration fluide avec l’OLTP via CDC</a:t>
            </a:r>
          </a:p>
          <a:p>
            <a:pPr marL="342900" indent="-342900">
              <a:buClr>
                <a:schemeClr val="dk1"/>
              </a:buClr>
              <a:buSzPct val="100000"/>
              <a:buFont typeface="Arial"/>
              <a:buAutoNum type="arabicPeriod"/>
            </a:pPr>
            <a:r>
              <a:rPr lang="fr-FR" sz="1100" dirty="0">
                <a:solidFill>
                  <a:schemeClr val="accent5">
                    <a:lumMod val="75000"/>
                  </a:schemeClr>
                </a:solidFill>
                <a:latin typeface="Aptos" panose="020B0004020202020204" pitchFamily="34" charset="0"/>
              </a:rPr>
              <a:t>Préparation naturelle du </a:t>
            </a:r>
            <a:r>
              <a:rPr lang="fr-FR" sz="1100" dirty="0" err="1">
                <a:solidFill>
                  <a:schemeClr val="accent5">
                    <a:lumMod val="75000"/>
                  </a:schemeClr>
                </a:solidFill>
                <a:latin typeface="Aptos" panose="020B0004020202020204" pitchFamily="34" charset="0"/>
              </a:rPr>
              <a:t>Feature</a:t>
            </a:r>
            <a:r>
              <a:rPr lang="fr-FR" sz="1100" dirty="0">
                <a:solidFill>
                  <a:schemeClr val="accent5">
                    <a:lumMod val="75000"/>
                  </a:schemeClr>
                </a:solidFill>
                <a:latin typeface="Aptos" panose="020B0004020202020204" pitchFamily="34" charset="0"/>
              </a:rPr>
              <a:t> Store pour le ML</a:t>
            </a:r>
          </a:p>
          <a:p>
            <a:pPr marL="342900" indent="-342900">
              <a:buClr>
                <a:schemeClr val="dk1"/>
              </a:buClr>
              <a:buSzPct val="100000"/>
              <a:buFont typeface="Arial"/>
              <a:buAutoNum type="arabicPeriod"/>
            </a:pPr>
            <a:r>
              <a:rPr lang="fr-FR" sz="1100" dirty="0">
                <a:solidFill>
                  <a:schemeClr val="accent5">
                    <a:lumMod val="75000"/>
                  </a:schemeClr>
                </a:solidFill>
                <a:latin typeface="Aptos" panose="020B0004020202020204" pitchFamily="34" charset="0"/>
                <a:sym typeface="Inter"/>
              </a:rPr>
              <a:t>Support optimal pour la détection de fraude en temps réel</a:t>
            </a:r>
          </a:p>
        </p:txBody>
      </p:sp>
      <p:pic>
        <p:nvPicPr>
          <p:cNvPr id="4" name="Image 3">
            <a:hlinkClick r:id="rId5"/>
            <a:extLst>
              <a:ext uri="{FF2B5EF4-FFF2-40B4-BE49-F238E27FC236}">
                <a16:creationId xmlns:a16="http://schemas.microsoft.com/office/drawing/2014/main" id="{53FED84D-26A3-1ECC-C608-6F6770BA826F}"/>
              </a:ext>
            </a:extLst>
          </p:cNvPr>
          <p:cNvPicPr>
            <a:picLocks noChangeAspect="1"/>
          </p:cNvPicPr>
          <p:nvPr/>
        </p:nvPicPr>
        <p:blipFill>
          <a:blip r:embed="rId6"/>
          <a:stretch>
            <a:fillRect/>
          </a:stretch>
        </p:blipFill>
        <p:spPr>
          <a:xfrm>
            <a:off x="0" y="4595745"/>
            <a:ext cx="457211" cy="457211"/>
          </a:xfrm>
          <a:prstGeom prst="rect">
            <a:avLst/>
          </a:prstGeom>
        </p:spPr>
      </p:pic>
    </p:spTree>
    <p:extLst>
      <p:ext uri="{BB962C8B-B14F-4D97-AF65-F5344CB8AC3E}">
        <p14:creationId xmlns:p14="http://schemas.microsoft.com/office/powerpoint/2010/main" val="15992693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3FDAD2"/>
        </a:solidFill>
        <a:effectLst/>
      </p:bgPr>
    </p:bg>
    <p:spTree>
      <p:nvGrpSpPr>
        <p:cNvPr id="1" name="Shape 93">
          <a:extLst>
            <a:ext uri="{FF2B5EF4-FFF2-40B4-BE49-F238E27FC236}">
              <a16:creationId xmlns:a16="http://schemas.microsoft.com/office/drawing/2014/main" id="{57C345A0-647E-7977-678F-7CE109FB9CF9}"/>
            </a:ext>
          </a:extLst>
        </p:cNvPr>
        <p:cNvGrpSpPr/>
        <p:nvPr/>
      </p:nvGrpSpPr>
      <p:grpSpPr>
        <a:xfrm>
          <a:off x="0" y="0"/>
          <a:ext cx="0" cy="0"/>
          <a:chOff x="0" y="0"/>
          <a:chExt cx="0" cy="0"/>
        </a:xfrm>
      </p:grpSpPr>
      <p:sp>
        <p:nvSpPr>
          <p:cNvPr id="95" name="Google Shape;95;p17">
            <a:extLst>
              <a:ext uri="{FF2B5EF4-FFF2-40B4-BE49-F238E27FC236}">
                <a16:creationId xmlns:a16="http://schemas.microsoft.com/office/drawing/2014/main" id="{7DE5A950-2D4D-1F73-4611-F5756F25140A}"/>
              </a:ext>
            </a:extLst>
          </p:cNvPr>
          <p:cNvSpPr txBox="1">
            <a:spLocks noGrp="1"/>
          </p:cNvSpPr>
          <p:nvPr>
            <p:ph type="ctrTitle" idx="4294967295"/>
          </p:nvPr>
        </p:nvSpPr>
        <p:spPr>
          <a:xfrm>
            <a:off x="1914450" y="92437"/>
            <a:ext cx="5315100" cy="385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fr-FR" sz="2000" b="1" dirty="0">
                <a:solidFill>
                  <a:schemeClr val="tx1">
                    <a:lumMod val="65000"/>
                    <a:lumOff val="35000"/>
                  </a:schemeClr>
                </a:solidFill>
                <a:latin typeface="Aptos" panose="020B0004020202020204" pitchFamily="34" charset="0"/>
                <a:ea typeface="Inter"/>
              </a:rPr>
              <a:t>La Sécurité</a:t>
            </a:r>
            <a:endParaRPr sz="2000" b="1" dirty="0">
              <a:solidFill>
                <a:schemeClr val="tx1">
                  <a:lumMod val="65000"/>
                  <a:lumOff val="35000"/>
                </a:schemeClr>
              </a:solidFill>
              <a:latin typeface="Aptos" panose="020B0004020202020204" pitchFamily="34" charset="0"/>
              <a:ea typeface="Inter"/>
              <a:sym typeface="Inter"/>
            </a:endParaRPr>
          </a:p>
        </p:txBody>
      </p:sp>
      <p:pic>
        <p:nvPicPr>
          <p:cNvPr id="2" name="Google Shape;56;p13">
            <a:extLst>
              <a:ext uri="{FF2B5EF4-FFF2-40B4-BE49-F238E27FC236}">
                <a16:creationId xmlns:a16="http://schemas.microsoft.com/office/drawing/2014/main" id="{E6BF5565-36E5-9F75-A2AD-0E0DBE77D6F1}"/>
              </a:ext>
            </a:extLst>
          </p:cNvPr>
          <p:cNvPicPr preferRelativeResize="0"/>
          <p:nvPr/>
        </p:nvPicPr>
        <p:blipFill>
          <a:blip r:embed="rId3">
            <a:alphaModFix/>
          </a:blip>
          <a:stretch>
            <a:fillRect/>
          </a:stretch>
        </p:blipFill>
        <p:spPr>
          <a:xfrm>
            <a:off x="76200" y="90544"/>
            <a:ext cx="973275" cy="651050"/>
          </a:xfrm>
          <a:prstGeom prst="rect">
            <a:avLst/>
          </a:prstGeom>
          <a:noFill/>
          <a:ln>
            <a:noFill/>
          </a:ln>
        </p:spPr>
      </p:pic>
      <p:sp>
        <p:nvSpPr>
          <p:cNvPr id="5" name="ZoneTexte 4">
            <a:extLst>
              <a:ext uri="{FF2B5EF4-FFF2-40B4-BE49-F238E27FC236}">
                <a16:creationId xmlns:a16="http://schemas.microsoft.com/office/drawing/2014/main" id="{3D515B7A-E02A-AFF4-B6BF-78B47D13F011}"/>
              </a:ext>
            </a:extLst>
          </p:cNvPr>
          <p:cNvSpPr txBox="1"/>
          <p:nvPr/>
        </p:nvSpPr>
        <p:spPr>
          <a:xfrm>
            <a:off x="5471160" y="4151441"/>
            <a:ext cx="3749040" cy="938719"/>
          </a:xfrm>
          <a:prstGeom prst="rect">
            <a:avLst/>
          </a:prstGeom>
          <a:noFill/>
        </p:spPr>
        <p:txBody>
          <a:bodyPr wrap="square">
            <a:spAutoFit/>
          </a:bodyPr>
          <a:lstStyle/>
          <a:p>
            <a:pPr marL="342900" indent="-342900">
              <a:buClr>
                <a:schemeClr val="dk1"/>
              </a:buClr>
              <a:buSzPct val="100000"/>
              <a:buFont typeface="Arial"/>
              <a:buAutoNum type="arabicPeriod"/>
            </a:pPr>
            <a:r>
              <a:rPr lang="fr-FR" sz="1100" dirty="0">
                <a:solidFill>
                  <a:schemeClr val="accent5">
                    <a:lumMod val="75000"/>
                  </a:schemeClr>
                </a:solidFill>
                <a:latin typeface="Aptos" panose="020B0004020202020204" pitchFamily="34" charset="0"/>
                <a:sym typeface="Inter"/>
              </a:rPr>
              <a:t>Sécurité renforcée par une architecture en couches</a:t>
            </a:r>
          </a:p>
          <a:p>
            <a:pPr marL="342900" indent="-342900">
              <a:buClr>
                <a:schemeClr val="dk1"/>
              </a:buClr>
              <a:buSzPct val="100000"/>
              <a:buFont typeface="Arial"/>
              <a:buAutoNum type="arabicPeriod"/>
            </a:pPr>
            <a:r>
              <a:rPr lang="fr-FR" sz="1100" dirty="0">
                <a:solidFill>
                  <a:schemeClr val="accent5">
                    <a:lumMod val="75000"/>
                  </a:schemeClr>
                </a:solidFill>
                <a:latin typeface="Aptos" panose="020B0004020202020204" pitchFamily="34" charset="0"/>
                <a:sym typeface="Inter"/>
              </a:rPr>
              <a:t>Protection forte des données sensibles</a:t>
            </a:r>
          </a:p>
          <a:p>
            <a:pPr marL="342900" indent="-342900">
              <a:buClr>
                <a:schemeClr val="dk1"/>
              </a:buClr>
              <a:buSzPct val="100000"/>
              <a:buFont typeface="Arial"/>
              <a:buAutoNum type="arabicPeriod"/>
            </a:pPr>
            <a:r>
              <a:rPr lang="fr-FR" sz="1100" dirty="0">
                <a:solidFill>
                  <a:schemeClr val="accent5">
                    <a:lumMod val="75000"/>
                  </a:schemeClr>
                </a:solidFill>
                <a:latin typeface="Aptos" panose="020B0004020202020204" pitchFamily="34" charset="0"/>
                <a:sym typeface="Inter"/>
              </a:rPr>
              <a:t>Gouvernance et contrôles d’accès sécurisés</a:t>
            </a:r>
          </a:p>
          <a:p>
            <a:pPr marL="342900" indent="-342900">
              <a:buClr>
                <a:schemeClr val="dk1"/>
              </a:buClr>
              <a:buSzPct val="100000"/>
              <a:buFont typeface="Arial"/>
              <a:buAutoNum type="arabicPeriod"/>
            </a:pPr>
            <a:r>
              <a:rPr lang="fr-FR" sz="1100" dirty="0">
                <a:solidFill>
                  <a:schemeClr val="accent5">
                    <a:lumMod val="75000"/>
                  </a:schemeClr>
                </a:solidFill>
                <a:latin typeface="Aptos" panose="020B0004020202020204" pitchFamily="34" charset="0"/>
                <a:sym typeface="Inter"/>
              </a:rPr>
              <a:t>Sécurisation intégrée du pipeline de données</a:t>
            </a:r>
          </a:p>
          <a:p>
            <a:pPr marL="342900" indent="-342900">
              <a:buClr>
                <a:schemeClr val="dk1"/>
              </a:buClr>
              <a:buSzPct val="100000"/>
              <a:buFont typeface="Arial"/>
              <a:buAutoNum type="arabicPeriod"/>
            </a:pPr>
            <a:r>
              <a:rPr lang="fr-FR" sz="1100" dirty="0">
                <a:solidFill>
                  <a:schemeClr val="accent5">
                    <a:lumMod val="75000"/>
                  </a:schemeClr>
                </a:solidFill>
                <a:latin typeface="Aptos" panose="020B0004020202020204" pitchFamily="34" charset="0"/>
                <a:sym typeface="Inter"/>
              </a:rPr>
              <a:t>Prévention active des attaques</a:t>
            </a:r>
          </a:p>
        </p:txBody>
      </p:sp>
      <p:pic>
        <p:nvPicPr>
          <p:cNvPr id="4" name="Image 3" descr="Une image contenant capture d’écran, texte, diagramme, Logiciel de graphisme&#10;&#10;Description générée automatiquement">
            <a:extLst>
              <a:ext uri="{FF2B5EF4-FFF2-40B4-BE49-F238E27FC236}">
                <a16:creationId xmlns:a16="http://schemas.microsoft.com/office/drawing/2014/main" id="{D1C09059-0167-EFF4-57B4-8EC4076BF5A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08760" y="591611"/>
            <a:ext cx="5920740" cy="3382708"/>
          </a:xfrm>
          <a:prstGeom prst="rect">
            <a:avLst/>
          </a:prstGeom>
        </p:spPr>
      </p:pic>
      <p:pic>
        <p:nvPicPr>
          <p:cNvPr id="3" name="Image 2">
            <a:hlinkClick r:id="rId5"/>
            <a:extLst>
              <a:ext uri="{FF2B5EF4-FFF2-40B4-BE49-F238E27FC236}">
                <a16:creationId xmlns:a16="http://schemas.microsoft.com/office/drawing/2014/main" id="{85DB2E4B-BF35-EE95-559F-8633701ED5B7}"/>
              </a:ext>
            </a:extLst>
          </p:cNvPr>
          <p:cNvPicPr>
            <a:picLocks noChangeAspect="1"/>
          </p:cNvPicPr>
          <p:nvPr/>
        </p:nvPicPr>
        <p:blipFill>
          <a:blip r:embed="rId6"/>
          <a:stretch>
            <a:fillRect/>
          </a:stretch>
        </p:blipFill>
        <p:spPr>
          <a:xfrm>
            <a:off x="0" y="4595745"/>
            <a:ext cx="457211" cy="457211"/>
          </a:xfrm>
          <a:prstGeom prst="rect">
            <a:avLst/>
          </a:prstGeom>
        </p:spPr>
      </p:pic>
    </p:spTree>
    <p:extLst>
      <p:ext uri="{BB962C8B-B14F-4D97-AF65-F5344CB8AC3E}">
        <p14:creationId xmlns:p14="http://schemas.microsoft.com/office/powerpoint/2010/main" val="27219111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3FDAD2"/>
        </a:solidFill>
        <a:effectLst/>
      </p:bgPr>
    </p:bg>
    <p:spTree>
      <p:nvGrpSpPr>
        <p:cNvPr id="1" name="Shape 93">
          <a:extLst>
            <a:ext uri="{FF2B5EF4-FFF2-40B4-BE49-F238E27FC236}">
              <a16:creationId xmlns:a16="http://schemas.microsoft.com/office/drawing/2014/main" id="{57C345A0-647E-7977-678F-7CE109FB9CF9}"/>
            </a:ext>
          </a:extLst>
        </p:cNvPr>
        <p:cNvGrpSpPr/>
        <p:nvPr/>
      </p:nvGrpSpPr>
      <p:grpSpPr>
        <a:xfrm>
          <a:off x="0" y="0"/>
          <a:ext cx="0" cy="0"/>
          <a:chOff x="0" y="0"/>
          <a:chExt cx="0" cy="0"/>
        </a:xfrm>
      </p:grpSpPr>
      <p:sp>
        <p:nvSpPr>
          <p:cNvPr id="95" name="Google Shape;95;p17">
            <a:extLst>
              <a:ext uri="{FF2B5EF4-FFF2-40B4-BE49-F238E27FC236}">
                <a16:creationId xmlns:a16="http://schemas.microsoft.com/office/drawing/2014/main" id="{7DE5A950-2D4D-1F73-4611-F5756F25140A}"/>
              </a:ext>
            </a:extLst>
          </p:cNvPr>
          <p:cNvSpPr txBox="1">
            <a:spLocks noGrp="1"/>
          </p:cNvSpPr>
          <p:nvPr>
            <p:ph type="ctrTitle" idx="4294967295"/>
          </p:nvPr>
        </p:nvSpPr>
        <p:spPr>
          <a:xfrm>
            <a:off x="1914450" y="92437"/>
            <a:ext cx="5315100" cy="385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2800"/>
              <a:buFont typeface="Arial"/>
              <a:buNone/>
            </a:pPr>
            <a:r>
              <a:rPr lang="fr-FR" sz="2000" b="1" dirty="0">
                <a:solidFill>
                  <a:schemeClr val="tx1">
                    <a:lumMod val="65000"/>
                    <a:lumOff val="35000"/>
                  </a:schemeClr>
                </a:solidFill>
                <a:latin typeface="Aptos" panose="020B0004020202020204" pitchFamily="34" charset="0"/>
                <a:ea typeface="Inter"/>
              </a:rPr>
              <a:t>Intégration du ML</a:t>
            </a:r>
            <a:endParaRPr sz="2000" b="1" dirty="0">
              <a:solidFill>
                <a:schemeClr val="tx1">
                  <a:lumMod val="65000"/>
                  <a:lumOff val="35000"/>
                </a:schemeClr>
              </a:solidFill>
              <a:latin typeface="Aptos" panose="020B0004020202020204" pitchFamily="34" charset="0"/>
              <a:ea typeface="Inter"/>
              <a:sym typeface="Inter"/>
            </a:endParaRPr>
          </a:p>
        </p:txBody>
      </p:sp>
      <p:pic>
        <p:nvPicPr>
          <p:cNvPr id="2" name="Google Shape;56;p13">
            <a:extLst>
              <a:ext uri="{FF2B5EF4-FFF2-40B4-BE49-F238E27FC236}">
                <a16:creationId xmlns:a16="http://schemas.microsoft.com/office/drawing/2014/main" id="{E6BF5565-36E5-9F75-A2AD-0E0DBE77D6F1}"/>
              </a:ext>
            </a:extLst>
          </p:cNvPr>
          <p:cNvPicPr preferRelativeResize="0"/>
          <p:nvPr/>
        </p:nvPicPr>
        <p:blipFill>
          <a:blip r:embed="rId3">
            <a:alphaModFix/>
          </a:blip>
          <a:stretch>
            <a:fillRect/>
          </a:stretch>
        </p:blipFill>
        <p:spPr>
          <a:xfrm>
            <a:off x="76200" y="90544"/>
            <a:ext cx="973275" cy="651050"/>
          </a:xfrm>
          <a:prstGeom prst="rect">
            <a:avLst/>
          </a:prstGeom>
          <a:noFill/>
          <a:ln>
            <a:noFill/>
          </a:ln>
        </p:spPr>
      </p:pic>
      <p:sp>
        <p:nvSpPr>
          <p:cNvPr id="5" name="ZoneTexte 4">
            <a:extLst>
              <a:ext uri="{FF2B5EF4-FFF2-40B4-BE49-F238E27FC236}">
                <a16:creationId xmlns:a16="http://schemas.microsoft.com/office/drawing/2014/main" id="{3D515B7A-E02A-AFF4-B6BF-78B47D13F011}"/>
              </a:ext>
            </a:extLst>
          </p:cNvPr>
          <p:cNvSpPr txBox="1"/>
          <p:nvPr/>
        </p:nvSpPr>
        <p:spPr>
          <a:xfrm>
            <a:off x="3942522" y="4151441"/>
            <a:ext cx="5277678" cy="938719"/>
          </a:xfrm>
          <a:prstGeom prst="rect">
            <a:avLst/>
          </a:prstGeom>
          <a:noFill/>
        </p:spPr>
        <p:txBody>
          <a:bodyPr wrap="square">
            <a:spAutoFit/>
          </a:bodyPr>
          <a:lstStyle/>
          <a:p>
            <a:pPr marL="342900" indent="-342900">
              <a:buClr>
                <a:schemeClr val="dk1"/>
              </a:buClr>
              <a:buSzPct val="100000"/>
              <a:buFont typeface="Arial"/>
              <a:buAutoNum type="arabicPeriod"/>
            </a:pPr>
            <a:r>
              <a:rPr lang="fr-FR" sz="1100" dirty="0">
                <a:solidFill>
                  <a:schemeClr val="accent5">
                    <a:lumMod val="75000"/>
                  </a:schemeClr>
                </a:solidFill>
                <a:latin typeface="Aptos" panose="020B0004020202020204" pitchFamily="34" charset="0"/>
                <a:sym typeface="Inter"/>
              </a:rPr>
              <a:t>Performance en temps réel</a:t>
            </a:r>
          </a:p>
          <a:p>
            <a:pPr marL="342900" indent="-342900">
              <a:buClr>
                <a:schemeClr val="dk1"/>
              </a:buClr>
              <a:buSzPct val="100000"/>
              <a:buFont typeface="Arial"/>
              <a:buAutoNum type="arabicPeriod"/>
            </a:pPr>
            <a:r>
              <a:rPr lang="fr-FR" sz="1100" dirty="0" err="1">
                <a:solidFill>
                  <a:schemeClr val="accent5">
                    <a:lumMod val="75000"/>
                  </a:schemeClr>
                </a:solidFill>
                <a:latin typeface="Aptos" panose="020B0004020202020204" pitchFamily="34" charset="0"/>
                <a:sym typeface="Inter"/>
              </a:rPr>
              <a:t>Features</a:t>
            </a:r>
            <a:r>
              <a:rPr lang="fr-FR" sz="1100" dirty="0">
                <a:solidFill>
                  <a:schemeClr val="accent5">
                    <a:lumMod val="75000"/>
                  </a:schemeClr>
                </a:solidFill>
                <a:latin typeface="Aptos" panose="020B0004020202020204" pitchFamily="34" charset="0"/>
                <a:sym typeface="Inter"/>
              </a:rPr>
              <a:t> Store double (offline et online) garantissant performance et fraîcheur</a:t>
            </a:r>
          </a:p>
          <a:p>
            <a:pPr marL="342900" indent="-342900">
              <a:buClr>
                <a:schemeClr val="dk1"/>
              </a:buClr>
              <a:buSzPct val="100000"/>
              <a:buFont typeface="Arial"/>
              <a:buAutoNum type="arabicPeriod"/>
            </a:pPr>
            <a:r>
              <a:rPr lang="fr-FR" sz="1100" dirty="0" err="1">
                <a:solidFill>
                  <a:schemeClr val="accent5">
                    <a:lumMod val="75000"/>
                  </a:schemeClr>
                </a:solidFill>
                <a:latin typeface="Aptos" panose="020B0004020202020204" pitchFamily="34" charset="0"/>
                <a:sym typeface="Inter"/>
              </a:rPr>
              <a:t>MLOps</a:t>
            </a:r>
            <a:r>
              <a:rPr lang="fr-FR" sz="1100" dirty="0">
                <a:solidFill>
                  <a:schemeClr val="accent5">
                    <a:lumMod val="75000"/>
                  </a:schemeClr>
                </a:solidFill>
                <a:latin typeface="Aptos" panose="020B0004020202020204" pitchFamily="34" charset="0"/>
                <a:sym typeface="Inter"/>
              </a:rPr>
              <a:t> complet : entraînement, versioning, </a:t>
            </a:r>
            <a:r>
              <a:rPr lang="fr-FR" sz="1100" dirty="0" err="1">
                <a:solidFill>
                  <a:schemeClr val="accent5">
                    <a:lumMod val="75000"/>
                  </a:schemeClr>
                </a:solidFill>
                <a:latin typeface="Aptos" panose="020B0004020202020204" pitchFamily="34" charset="0"/>
                <a:sym typeface="Inter"/>
              </a:rPr>
              <a:t>registry</a:t>
            </a:r>
            <a:r>
              <a:rPr lang="fr-FR" sz="1100" dirty="0">
                <a:solidFill>
                  <a:schemeClr val="accent5">
                    <a:lumMod val="75000"/>
                  </a:schemeClr>
                </a:solidFill>
                <a:latin typeface="Aptos" panose="020B0004020202020204" pitchFamily="34" charset="0"/>
                <a:sym typeface="Inter"/>
              </a:rPr>
              <a:t>, CI/CD</a:t>
            </a:r>
          </a:p>
          <a:p>
            <a:pPr marL="342900" indent="-342900">
              <a:buClr>
                <a:schemeClr val="dk1"/>
              </a:buClr>
              <a:buSzPct val="100000"/>
              <a:buFont typeface="Arial"/>
              <a:buAutoNum type="arabicPeriod"/>
            </a:pPr>
            <a:r>
              <a:rPr lang="fr-FR" sz="1100" dirty="0">
                <a:solidFill>
                  <a:schemeClr val="accent5">
                    <a:lumMod val="75000"/>
                  </a:schemeClr>
                </a:solidFill>
                <a:latin typeface="Aptos" panose="020B0004020202020204" pitchFamily="34" charset="0"/>
                <a:sym typeface="Inter"/>
              </a:rPr>
              <a:t>Monitoring avancé et détection de dérive proactive</a:t>
            </a:r>
          </a:p>
          <a:p>
            <a:pPr marL="342900" indent="-342900">
              <a:buClr>
                <a:schemeClr val="dk1"/>
              </a:buClr>
              <a:buSzPct val="100000"/>
              <a:buFont typeface="Arial"/>
              <a:buAutoNum type="arabicPeriod"/>
            </a:pPr>
            <a:r>
              <a:rPr lang="fr-FR" sz="1100" dirty="0">
                <a:solidFill>
                  <a:schemeClr val="accent5">
                    <a:lumMod val="75000"/>
                  </a:schemeClr>
                </a:solidFill>
                <a:latin typeface="Aptos" panose="020B0004020202020204" pitchFamily="34" charset="0"/>
                <a:sym typeface="Inter"/>
              </a:rPr>
              <a:t>Gouvernance, sécurité et conformités intégrés</a:t>
            </a:r>
          </a:p>
        </p:txBody>
      </p:sp>
      <p:pic>
        <p:nvPicPr>
          <p:cNvPr id="3" name="Image 2">
            <a:extLst>
              <a:ext uri="{FF2B5EF4-FFF2-40B4-BE49-F238E27FC236}">
                <a16:creationId xmlns:a16="http://schemas.microsoft.com/office/drawing/2014/main" id="{71375873-CE27-9222-4504-D605CE8EA5D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007017"/>
            <a:ext cx="9177961" cy="1943955"/>
          </a:xfrm>
          <a:prstGeom prst="rect">
            <a:avLst/>
          </a:prstGeom>
        </p:spPr>
      </p:pic>
      <p:pic>
        <p:nvPicPr>
          <p:cNvPr id="4" name="Image 3">
            <a:hlinkClick r:id="rId5"/>
            <a:extLst>
              <a:ext uri="{FF2B5EF4-FFF2-40B4-BE49-F238E27FC236}">
                <a16:creationId xmlns:a16="http://schemas.microsoft.com/office/drawing/2014/main" id="{747A0C7E-25D5-FF23-8615-C06624B321F4}"/>
              </a:ext>
            </a:extLst>
          </p:cNvPr>
          <p:cNvPicPr>
            <a:picLocks noChangeAspect="1"/>
          </p:cNvPicPr>
          <p:nvPr/>
        </p:nvPicPr>
        <p:blipFill>
          <a:blip r:embed="rId6"/>
          <a:stretch>
            <a:fillRect/>
          </a:stretch>
        </p:blipFill>
        <p:spPr>
          <a:xfrm>
            <a:off x="0" y="4595745"/>
            <a:ext cx="457211" cy="457211"/>
          </a:xfrm>
          <a:prstGeom prst="rect">
            <a:avLst/>
          </a:prstGeom>
        </p:spPr>
      </p:pic>
    </p:spTree>
    <p:extLst>
      <p:ext uri="{BB962C8B-B14F-4D97-AF65-F5344CB8AC3E}">
        <p14:creationId xmlns:p14="http://schemas.microsoft.com/office/powerpoint/2010/main" val="30739735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3FDAD2"/>
        </a:solidFill>
        <a:effectLst/>
      </p:bgPr>
    </p:bg>
    <p:spTree>
      <p:nvGrpSpPr>
        <p:cNvPr id="1" name="Shape 93">
          <a:extLst>
            <a:ext uri="{FF2B5EF4-FFF2-40B4-BE49-F238E27FC236}">
              <a16:creationId xmlns:a16="http://schemas.microsoft.com/office/drawing/2014/main" id="{57C345A0-647E-7977-678F-7CE109FB9CF9}"/>
            </a:ext>
          </a:extLst>
        </p:cNvPr>
        <p:cNvGrpSpPr/>
        <p:nvPr/>
      </p:nvGrpSpPr>
      <p:grpSpPr>
        <a:xfrm>
          <a:off x="0" y="0"/>
          <a:ext cx="0" cy="0"/>
          <a:chOff x="0" y="0"/>
          <a:chExt cx="0" cy="0"/>
        </a:xfrm>
      </p:grpSpPr>
      <p:sp>
        <p:nvSpPr>
          <p:cNvPr id="95" name="Google Shape;95;p17">
            <a:extLst>
              <a:ext uri="{FF2B5EF4-FFF2-40B4-BE49-F238E27FC236}">
                <a16:creationId xmlns:a16="http://schemas.microsoft.com/office/drawing/2014/main" id="{7DE5A950-2D4D-1F73-4611-F5756F25140A}"/>
              </a:ext>
            </a:extLst>
          </p:cNvPr>
          <p:cNvSpPr txBox="1">
            <a:spLocks noGrp="1"/>
          </p:cNvSpPr>
          <p:nvPr>
            <p:ph type="ctrTitle" idx="4294967295"/>
          </p:nvPr>
        </p:nvSpPr>
        <p:spPr>
          <a:xfrm>
            <a:off x="1914450" y="92437"/>
            <a:ext cx="5315100" cy="385800"/>
          </a:xfrm>
          <a:prstGeom prst="rect">
            <a:avLst/>
          </a:prstGeom>
          <a:noFill/>
          <a:ln>
            <a:noFill/>
          </a:ln>
        </p:spPr>
        <p:txBody>
          <a:bodyPr spcFirstLastPara="1" wrap="square" lIns="91425" tIns="91425" rIns="91425" bIns="91425" anchor="t" anchorCtr="0">
            <a:noAutofit/>
          </a:bodyPr>
          <a:lstStyle/>
          <a:p>
            <a:pPr algn="ctr"/>
            <a:r>
              <a:rPr lang="fr-FR" sz="2000" b="1" dirty="0">
                <a:solidFill>
                  <a:schemeClr val="tx1">
                    <a:lumMod val="65000"/>
                    <a:lumOff val="35000"/>
                  </a:schemeClr>
                </a:solidFill>
                <a:latin typeface="Aptos" panose="020B0004020202020204" pitchFamily="34" charset="0"/>
                <a:ea typeface="Inter"/>
                <a:sym typeface="Inter"/>
              </a:rPr>
              <a:t>Quelques requêtes SQL et NoSQL</a:t>
            </a:r>
          </a:p>
        </p:txBody>
      </p:sp>
      <p:pic>
        <p:nvPicPr>
          <p:cNvPr id="2" name="Google Shape;56;p13">
            <a:extLst>
              <a:ext uri="{FF2B5EF4-FFF2-40B4-BE49-F238E27FC236}">
                <a16:creationId xmlns:a16="http://schemas.microsoft.com/office/drawing/2014/main" id="{E6BF5565-36E5-9F75-A2AD-0E0DBE77D6F1}"/>
              </a:ext>
            </a:extLst>
          </p:cNvPr>
          <p:cNvPicPr preferRelativeResize="0"/>
          <p:nvPr/>
        </p:nvPicPr>
        <p:blipFill>
          <a:blip r:embed="rId3">
            <a:alphaModFix/>
          </a:blip>
          <a:stretch>
            <a:fillRect/>
          </a:stretch>
        </p:blipFill>
        <p:spPr>
          <a:xfrm>
            <a:off x="76200" y="90544"/>
            <a:ext cx="973275" cy="651050"/>
          </a:xfrm>
          <a:prstGeom prst="rect">
            <a:avLst/>
          </a:prstGeom>
          <a:noFill/>
          <a:ln>
            <a:noFill/>
          </a:ln>
        </p:spPr>
      </p:pic>
      <p:pic>
        <p:nvPicPr>
          <p:cNvPr id="6" name="Image 5" descr="Une image contenant texte, capture d’écran, Police&#10;&#10;Le contenu généré par l’IA peut être incorrect.">
            <a:extLst>
              <a:ext uri="{FF2B5EF4-FFF2-40B4-BE49-F238E27FC236}">
                <a16:creationId xmlns:a16="http://schemas.microsoft.com/office/drawing/2014/main" id="{5038A07E-5E9E-F470-E3CE-4EFCDB3B0DEF}"/>
              </a:ext>
            </a:extLst>
          </p:cNvPr>
          <p:cNvPicPr>
            <a:picLocks noChangeAspect="1"/>
          </p:cNvPicPr>
          <p:nvPr/>
        </p:nvPicPr>
        <p:blipFill>
          <a:blip r:embed="rId4"/>
          <a:stretch>
            <a:fillRect/>
          </a:stretch>
        </p:blipFill>
        <p:spPr>
          <a:xfrm>
            <a:off x="1326363" y="1309428"/>
            <a:ext cx="3245637" cy="1128747"/>
          </a:xfrm>
          <a:prstGeom prst="rect">
            <a:avLst/>
          </a:prstGeom>
        </p:spPr>
      </p:pic>
      <p:pic>
        <p:nvPicPr>
          <p:cNvPr id="7" name="Image 6" descr="Une image contenant texte, capture d’écran, Police&#10;&#10;Le contenu généré par l’IA peut être incorrect.">
            <a:extLst>
              <a:ext uri="{FF2B5EF4-FFF2-40B4-BE49-F238E27FC236}">
                <a16:creationId xmlns:a16="http://schemas.microsoft.com/office/drawing/2014/main" id="{CDCA3CDB-692B-7676-A1CB-974BC47008D6}"/>
              </a:ext>
            </a:extLst>
          </p:cNvPr>
          <p:cNvPicPr>
            <a:picLocks noChangeAspect="1"/>
          </p:cNvPicPr>
          <p:nvPr/>
        </p:nvPicPr>
        <p:blipFill>
          <a:blip r:embed="rId5"/>
          <a:stretch>
            <a:fillRect/>
          </a:stretch>
        </p:blipFill>
        <p:spPr>
          <a:xfrm>
            <a:off x="1326363" y="2548743"/>
            <a:ext cx="3326616" cy="1058469"/>
          </a:xfrm>
          <a:prstGeom prst="rect">
            <a:avLst/>
          </a:prstGeom>
        </p:spPr>
      </p:pic>
      <p:pic>
        <p:nvPicPr>
          <p:cNvPr id="8" name="Image 7" descr="Une image contenant texte, Police, capture d’écran&#10;&#10;Le contenu généré par l’IA peut être incorrect.">
            <a:extLst>
              <a:ext uri="{FF2B5EF4-FFF2-40B4-BE49-F238E27FC236}">
                <a16:creationId xmlns:a16="http://schemas.microsoft.com/office/drawing/2014/main" id="{8B813AA6-D295-8F86-09CD-8B6D899427A3}"/>
              </a:ext>
            </a:extLst>
          </p:cNvPr>
          <p:cNvPicPr>
            <a:picLocks noChangeAspect="1"/>
          </p:cNvPicPr>
          <p:nvPr/>
        </p:nvPicPr>
        <p:blipFill>
          <a:blip r:embed="rId6"/>
          <a:stretch>
            <a:fillRect/>
          </a:stretch>
        </p:blipFill>
        <p:spPr>
          <a:xfrm>
            <a:off x="1326363" y="3717780"/>
            <a:ext cx="4147594" cy="1138447"/>
          </a:xfrm>
          <a:prstGeom prst="rect">
            <a:avLst/>
          </a:prstGeom>
        </p:spPr>
      </p:pic>
      <p:sp>
        <p:nvSpPr>
          <p:cNvPr id="9" name="Google Shape;62;p14">
            <a:extLst>
              <a:ext uri="{FF2B5EF4-FFF2-40B4-BE49-F238E27FC236}">
                <a16:creationId xmlns:a16="http://schemas.microsoft.com/office/drawing/2014/main" id="{4F7ACADF-2FD0-6C3B-05A0-00020BA7DB92}"/>
              </a:ext>
            </a:extLst>
          </p:cNvPr>
          <p:cNvSpPr txBox="1">
            <a:spLocks/>
          </p:cNvSpPr>
          <p:nvPr/>
        </p:nvSpPr>
        <p:spPr>
          <a:xfrm>
            <a:off x="4572000" y="1316155"/>
            <a:ext cx="4016710" cy="420736"/>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fr-FR" sz="1600" b="1" dirty="0">
                <a:solidFill>
                  <a:schemeClr val="accent5">
                    <a:lumMod val="75000"/>
                  </a:schemeClr>
                </a:solidFill>
                <a:latin typeface="Aptos" panose="020B0004020202020204" pitchFamily="34" charset="0"/>
                <a:ea typeface="Inter"/>
                <a:cs typeface="Inter"/>
                <a:sym typeface="Inter"/>
              </a:rPr>
              <a:t>Requête OLTP volume et montant de transactions par marchand</a:t>
            </a:r>
            <a:endParaRPr lang="fr-FR" sz="1600" b="1" dirty="0">
              <a:solidFill>
                <a:srgbClr val="0E3449"/>
              </a:solidFill>
              <a:latin typeface="Aptos" panose="020B0004020202020204" pitchFamily="34" charset="0"/>
              <a:ea typeface="Inter"/>
              <a:cs typeface="Inter"/>
              <a:sym typeface="Inter"/>
            </a:endParaRPr>
          </a:p>
        </p:txBody>
      </p:sp>
      <p:sp>
        <p:nvSpPr>
          <p:cNvPr id="10" name="Google Shape;62;p14">
            <a:extLst>
              <a:ext uri="{FF2B5EF4-FFF2-40B4-BE49-F238E27FC236}">
                <a16:creationId xmlns:a16="http://schemas.microsoft.com/office/drawing/2014/main" id="{EB228070-8691-1C30-4685-B678A0FB56F9}"/>
              </a:ext>
            </a:extLst>
          </p:cNvPr>
          <p:cNvSpPr txBox="1">
            <a:spLocks/>
          </p:cNvSpPr>
          <p:nvPr/>
        </p:nvSpPr>
        <p:spPr>
          <a:xfrm>
            <a:off x="4652979" y="2626421"/>
            <a:ext cx="4147594" cy="394916"/>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fr-FR" sz="1600" b="1" dirty="0">
                <a:solidFill>
                  <a:schemeClr val="accent5">
                    <a:lumMod val="75000"/>
                  </a:schemeClr>
                </a:solidFill>
                <a:latin typeface="Aptos" panose="020B0004020202020204" pitchFamily="34" charset="0"/>
                <a:ea typeface="Inter"/>
                <a:sym typeface="Inter"/>
              </a:rPr>
              <a:t>Requête OLAP revenus journaliers par pays</a:t>
            </a:r>
          </a:p>
        </p:txBody>
      </p:sp>
      <p:sp>
        <p:nvSpPr>
          <p:cNvPr id="11" name="Google Shape;62;p14">
            <a:extLst>
              <a:ext uri="{FF2B5EF4-FFF2-40B4-BE49-F238E27FC236}">
                <a16:creationId xmlns:a16="http://schemas.microsoft.com/office/drawing/2014/main" id="{FE4E7949-0548-1069-1997-89D6CBA1819F}"/>
              </a:ext>
            </a:extLst>
          </p:cNvPr>
          <p:cNvSpPr txBox="1">
            <a:spLocks/>
          </p:cNvSpPr>
          <p:nvPr/>
        </p:nvSpPr>
        <p:spPr>
          <a:xfrm>
            <a:off x="5473957" y="3754029"/>
            <a:ext cx="3507997" cy="433324"/>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fr-FR" sz="1600" b="1" dirty="0">
                <a:solidFill>
                  <a:schemeClr val="accent5">
                    <a:lumMod val="75000"/>
                  </a:schemeClr>
                </a:solidFill>
                <a:latin typeface="Aptos" panose="020B0004020202020204" pitchFamily="34" charset="0"/>
                <a:ea typeface="Inter"/>
                <a:sym typeface="Inter"/>
              </a:rPr>
              <a:t>Requêtes NoSQL sessions suspectes</a:t>
            </a:r>
          </a:p>
        </p:txBody>
      </p:sp>
    </p:spTree>
    <p:extLst>
      <p:ext uri="{BB962C8B-B14F-4D97-AF65-F5344CB8AC3E}">
        <p14:creationId xmlns:p14="http://schemas.microsoft.com/office/powerpoint/2010/main" val="16473446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DBD0"/>
        </a:solidFill>
        <a:effectLst/>
      </p:bgPr>
    </p:bg>
    <p:spTree>
      <p:nvGrpSpPr>
        <p:cNvPr id="1" name="Shape 109"/>
        <p:cNvGrpSpPr/>
        <p:nvPr/>
      </p:nvGrpSpPr>
      <p:grpSpPr>
        <a:xfrm>
          <a:off x="0" y="0"/>
          <a:ext cx="0" cy="0"/>
          <a:chOff x="0" y="0"/>
          <a:chExt cx="0" cy="0"/>
        </a:xfrm>
      </p:grpSpPr>
      <p:sp>
        <p:nvSpPr>
          <p:cNvPr id="110" name="Google Shape;110;p19"/>
          <p:cNvSpPr txBox="1">
            <a:spLocks noGrp="1"/>
          </p:cNvSpPr>
          <p:nvPr>
            <p:ph type="ctrTitle" idx="4294967295"/>
          </p:nvPr>
        </p:nvSpPr>
        <p:spPr>
          <a:xfrm>
            <a:off x="1358971" y="1621844"/>
            <a:ext cx="6592218" cy="103006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sz="5600" b="1" dirty="0">
                <a:solidFill>
                  <a:srgbClr val="0E3449"/>
                </a:solidFill>
                <a:latin typeface="Aptos" panose="020B0004020202020204" pitchFamily="34" charset="0"/>
                <a:ea typeface="Inter"/>
                <a:cs typeface="Inter"/>
                <a:sym typeface="Inter"/>
              </a:rPr>
              <a:t>Temps d’échange</a:t>
            </a:r>
            <a:endParaRPr sz="5600" b="1" dirty="0">
              <a:solidFill>
                <a:srgbClr val="0E3449"/>
              </a:solidFill>
              <a:latin typeface="Aptos" panose="020B0004020202020204" pitchFamily="34" charset="0"/>
              <a:ea typeface="Inter"/>
              <a:cs typeface="Inter"/>
              <a:sym typeface="Inter"/>
            </a:endParaRPr>
          </a:p>
        </p:txBody>
      </p:sp>
      <p:pic>
        <p:nvPicPr>
          <p:cNvPr id="111" name="Google Shape;111;p19"/>
          <p:cNvPicPr preferRelativeResize="0"/>
          <p:nvPr/>
        </p:nvPicPr>
        <p:blipFill>
          <a:blip r:embed="rId3">
            <a:alphaModFix/>
          </a:blip>
          <a:stretch>
            <a:fillRect/>
          </a:stretch>
        </p:blipFill>
        <p:spPr>
          <a:xfrm>
            <a:off x="3918625" y="3006625"/>
            <a:ext cx="4599299" cy="2136876"/>
          </a:xfrm>
          <a:prstGeom prst="rect">
            <a:avLst/>
          </a:prstGeom>
          <a:noFill/>
          <a:ln>
            <a:noFill/>
          </a:ln>
        </p:spPr>
      </p:pic>
      <p:pic>
        <p:nvPicPr>
          <p:cNvPr id="2" name="Google Shape;56;p13">
            <a:extLst>
              <a:ext uri="{FF2B5EF4-FFF2-40B4-BE49-F238E27FC236}">
                <a16:creationId xmlns:a16="http://schemas.microsoft.com/office/drawing/2014/main" id="{63257B83-5FC2-0173-AC28-A87C9F40D8A7}"/>
              </a:ext>
            </a:extLst>
          </p:cNvPr>
          <p:cNvPicPr preferRelativeResize="0"/>
          <p:nvPr/>
        </p:nvPicPr>
        <p:blipFill>
          <a:blip r:embed="rId4">
            <a:alphaModFix/>
          </a:blip>
          <a:stretch>
            <a:fillRect/>
          </a:stretch>
        </p:blipFill>
        <p:spPr>
          <a:xfrm>
            <a:off x="76200" y="90544"/>
            <a:ext cx="973275" cy="65105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448</Words>
  <Application>Microsoft Office PowerPoint</Application>
  <PresentationFormat>Affichage à l'écran (16:9)</PresentationFormat>
  <Paragraphs>48</Paragraphs>
  <Slides>10</Slides>
  <Notes>10</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10</vt:i4>
      </vt:variant>
    </vt:vector>
  </HeadingPairs>
  <TitlesOfParts>
    <vt:vector size="13" baseType="lpstr">
      <vt:lpstr>Arial</vt:lpstr>
      <vt:lpstr>Aptos</vt:lpstr>
      <vt:lpstr>Simple Light</vt:lpstr>
      <vt:lpstr>Projet</vt:lpstr>
      <vt:lpstr>Contexte du projet</vt:lpstr>
      <vt:lpstr>L’Architecture</vt:lpstr>
      <vt:lpstr>Diagramme entité-relation (ERD) </vt:lpstr>
      <vt:lpstr>L’OLAP </vt:lpstr>
      <vt:lpstr>Le NoSQL</vt:lpstr>
      <vt:lpstr>La Sécurité</vt:lpstr>
      <vt:lpstr>Intégration du ML</vt:lpstr>
      <vt:lpstr>Quelques requêtes SQL et NoSQL</vt:lpstr>
      <vt:lpstr>Temps d’échange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david jaoui</dc:creator>
  <cp:lastModifiedBy>david jaoui</cp:lastModifiedBy>
  <cp:revision>39</cp:revision>
  <dcterms:modified xsi:type="dcterms:W3CDTF">2025-12-17T14:02:30Z</dcterms:modified>
</cp:coreProperties>
</file>