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4" r:id="rId3"/>
    <p:sldId id="259" r:id="rId4"/>
    <p:sldId id="278" r:id="rId5"/>
    <p:sldId id="279" r:id="rId6"/>
    <p:sldId id="280" r:id="rId7"/>
    <p:sldId id="265" r:id="rId8"/>
    <p:sldId id="276" r:id="rId9"/>
    <p:sldId id="282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2E37C98-3DFA-19B3-A410-B8D0922B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93458D2-0A25-7C44-FEA3-8FC69C056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175D8AE1-418B-AA82-69C5-D1DB3E422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9234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9" name="Google Shape;79;gf4f11f959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9D67F1-86C1-C66E-42EB-216D7C13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70B03E05-C5E7-20A9-EF35-6E1328DEC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AA328CD9-23B5-851A-525B-598765D61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761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C5C3724F-F18F-1FEF-7A51-3C8BC4C2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6D5B7AB2-8C98-A403-17FB-9FAD54E5A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86BD4082-D40A-DA11-361D-BE870DADE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333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AC29493-5A14-CEAD-5145-7CEF8AFA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64977C8E-6612-7C52-9F19-3B4768794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3D6E9734-AA80-D191-A35B-79074D3D7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74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D241532-CDF3-F45A-599B-3459BED5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0457243-3C09-BDFC-5B93-156511D86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C4C9906-9DC9-D41F-EB2C-C96CA58C3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61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EA514A88-5EAB-F07D-FB56-35383A58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4CEE5688-6A8D-203D-E1AC-E96BF3F52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5D7456B8-BF1E-B64B-7600-A36975598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95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514E8A1-DEAC-3E57-915B-25F28305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6395B4CD-01C9-4C32-EACD-865CB5850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FFFDFA36-B3B0-6CED-DA6D-FA7B3155A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760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github.com/Djohell13/Certification-AIA-RNCP-7/blob/main/BLOC%202/02-Documentation/05-Documentation%20Architecture%20pipe%20donn%C3%A9es.pdf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github.com/Djohell13/Certification-AIA-RNCP-7/blob/main/BLOC%202/02-Documentation/03-Documentation%20OLAP.pdf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github.com/Djohell13/Certification-AIA-RNCP-7/blob/main/BLOC%202/02-Documentation/04-Documentation%20NoSQL.pdf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github.com/Djohell13/Certification-AIA-RNCP-7/blob/main/BLOC%202/02-Documentation/06-Documentation%20plan%20de%20s%C3%A9curit%C3%A9%20et%20conformit%C3%A9.pdf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github.com/Djohell13/Certification-AIA-RNCP-7/blob/main/BLOC%202/02-Documentation/07-Documentation%20int%C3%A9gration%20ML.pdf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A131A3C3-948A-9109-78A0-39E02F147B83}"/>
              </a:ext>
            </a:extLst>
          </p:cNvPr>
          <p:cNvSpPr txBox="1">
            <a:spLocks/>
          </p:cNvSpPr>
          <p:nvPr/>
        </p:nvSpPr>
        <p:spPr>
          <a:xfrm>
            <a:off x="7404130" y="342191"/>
            <a:ext cx="1291907" cy="65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28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</a:t>
            </a:r>
          </a:p>
        </p:txBody>
      </p:sp>
      <p:pic>
        <p:nvPicPr>
          <p:cNvPr id="3" name="Image 2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688D28C8-89AD-5F3A-F8C6-2186288A8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257" y="1152828"/>
            <a:ext cx="1949834" cy="811923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604833" y="1239945"/>
            <a:ext cx="5707236" cy="22845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</a:t>
            </a:r>
            <a:b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b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Concevoir et déployer des architectures de données</a:t>
            </a:r>
            <a:endParaRPr sz="32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F47487C6-940D-1F4A-9A13-B183639C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1A50BBB-0CBE-E717-1D40-3FD1FAAE3A0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94271" y="229550"/>
            <a:ext cx="2896729" cy="7915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10DF9099-4290-949A-DC27-AB0C96F7D7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AEEBC09-DD4A-AA32-A860-5710C69D3346}"/>
              </a:ext>
            </a:extLst>
          </p:cNvPr>
          <p:cNvSpPr txBox="1"/>
          <p:nvPr/>
        </p:nvSpPr>
        <p:spPr>
          <a:xfrm>
            <a:off x="657860" y="1626424"/>
            <a:ext cx="78282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Stripe, qui gère des solutions de paiement et d'opérations financières, fait face à une forte croissance de ses données et doit désormais traiter des informations de plus en plus complexes sur diverses plateformes : OLTP, OLAP et NoSQL.</a:t>
            </a:r>
          </a:p>
          <a:p>
            <a:endParaRPr lang="fr-FR" dirty="0"/>
          </a:p>
          <a:p>
            <a:r>
              <a:rPr lang="fr-FR" sz="1600" b="1" dirty="0"/>
              <a:t>Objectif :</a:t>
            </a:r>
          </a:p>
          <a:p>
            <a:endParaRPr lang="fr-FR" dirty="0"/>
          </a:p>
          <a:p>
            <a:r>
              <a:rPr lang="fr-FR" dirty="0"/>
              <a:t>Concevoir une architecture de données capable de gérer de </a:t>
            </a:r>
            <a:r>
              <a:rPr lang="fr-FR" b="1" dirty="0">
                <a:solidFill>
                  <a:schemeClr val="accent5"/>
                </a:solidFill>
              </a:rPr>
              <a:t>gros volumes de transactions</a:t>
            </a:r>
            <a:r>
              <a:rPr lang="fr-FR" dirty="0"/>
              <a:t>, d’exécuter des </a:t>
            </a:r>
            <a:r>
              <a:rPr lang="fr-FR" b="1" dirty="0">
                <a:solidFill>
                  <a:schemeClr val="accent5"/>
                </a:solidFill>
              </a:rPr>
              <a:t>analyses complexes </a:t>
            </a:r>
            <a:r>
              <a:rPr lang="fr-FR" dirty="0"/>
              <a:t>et de traiter des </a:t>
            </a:r>
            <a:r>
              <a:rPr lang="fr-FR" b="1" dirty="0">
                <a:solidFill>
                  <a:schemeClr val="accent5"/>
                </a:solidFill>
              </a:rPr>
              <a:t>données non structurées </a:t>
            </a:r>
            <a:r>
              <a:rPr lang="fr-FR" dirty="0"/>
              <a:t>pour des usages avancés comme la </a:t>
            </a:r>
            <a:r>
              <a:rPr lang="fr-FR" b="1" dirty="0">
                <a:solidFill>
                  <a:schemeClr val="accent5"/>
                </a:solidFill>
              </a:rPr>
              <a:t>détection de fraude</a:t>
            </a:r>
            <a:r>
              <a:rPr lang="fr-FR" dirty="0"/>
              <a:t>, l’analyse du </a:t>
            </a:r>
            <a:r>
              <a:rPr lang="fr-FR" b="1" dirty="0">
                <a:solidFill>
                  <a:schemeClr val="accent5"/>
                </a:solidFill>
              </a:rPr>
              <a:t>comportement client </a:t>
            </a:r>
            <a:r>
              <a:rPr lang="fr-FR" dirty="0"/>
              <a:t>et les </a:t>
            </a:r>
            <a:r>
              <a:rPr lang="fr-FR" b="1" dirty="0">
                <a:solidFill>
                  <a:schemeClr val="accent5"/>
                </a:solidFill>
              </a:rPr>
              <a:t>recommandations en temps réel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248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1205345" y="537904"/>
            <a:ext cx="2354554" cy="514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 b="1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L’architecture</a:t>
            </a:r>
            <a:endParaRPr sz="2400" b="1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20" y="3449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2966E932-DAEB-4E71-F85B-84F69555C1EA}"/>
              </a:ext>
            </a:extLst>
          </p:cNvPr>
          <p:cNvSpPr txBox="1">
            <a:spLocks/>
          </p:cNvSpPr>
          <p:nvPr/>
        </p:nvSpPr>
        <p:spPr>
          <a:xfrm>
            <a:off x="3802987" y="237837"/>
            <a:ext cx="4949133" cy="130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Séparation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OLTP /  Streaming / OLAP / NoSQL garantissant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performance et scalabilité</a:t>
            </a: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endParaRPr lang="fr-FR" sz="8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Une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intégration temps réel complète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(CDC + Kafka + Stream Processing)</a:t>
            </a: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endParaRPr lang="fr-FR" sz="8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pipeline ML intégré et cohérent 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(Feature Store + Training + Online Serving)</a:t>
            </a: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endParaRPr lang="fr-FR" sz="8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Une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complète sécurité 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IAM, KMS/HMS, SIEM</a:t>
            </a: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endParaRPr lang="fr-FR" sz="8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Courier New" panose="02070309020205020404" pitchFamily="49" charset="0"/>
              <a:buChar char="o"/>
            </a:pP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Une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observabilité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et une </a:t>
            </a: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gouvernance renforcés </a:t>
            </a:r>
            <a:r>
              <a:rPr lang="fr-FR" sz="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grâce au SIEM et aux logs connectés</a:t>
            </a:r>
          </a:p>
          <a:p>
            <a:pPr marL="342900" indent="-342900">
              <a:buAutoNum type="arabicPeriod"/>
            </a:pPr>
            <a:endParaRPr lang="fr-FR" sz="14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FontTx/>
              <a:buChar char="-"/>
            </a:pPr>
            <a:endParaRPr lang="fr-FR" sz="14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" name="Image 5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EC6B6DF-006F-29C4-45CC-2FB4782F7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26" y="1758267"/>
            <a:ext cx="7365305" cy="3087563"/>
          </a:xfrm>
          <a:prstGeom prst="rect">
            <a:avLst/>
          </a:prstGeom>
        </p:spPr>
      </p:pic>
      <p:pic>
        <p:nvPicPr>
          <p:cNvPr id="7" name="Image 6" descr="Une image contenant logo, Police, conception, symbole&#10;&#10;Le contenu généré par l’IA peut être incorrect.">
            <a:hlinkClick r:id="rId5"/>
            <a:extLst>
              <a:ext uri="{FF2B5EF4-FFF2-40B4-BE49-F238E27FC236}">
                <a16:creationId xmlns:a16="http://schemas.microsoft.com/office/drawing/2014/main" id="{FAF0E281-5848-9BA4-C91B-5DA094DA1B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387" y="4475920"/>
            <a:ext cx="452583" cy="452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DB1F913-6590-DE24-433F-B5B4A4FE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4E5B6EA9-30AF-C714-FA8D-67AEDD9B9EFC}"/>
              </a:ext>
            </a:extLst>
          </p:cNvPr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6C6C6435-D500-8351-56CD-A75C5AD06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2562" y="321795"/>
            <a:ext cx="1096455" cy="54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 b="1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L’ERD</a:t>
            </a:r>
            <a:endParaRPr sz="2400" b="1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F63BD245-024A-A61C-0190-D2D21F9922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Une image contenant texte, diagramme, Plan, Parallèle&#10;&#10;Le contenu généré par l’IA peut être incorrect.">
            <a:extLst>
              <a:ext uri="{FF2B5EF4-FFF2-40B4-BE49-F238E27FC236}">
                <a16:creationId xmlns:a16="http://schemas.microsoft.com/office/drawing/2014/main" id="{203E15AF-7649-8D82-1AF3-3F07C624E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755" y="137508"/>
            <a:ext cx="3387172" cy="4902108"/>
          </a:xfrm>
          <a:prstGeom prst="rect">
            <a:avLst/>
          </a:prstGeom>
        </p:spPr>
      </p:pic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826B65AE-6A18-5440-EA82-14235A693200}"/>
              </a:ext>
            </a:extLst>
          </p:cNvPr>
          <p:cNvSpPr txBox="1">
            <a:spLocks/>
          </p:cNvSpPr>
          <p:nvPr/>
        </p:nvSpPr>
        <p:spPr>
          <a:xfrm>
            <a:off x="-1" y="1369385"/>
            <a:ext cx="3297383" cy="192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Normalisation 3NF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Relations claires et directionnelles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Intégrité référentielle forte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Séparation des responsabilités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Orienté PCI-DSS (Tokens moyens de paiements)</a:t>
            </a:r>
          </a:p>
        </p:txBody>
      </p:sp>
    </p:spTree>
    <p:extLst>
      <p:ext uri="{BB962C8B-B14F-4D97-AF65-F5344CB8AC3E}">
        <p14:creationId xmlns:p14="http://schemas.microsoft.com/office/powerpoint/2010/main" val="413116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29AB161-BFBA-8C83-698E-CE3D77C9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590DD048-E284-D881-0AF9-04C2EF8DB1E4}"/>
              </a:ext>
            </a:extLst>
          </p:cNvPr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2EA5F502-F444-2446-4140-A7DDC0058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9620" y="595274"/>
            <a:ext cx="1345836" cy="54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 b="1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L’OLAP</a:t>
            </a:r>
            <a:endParaRPr sz="2400" b="1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343A3739-3F6C-C74B-98E4-A72222C91B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CDA290DA-4178-8544-0E7C-58214E964C58}"/>
              </a:ext>
            </a:extLst>
          </p:cNvPr>
          <p:cNvSpPr txBox="1">
            <a:spLocks/>
          </p:cNvSpPr>
          <p:nvPr/>
        </p:nvSpPr>
        <p:spPr>
          <a:xfrm>
            <a:off x="-1" y="1369384"/>
            <a:ext cx="3472873" cy="235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Orientation évènements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</a:rPr>
              <a:t>Séparation claire entre données brutes, sessions, features et événements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</a:rPr>
              <a:t>Intégration fluide avec l’OLTP via CDC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</a:rPr>
              <a:t>Préparation naturelle du Feature Store pour le ML</a:t>
            </a:r>
          </a:p>
          <a:p>
            <a:pPr marL="342900" indent="-342900">
              <a:buSzPct val="100000"/>
              <a:buAutoNum type="arabicPeriod"/>
            </a:pPr>
            <a:endParaRPr lang="fr-FR" sz="12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AutoNum type="arabicPeriod"/>
            </a:pPr>
            <a:r>
              <a:rPr lang="fr-FR" sz="12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Support optimal pour la détection de fraude en temps réel</a:t>
            </a:r>
          </a:p>
        </p:txBody>
      </p:sp>
      <p:pic>
        <p:nvPicPr>
          <p:cNvPr id="5" name="Image 4" descr="Une image contenant texte, diagramme, croquis, Plan&#10;&#10;Le contenu généré par l’IA peut être incorrect.">
            <a:extLst>
              <a:ext uri="{FF2B5EF4-FFF2-40B4-BE49-F238E27FC236}">
                <a16:creationId xmlns:a16="http://schemas.microsoft.com/office/drawing/2014/main" id="{1F2D2DBA-C2AA-C1AF-AAA3-3774C9C46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245" y="259139"/>
            <a:ext cx="5442882" cy="4719262"/>
          </a:xfrm>
          <a:prstGeom prst="rect">
            <a:avLst/>
          </a:prstGeom>
        </p:spPr>
      </p:pic>
      <p:pic>
        <p:nvPicPr>
          <p:cNvPr id="6" name="Image 5" descr="Une image contenant logo, Police, conception, symbole&#10;&#10;Le contenu généré par l’IA peut être incorrect.">
            <a:hlinkClick r:id="rId5"/>
            <a:extLst>
              <a:ext uri="{FF2B5EF4-FFF2-40B4-BE49-F238E27FC236}">
                <a16:creationId xmlns:a16="http://schemas.microsoft.com/office/drawing/2014/main" id="{A92071D5-AE4A-94FE-7B0C-E65B6894B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33" y="4434356"/>
            <a:ext cx="452583" cy="4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618B155-6F89-1128-4EF3-D3E179CE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31101FB6-62FC-C424-E046-9F5F27F94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2311" y="355128"/>
            <a:ext cx="1883034" cy="54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 b="1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Le NoSQL</a:t>
            </a:r>
            <a:endParaRPr sz="2400" b="1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108286D9-2A56-FD2F-C185-DF79D66D9C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Une image contenant diagramme, ligne, texte, blanc&#10;&#10;Le contenu généré par l’IA peut être incorrect.">
            <a:extLst>
              <a:ext uri="{FF2B5EF4-FFF2-40B4-BE49-F238E27FC236}">
                <a16:creationId xmlns:a16="http://schemas.microsoft.com/office/drawing/2014/main" id="{5D61DEB4-65FD-57CF-5F6D-2BC4B8CE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0" y="1039091"/>
            <a:ext cx="9007101" cy="2443015"/>
          </a:xfrm>
          <a:prstGeom prst="rect">
            <a:avLst/>
          </a:prstGeom>
        </p:spPr>
      </p:pic>
      <p:sp>
        <p:nvSpPr>
          <p:cNvPr id="6" name="Google Shape;82;p16">
            <a:extLst>
              <a:ext uri="{FF2B5EF4-FFF2-40B4-BE49-F238E27FC236}">
                <a16:creationId xmlns:a16="http://schemas.microsoft.com/office/drawing/2014/main" id="{79E99F6B-C673-D5C0-48FF-112BECAD1630}"/>
              </a:ext>
            </a:extLst>
          </p:cNvPr>
          <p:cNvSpPr txBox="1">
            <a:spLocks/>
          </p:cNvSpPr>
          <p:nvPr/>
        </p:nvSpPr>
        <p:spPr>
          <a:xfrm>
            <a:off x="2419383" y="3480954"/>
            <a:ext cx="4137892" cy="124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Architecture unifiée temps réel + batch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Data Lake comme couche centrale pour la gouvernance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Kafka comme couche de transport universelle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ML parfaitement intégré au système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Séparation claire des responsabilités (modularité)</a:t>
            </a:r>
          </a:p>
        </p:txBody>
      </p:sp>
      <p:pic>
        <p:nvPicPr>
          <p:cNvPr id="7" name="Image 6" descr="Une image contenant logo, Police, conception, symbole&#10;&#10;Le contenu généré par l’IA peut être incorrect.">
            <a:hlinkClick r:id="rId5"/>
            <a:extLst>
              <a:ext uri="{FF2B5EF4-FFF2-40B4-BE49-F238E27FC236}">
                <a16:creationId xmlns:a16="http://schemas.microsoft.com/office/drawing/2014/main" id="{CD85FF93-AF5C-C19C-A8B7-6735877B1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33" y="4434356"/>
            <a:ext cx="452583" cy="4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89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B9609AE-E739-3506-25CE-874D90E4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24FF1904-32E7-564C-0805-759782C1A1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C7DAB92-6965-1919-ED8E-B065816E8A3A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C921E1F7-0C5A-8877-9A29-EDAF9D0F62D3}"/>
              </a:ext>
            </a:extLst>
          </p:cNvPr>
          <p:cNvSpPr txBox="1">
            <a:spLocks/>
          </p:cNvSpPr>
          <p:nvPr/>
        </p:nvSpPr>
        <p:spPr>
          <a:xfrm>
            <a:off x="3218498" y="400242"/>
            <a:ext cx="2027757" cy="64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La sécurité</a:t>
            </a: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" name="Image 4" descr="Une image contenant diagramme, text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D195063F-02CC-DD5F-B915-02A9008BC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53" y="1285147"/>
            <a:ext cx="6853383" cy="3032995"/>
          </a:xfrm>
          <a:prstGeom prst="rect">
            <a:avLst/>
          </a:prstGeom>
        </p:spPr>
      </p:pic>
      <p:sp>
        <p:nvSpPr>
          <p:cNvPr id="6" name="Google Shape;82;p16">
            <a:extLst>
              <a:ext uri="{FF2B5EF4-FFF2-40B4-BE49-F238E27FC236}">
                <a16:creationId xmlns:a16="http://schemas.microsoft.com/office/drawing/2014/main" id="{6EA23597-FD03-99A9-FA22-458D5CDBF4E1}"/>
              </a:ext>
            </a:extLst>
          </p:cNvPr>
          <p:cNvSpPr txBox="1">
            <a:spLocks/>
          </p:cNvSpPr>
          <p:nvPr/>
        </p:nvSpPr>
        <p:spPr>
          <a:xfrm>
            <a:off x="5949774" y="2679631"/>
            <a:ext cx="3097244" cy="131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Sécurité renforcée par une architecture en couches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Protection forte des données sensibles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Gouvernance et contrôles d’accès sécurisés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Sécurisation intégrée du pipeline de données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Prévention active des attaques</a:t>
            </a:r>
          </a:p>
        </p:txBody>
      </p:sp>
      <p:pic>
        <p:nvPicPr>
          <p:cNvPr id="8" name="Image 7" descr="Une image contenant logo, Police, conception, symbole&#10;&#10;Le contenu généré par l’IA peut être incorrect.">
            <a:hlinkClick r:id="rId5"/>
            <a:extLst>
              <a:ext uri="{FF2B5EF4-FFF2-40B4-BE49-F238E27FC236}">
                <a16:creationId xmlns:a16="http://schemas.microsoft.com/office/drawing/2014/main" id="{5D10676C-8091-612B-9D95-649261F05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33" y="4434356"/>
            <a:ext cx="452583" cy="4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3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90237C0-871C-0A2A-C1D5-C0A3134E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54DF4F62-219D-FEDA-9728-528E4BC4A3CC}"/>
              </a:ext>
            </a:extLst>
          </p:cNvPr>
          <p:cNvSpPr/>
          <p:nvPr/>
        </p:nvSpPr>
        <p:spPr>
          <a:xfrm>
            <a:off x="5500" y="-17775"/>
            <a:ext cx="2972412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43A77CCB-AF6A-06E7-4885-DB93E2C758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4" y="483088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139EFD2E-27BF-43E4-C447-0994F93A9CA6}"/>
              </a:ext>
            </a:extLst>
          </p:cNvPr>
          <p:cNvSpPr txBox="1">
            <a:spLocks/>
          </p:cNvSpPr>
          <p:nvPr/>
        </p:nvSpPr>
        <p:spPr>
          <a:xfrm>
            <a:off x="-86166" y="1138869"/>
            <a:ext cx="3427066" cy="64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Intégration du ML</a:t>
            </a: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" name="Image 4" descr="Une image contenant texte, Police, diagramme, ligne&#10;&#10;Le contenu généré par l’IA peut être incorrect.">
            <a:extLst>
              <a:ext uri="{FF2B5EF4-FFF2-40B4-BE49-F238E27FC236}">
                <a16:creationId xmlns:a16="http://schemas.microsoft.com/office/drawing/2014/main" id="{22BBE209-58D8-D141-7F00-6F439EC6F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578" y="1008549"/>
            <a:ext cx="5986153" cy="1432229"/>
          </a:xfrm>
          <a:prstGeom prst="rect">
            <a:avLst/>
          </a:prstGeom>
        </p:spPr>
      </p:pic>
      <p:sp>
        <p:nvSpPr>
          <p:cNvPr id="6" name="Google Shape;82;p16">
            <a:extLst>
              <a:ext uri="{FF2B5EF4-FFF2-40B4-BE49-F238E27FC236}">
                <a16:creationId xmlns:a16="http://schemas.microsoft.com/office/drawing/2014/main" id="{8E69F5B1-C0B5-8CA6-25A2-6DC931F90E41}"/>
              </a:ext>
            </a:extLst>
          </p:cNvPr>
          <p:cNvSpPr txBox="1">
            <a:spLocks/>
          </p:cNvSpPr>
          <p:nvPr/>
        </p:nvSpPr>
        <p:spPr>
          <a:xfrm>
            <a:off x="3936246" y="2702722"/>
            <a:ext cx="3471317" cy="131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Performance en temps réel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Features Store double (offline et online) garantissant performance et fraîcheur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MLOps complet : entraînement, versioning, registry, CI/CD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Monitoring avancé et détection de dérive proactive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fr-FR" sz="800" b="1" dirty="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fr-FR" sz="800" b="1" dirty="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Gouvernance, sécurité et conformités intégrés</a:t>
            </a:r>
          </a:p>
        </p:txBody>
      </p:sp>
      <p:pic>
        <p:nvPicPr>
          <p:cNvPr id="8" name="Image 7" descr="Une image contenant logo, Police, conception, symbole&#10;&#10;Le contenu généré par l’IA peut être incorrect.">
            <a:hlinkClick r:id="rId5"/>
            <a:extLst>
              <a:ext uri="{FF2B5EF4-FFF2-40B4-BE49-F238E27FC236}">
                <a16:creationId xmlns:a16="http://schemas.microsoft.com/office/drawing/2014/main" id="{9D3F5828-7A4B-3A67-326A-6148659AD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33" y="4434356"/>
            <a:ext cx="452583" cy="4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7CC46F7-6519-2DC6-220A-313F97D1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30422A86-3219-BAD5-FE61-B7B875309C62}"/>
              </a:ext>
            </a:extLst>
          </p:cNvPr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1CF032C4-6F6A-C918-7ED1-334DBB66DF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4" y="483088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6952A2BE-8BB6-BFB5-A198-A77C757EF1C7}"/>
              </a:ext>
            </a:extLst>
          </p:cNvPr>
          <p:cNvSpPr txBox="1">
            <a:spLocks/>
          </p:cNvSpPr>
          <p:nvPr/>
        </p:nvSpPr>
        <p:spPr>
          <a:xfrm>
            <a:off x="-86166" y="1813125"/>
            <a:ext cx="3427066" cy="127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Quelques requêtes</a:t>
            </a:r>
          </a:p>
          <a:p>
            <a:pPr algn="ctr"/>
            <a:endParaRPr lang="fr-FR" sz="2400" b="1" dirty="0">
              <a:solidFill>
                <a:schemeClr val="accent5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r>
              <a:rPr lang="fr-FR" sz="24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SQL et NoSQL</a:t>
            </a:r>
            <a:endParaRPr lang="fr-FR"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13176CB-FE88-69C4-D6E4-B9B7D5E07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12600"/>
            <a:ext cx="2822447" cy="981573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F4D3BC4-662D-26CE-88CD-6127EB64F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74564"/>
            <a:ext cx="2892868" cy="920458"/>
          </a:xfrm>
          <a:prstGeom prst="rect">
            <a:avLst/>
          </a:prstGeom>
        </p:spPr>
      </p:pic>
      <p:pic>
        <p:nvPicPr>
          <p:cNvPr id="11" name="Image 10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F1DEEC7-CAC8-6EA3-D237-3FFF305F9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942594"/>
            <a:ext cx="3606801" cy="990008"/>
          </a:xfrm>
          <a:prstGeom prst="rect">
            <a:avLst/>
          </a:prstGeom>
        </p:spPr>
      </p:pic>
      <p:sp>
        <p:nvSpPr>
          <p:cNvPr id="12" name="Google Shape;62;p14">
            <a:extLst>
              <a:ext uri="{FF2B5EF4-FFF2-40B4-BE49-F238E27FC236}">
                <a16:creationId xmlns:a16="http://schemas.microsoft.com/office/drawing/2014/main" id="{EFA33707-8190-AAB0-3F3A-04BF2F3498F1}"/>
              </a:ext>
            </a:extLst>
          </p:cNvPr>
          <p:cNvSpPr txBox="1">
            <a:spLocks/>
          </p:cNvSpPr>
          <p:nvPr/>
        </p:nvSpPr>
        <p:spPr>
          <a:xfrm>
            <a:off x="3340900" y="181036"/>
            <a:ext cx="5778106" cy="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Requête OLTP volume et montant de transactions par marchand</a:t>
            </a:r>
            <a:endParaRPr lang="fr-FR" sz="12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62;p14">
            <a:extLst>
              <a:ext uri="{FF2B5EF4-FFF2-40B4-BE49-F238E27FC236}">
                <a16:creationId xmlns:a16="http://schemas.microsoft.com/office/drawing/2014/main" id="{BE42B41E-CD3E-C962-3034-ED15FB514068}"/>
              </a:ext>
            </a:extLst>
          </p:cNvPr>
          <p:cNvSpPr txBox="1">
            <a:spLocks/>
          </p:cNvSpPr>
          <p:nvPr/>
        </p:nvSpPr>
        <p:spPr>
          <a:xfrm>
            <a:off x="3312676" y="1807112"/>
            <a:ext cx="4445355" cy="35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Requête OLAP revenus journaliers par pays</a:t>
            </a:r>
            <a:endParaRPr lang="fr-FR" sz="12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62;p14">
            <a:extLst>
              <a:ext uri="{FF2B5EF4-FFF2-40B4-BE49-F238E27FC236}">
                <a16:creationId xmlns:a16="http://schemas.microsoft.com/office/drawing/2014/main" id="{D752BC6A-A98B-0D32-F749-9EFE553963F7}"/>
              </a:ext>
            </a:extLst>
          </p:cNvPr>
          <p:cNvSpPr txBox="1">
            <a:spLocks/>
          </p:cNvSpPr>
          <p:nvPr/>
        </p:nvSpPr>
        <p:spPr>
          <a:xfrm>
            <a:off x="3356458" y="3409653"/>
            <a:ext cx="4357792" cy="39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Requêtes NoSQL sessions suspectes</a:t>
            </a:r>
            <a:endParaRPr lang="fr-FR" sz="12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3916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 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274764" y="2606043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Questions/réponses</a:t>
            </a:r>
            <a:endParaRPr sz="24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365</Words>
  <Application>Microsoft Office PowerPoint</Application>
  <PresentationFormat>Affichage à l'écran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Inter</vt:lpstr>
      <vt:lpstr>Inter Medium</vt:lpstr>
      <vt:lpstr>Courier New</vt:lpstr>
      <vt:lpstr>Inter SemiBold</vt:lpstr>
      <vt:lpstr>Wingdings</vt:lpstr>
      <vt:lpstr>Arial</vt:lpstr>
      <vt:lpstr>Simple Light</vt:lpstr>
      <vt:lpstr>Projet  Concevoir et déployer des architectures de données</vt:lpstr>
      <vt:lpstr>Contexte</vt:lpstr>
      <vt:lpstr>L’architecture</vt:lpstr>
      <vt:lpstr>L’ERD</vt:lpstr>
      <vt:lpstr>L’OLAP</vt:lpstr>
      <vt:lpstr>Le NoSQL</vt:lpstr>
      <vt:lpstr>Présentation PowerPoint</vt:lpstr>
      <vt:lpstr>Présentation PowerPoint</vt:lpstr>
      <vt:lpstr>Présentation PowerPoint</vt:lpstr>
      <vt:lpstr>Merci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JOEL TERMONDJIAN</cp:lastModifiedBy>
  <cp:revision>66</cp:revision>
  <cp:lastPrinted>2025-11-17T15:46:54Z</cp:lastPrinted>
  <dcterms:modified xsi:type="dcterms:W3CDTF">2025-11-25T14:23:47Z</dcterms:modified>
</cp:coreProperties>
</file>