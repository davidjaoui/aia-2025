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74" r:id="rId3"/>
    <p:sldId id="260" r:id="rId4"/>
    <p:sldId id="264" r:id="rId5"/>
    <p:sldId id="276" r:id="rId6"/>
    <p:sldId id="277" r:id="rId7"/>
    <p:sldId id="284" r:id="rId8"/>
    <p:sldId id="285" r:id="rId9"/>
    <p:sldId id="286" r:id="rId10"/>
    <p:sldId id="262"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FFFC"/>
    <a:srgbClr val="3FD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39842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f4f11f95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1829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06669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04314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6240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6851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4030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7ed9f11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7ed9f11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708992" y="712713"/>
            <a:ext cx="1726016"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sym typeface="Inter SemiBold"/>
              </a:rPr>
              <a:t>Projet</a:t>
            </a:r>
            <a:endParaRPr sz="4400" b="1" dirty="0">
              <a:solidFill>
                <a:schemeClr val="tx1"/>
              </a:solidFill>
              <a:latin typeface="Aptos" panose="020B0004020202020204" pitchFamily="34" charset="0"/>
              <a:ea typeface="Inter Medium"/>
              <a:sym typeface="Inter SemiBold"/>
            </a:endParaRPr>
          </a:p>
        </p:txBody>
      </p:sp>
      <p:pic>
        <p:nvPicPr>
          <p:cNvPr id="56" name="Google Shape;56;p13"/>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7" name="Google Shape;57;p13"/>
          <p:cNvSpPr txBox="1">
            <a:spLocks noGrp="1"/>
          </p:cNvSpPr>
          <p:nvPr>
            <p:ph type="ctrTitle"/>
          </p:nvPr>
        </p:nvSpPr>
        <p:spPr>
          <a:xfrm>
            <a:off x="1104521" y="3762709"/>
            <a:ext cx="6934959" cy="832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4400" b="1" dirty="0">
                <a:solidFill>
                  <a:schemeClr val="tx1"/>
                </a:solidFill>
                <a:latin typeface="Aptos" panose="020B0004020202020204" pitchFamily="34" charset="0"/>
                <a:ea typeface="Inter Medium"/>
              </a:rPr>
              <a:t>Architecture and Pipelines</a:t>
            </a:r>
            <a:endParaRPr sz="4400" b="1" dirty="0">
              <a:solidFill>
                <a:schemeClr val="tx1"/>
              </a:solidFill>
              <a:latin typeface="Aptos" panose="020B0004020202020204" pitchFamily="34" charset="0"/>
              <a:ea typeface="Inter Medium"/>
              <a:cs typeface="Inter Medium"/>
              <a:sym typeface="Inter Medium"/>
            </a:endParaRPr>
          </a:p>
        </p:txBody>
      </p:sp>
      <p:pic>
        <p:nvPicPr>
          <p:cNvPr id="1032" name="Picture 8">
            <a:extLst>
              <a:ext uri="{FF2B5EF4-FFF2-40B4-BE49-F238E27FC236}">
                <a16:creationId xmlns:a16="http://schemas.microsoft.com/office/drawing/2014/main" id="{66D00A16-B51B-5802-F3FB-009C1E8EBA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63" y="1866900"/>
            <a:ext cx="2428875" cy="140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952921" y="528843"/>
            <a:ext cx="2513100" cy="90965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 sz="2400" b="1" dirty="0">
                <a:solidFill>
                  <a:schemeClr val="tx1">
                    <a:lumMod val="65000"/>
                    <a:lumOff val="35000"/>
                  </a:schemeClr>
                </a:solidFill>
                <a:latin typeface="Aptos" panose="020B0004020202020204" pitchFamily="34" charset="0"/>
                <a:ea typeface="Inter"/>
                <a:cs typeface="Inter"/>
                <a:sym typeface="Inter"/>
              </a:rPr>
              <a:t>Contexte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3858315" y="566155"/>
            <a:ext cx="5326432" cy="3672811"/>
          </a:xfrm>
          <a:prstGeom prst="rect">
            <a:avLst/>
          </a:prstGeom>
          <a:noFill/>
          <a:ln>
            <a:noFill/>
          </a:ln>
        </p:spPr>
        <p:txBody>
          <a:bodyPr spcFirstLastPara="1" wrap="square" lIns="91425" tIns="91425" rIns="91425" bIns="91425" anchor="t" anchorCtr="0">
            <a:noAutofit/>
          </a:bodyPr>
          <a:lstStyle/>
          <a:p>
            <a:r>
              <a:rPr lang="fr-FR" sz="1600" dirty="0" err="1">
                <a:solidFill>
                  <a:schemeClr val="tx1">
                    <a:lumMod val="65000"/>
                    <a:lumOff val="35000"/>
                  </a:schemeClr>
                </a:solidFill>
                <a:latin typeface="Aptos" panose="020B0004020202020204" pitchFamily="34" charset="0"/>
              </a:rPr>
              <a:t>Stripe</a:t>
            </a:r>
            <a:r>
              <a:rPr lang="fr-FR" sz="1600" dirty="0">
                <a:solidFill>
                  <a:schemeClr val="tx1">
                    <a:lumMod val="65000"/>
                    <a:lumOff val="35000"/>
                  </a:schemeClr>
                </a:solidFill>
                <a:latin typeface="Aptos" panose="020B0004020202020204" pitchFamily="34" charset="0"/>
              </a:rPr>
              <a:t>, acteur majeur des paiements et des opérations financières, connaît une croissance rapide de ses volumes de données et doit gérer des informations toujours plus complexes issues de systèmes OLTP, OLAP et NoSQL.</a:t>
            </a: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Mettre en place une architecture de données robuste et évolutive, capable de supporter:</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Un fort volume de transactions,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Des analyses avancées,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L’exploitation de données non structurées pour la détection de fraude,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L’analyse du comportement client et les recommandations en temps réel.</a:t>
            </a:r>
            <a:br>
              <a:rPr lang="fr-FR" sz="1200" dirty="0"/>
            </a:br>
            <a:endParaRPr sz="1800" b="0" i="0" u="none" strike="noStrike" cap="none" dirty="0">
              <a:solidFill>
                <a:schemeClr val="tx1">
                  <a:lumMod val="65000"/>
                  <a:lumOff val="35000"/>
                </a:schemeClr>
              </a:solidFill>
              <a:latin typeface="Aptos" panose="020B0004020202020204" pitchFamily="34" charset="0"/>
              <a:ea typeface="Inter"/>
              <a:cs typeface="Inter"/>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517748" y="780757"/>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a:extLst>
              <a:ext uri="{FF2B5EF4-FFF2-40B4-BE49-F238E27FC236}">
                <a16:creationId xmlns:a16="http://schemas.microsoft.com/office/drawing/2014/main" id="{973B2B10-C7A2-85B9-5A6D-5D83ED966D15}"/>
              </a:ext>
            </a:extLst>
          </p:cNvPr>
          <p:cNvSpPr/>
          <p:nvPr/>
        </p:nvSpPr>
        <p:spPr>
          <a:xfrm rot="-355994">
            <a:off x="3502433" y="2738378"/>
            <a:ext cx="261199" cy="46747"/>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4" name="Google Shape;82;p16">
            <a:extLst>
              <a:ext uri="{FF2B5EF4-FFF2-40B4-BE49-F238E27FC236}">
                <a16:creationId xmlns:a16="http://schemas.microsoft.com/office/drawing/2014/main" id="{B5773900-6D42-7D62-0FDA-6B8A4FDD3B7E}"/>
              </a:ext>
            </a:extLst>
          </p:cNvPr>
          <p:cNvSpPr txBox="1">
            <a:spLocks/>
          </p:cNvSpPr>
          <p:nvPr/>
        </p:nvSpPr>
        <p:spPr>
          <a:xfrm>
            <a:off x="952921" y="2462931"/>
            <a:ext cx="2513100" cy="9096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2400" b="1" dirty="0">
                <a:solidFill>
                  <a:schemeClr val="tx1">
                    <a:lumMod val="65000"/>
                    <a:lumOff val="35000"/>
                  </a:schemeClr>
                </a:solidFill>
                <a:latin typeface="Aptos" panose="020B0004020202020204" pitchFamily="34" charset="0"/>
                <a:ea typeface="Inter"/>
                <a:cs typeface="Inter"/>
                <a:sym typeface="Inter"/>
              </a:rPr>
              <a:t>Objectif</a:t>
            </a:r>
          </a:p>
        </p:txBody>
      </p:sp>
    </p:spTree>
    <p:extLst>
      <p:ext uri="{BB962C8B-B14F-4D97-AF65-F5344CB8AC3E}">
        <p14:creationId xmlns:p14="http://schemas.microsoft.com/office/powerpoint/2010/main" val="2883483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p:cNvGrpSpPr/>
        <p:nvPr/>
      </p:nvGrpSpPr>
      <p:grpSpPr>
        <a:xfrm>
          <a:off x="0" y="0"/>
          <a:ext cx="0" cy="0"/>
          <a:chOff x="0" y="0"/>
          <a:chExt cx="0" cy="0"/>
        </a:xfrm>
      </p:grpSpPr>
      <p:sp>
        <p:nvSpPr>
          <p:cNvPr id="95" name="Google Shape;95;p17"/>
          <p:cNvSpPr txBox="1">
            <a:spLocks noGrp="1"/>
          </p:cNvSpPr>
          <p:nvPr>
            <p:ph type="ctrTitle" idx="4294967295"/>
          </p:nvPr>
        </p:nvSpPr>
        <p:spPr>
          <a:xfrm>
            <a:off x="2037991" y="174644"/>
            <a:ext cx="2223219"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 sz="2000" b="1" i="0" u="none" strike="noStrike" cap="none" dirty="0">
                <a:solidFill>
                  <a:schemeClr val="tx1">
                    <a:lumMod val="65000"/>
                    <a:lumOff val="35000"/>
                  </a:schemeClr>
                </a:solidFill>
                <a:latin typeface="Aptos" panose="020B0004020202020204" pitchFamily="34" charset="0"/>
                <a:ea typeface="Inter"/>
                <a:cs typeface="Inter"/>
                <a:sym typeface="Inter"/>
              </a:rPr>
              <a:t>L’Architecture</a:t>
            </a:r>
            <a:endParaRPr sz="2000" b="1" i="0" u="none" strike="noStrike" cap="none" dirty="0">
              <a:solidFill>
                <a:schemeClr val="tx1">
                  <a:lumMod val="65000"/>
                  <a:lumOff val="35000"/>
                </a:schemeClr>
              </a:solidFill>
              <a:latin typeface="Aptos" panose="020B0004020202020204" pitchFamily="34" charset="0"/>
              <a:ea typeface="Inter"/>
              <a:cs typeface="Inter"/>
              <a:sym typeface="Inter"/>
            </a:endParaRPr>
          </a:p>
        </p:txBody>
      </p:sp>
      <p:pic>
        <p:nvPicPr>
          <p:cNvPr id="2" name="Google Shape;56;p13">
            <a:extLst>
              <a:ext uri="{FF2B5EF4-FFF2-40B4-BE49-F238E27FC236}">
                <a16:creationId xmlns:a16="http://schemas.microsoft.com/office/drawing/2014/main" id="{29AF42A0-D3B7-10B5-470C-4D627B891DF8}"/>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descr="Une image contenant texte, capture d’écran, diagramme, Police&#10;&#10;Description générée automatiquement">
            <a:extLst>
              <a:ext uri="{FF2B5EF4-FFF2-40B4-BE49-F238E27FC236}">
                <a16:creationId xmlns:a16="http://schemas.microsoft.com/office/drawing/2014/main" id="{FFDCBBD3-5A67-34EB-DBDE-6EBB2D75D5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85368"/>
            <a:ext cx="6109240" cy="3554882"/>
          </a:xfrm>
          <a:prstGeom prst="rect">
            <a:avLst/>
          </a:prstGeom>
        </p:spPr>
      </p:pic>
      <p:sp>
        <p:nvSpPr>
          <p:cNvPr id="5" name="Rectangle 2">
            <a:extLst>
              <a:ext uri="{FF2B5EF4-FFF2-40B4-BE49-F238E27FC236}">
                <a16:creationId xmlns:a16="http://schemas.microsoft.com/office/drawing/2014/main" id="{79351F62-2379-3435-E44A-67CC2C434DDF}"/>
              </a:ext>
            </a:extLst>
          </p:cNvPr>
          <p:cNvSpPr>
            <a:spLocks noGrp="1" noChangeArrowheads="1"/>
          </p:cNvSpPr>
          <p:nvPr>
            <p:ph type="ctrTitle" idx="4294967295"/>
          </p:nvPr>
        </p:nvSpPr>
        <p:spPr bwMode="auto">
          <a:xfrm>
            <a:off x="6088063" y="136359"/>
            <a:ext cx="2693987"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Séparation claire OLTP / Streaming / OLAP / NoSQL</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garantissant performance, scalabilité et isolation des usages.</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Ingestion temps réel complète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(CDC, Kafka,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stream</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processing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pour le traitement de gros volumes avec faible latence.</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Data Lake centralisé Bronze / Silver / Gold</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socle unique pour le stockage, l’historisation et l’analyse.</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Pipeline ETL/ELT industrialisé</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Airflow</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dbt</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Spark) assurant fiabilité et qualité des données.</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Couche NoSQL adaptée aux usages avancés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 données non structurées, logs, séries temporelles et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Feature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Store ML.</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Intégration end-to-end du Machine Learning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Feature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Store,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MLOps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serving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temps réel).</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Sécurité, conformité et gouvernance renforcées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via IAM/RBAC, chiffrement, audit et observabilité centralisée.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869937" y="132106"/>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Diagramme entité-relation (ERD) </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descr="Une image contenant capture d’écran, diagramme&#10;&#10;Description générée automatiquement">
            <a:extLst>
              <a:ext uri="{FF2B5EF4-FFF2-40B4-BE49-F238E27FC236}">
                <a16:creationId xmlns:a16="http://schemas.microsoft.com/office/drawing/2014/main" id="{45D077D8-6E24-EDE1-1FF4-6798892BD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 y="741594"/>
            <a:ext cx="8839200" cy="3441674"/>
          </a:xfrm>
          <a:prstGeom prst="rect">
            <a:avLst/>
          </a:prstGeom>
        </p:spPr>
      </p:pic>
      <p:sp>
        <p:nvSpPr>
          <p:cNvPr id="4" name="Google Shape;82;p16">
            <a:extLst>
              <a:ext uri="{FF2B5EF4-FFF2-40B4-BE49-F238E27FC236}">
                <a16:creationId xmlns:a16="http://schemas.microsoft.com/office/drawing/2014/main" id="{2F17CBF3-EF48-8E01-B203-5123B9E05D00}"/>
              </a:ext>
            </a:extLst>
          </p:cNvPr>
          <p:cNvSpPr txBox="1">
            <a:spLocks/>
          </p:cNvSpPr>
          <p:nvPr/>
        </p:nvSpPr>
        <p:spPr>
          <a:xfrm>
            <a:off x="5568677" y="4110501"/>
            <a:ext cx="3461024" cy="900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Normalisation 3NF</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Relations claires et directionnelles</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Intégrité référentielle forte</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Séparation des responsabilités</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Orienté PCI-DSS (Tokens moyens de paiements)</a:t>
            </a:r>
          </a:p>
        </p:txBody>
      </p:sp>
    </p:spTree>
    <p:extLst>
      <p:ext uri="{BB962C8B-B14F-4D97-AF65-F5344CB8AC3E}">
        <p14:creationId xmlns:p14="http://schemas.microsoft.com/office/powerpoint/2010/main" val="545472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746707" y="177214"/>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 sz="2000" b="1" dirty="0">
                <a:solidFill>
                  <a:schemeClr val="tx1">
                    <a:lumMod val="65000"/>
                    <a:lumOff val="35000"/>
                  </a:schemeClr>
                </a:solidFill>
                <a:latin typeface="Aptos" panose="020B0004020202020204" pitchFamily="34" charset="0"/>
                <a:ea typeface="Inter"/>
                <a:sym typeface="Inter"/>
              </a:rPr>
              <a:t>L’OLAP </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558823D3-36EB-404F-A15D-AD8358F543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89832"/>
            <a:ext cx="9144000" cy="1908431"/>
          </a:xfrm>
          <a:prstGeom prst="rect">
            <a:avLst/>
          </a:prstGeom>
        </p:spPr>
      </p:pic>
      <p:sp>
        <p:nvSpPr>
          <p:cNvPr id="5" name="ZoneTexte 4">
            <a:extLst>
              <a:ext uri="{FF2B5EF4-FFF2-40B4-BE49-F238E27FC236}">
                <a16:creationId xmlns:a16="http://schemas.microsoft.com/office/drawing/2014/main" id="{711BDA8F-2E4B-4405-7111-41DE3E9B05C1}"/>
              </a:ext>
            </a:extLst>
          </p:cNvPr>
          <p:cNvSpPr txBox="1"/>
          <p:nvPr/>
        </p:nvSpPr>
        <p:spPr>
          <a:xfrm>
            <a:off x="3948887" y="3925621"/>
            <a:ext cx="5248453"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Orientation évènements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Séparation claire entre données brutes, sessions, </a:t>
            </a:r>
            <a:r>
              <a:rPr lang="fr-FR" sz="1100" dirty="0" err="1">
                <a:solidFill>
                  <a:schemeClr val="accent5">
                    <a:lumMod val="75000"/>
                  </a:schemeClr>
                </a:solidFill>
                <a:latin typeface="Aptos" panose="020B0004020202020204" pitchFamily="34" charset="0"/>
              </a:rPr>
              <a:t>features</a:t>
            </a:r>
            <a:r>
              <a:rPr lang="fr-FR" sz="1100" dirty="0">
                <a:solidFill>
                  <a:schemeClr val="accent5">
                    <a:lumMod val="75000"/>
                  </a:schemeClr>
                </a:solidFill>
                <a:latin typeface="Aptos" panose="020B0004020202020204" pitchFamily="34" charset="0"/>
              </a:rPr>
              <a:t> et événements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Intégration fluide avec l’OLTP via CDC</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Préparation naturelle du </a:t>
            </a:r>
            <a:r>
              <a:rPr lang="fr-FR" sz="1100" dirty="0" err="1">
                <a:solidFill>
                  <a:schemeClr val="accent5">
                    <a:lumMod val="75000"/>
                  </a:schemeClr>
                </a:solidFill>
                <a:latin typeface="Aptos" panose="020B0004020202020204" pitchFamily="34" charset="0"/>
              </a:rPr>
              <a:t>Feature</a:t>
            </a:r>
            <a:r>
              <a:rPr lang="fr-FR" sz="1100" dirty="0">
                <a:solidFill>
                  <a:schemeClr val="accent5">
                    <a:lumMod val="75000"/>
                  </a:schemeClr>
                </a:solidFill>
                <a:latin typeface="Aptos" panose="020B0004020202020204" pitchFamily="34" charset="0"/>
              </a:rPr>
              <a:t> Store pour le ML</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Support optimal pour la détection de fraude en temps réel</a:t>
            </a:r>
          </a:p>
        </p:txBody>
      </p:sp>
    </p:spTree>
    <p:extLst>
      <p:ext uri="{BB962C8B-B14F-4D97-AF65-F5344CB8AC3E}">
        <p14:creationId xmlns:p14="http://schemas.microsoft.com/office/powerpoint/2010/main" val="24048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Le NoSQL</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BDC9CB29-440E-929B-E5B9-9E0A87E988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34633"/>
            <a:ext cx="9144000" cy="1557011"/>
          </a:xfrm>
          <a:prstGeom prst="rect">
            <a:avLst/>
          </a:prstGeom>
        </p:spPr>
      </p:pic>
      <p:sp>
        <p:nvSpPr>
          <p:cNvPr id="5" name="ZoneTexte 4">
            <a:extLst>
              <a:ext uri="{FF2B5EF4-FFF2-40B4-BE49-F238E27FC236}">
                <a16:creationId xmlns:a16="http://schemas.microsoft.com/office/drawing/2014/main" id="{3D515B7A-E02A-AFF4-B6BF-78B47D13F011}"/>
              </a:ext>
            </a:extLst>
          </p:cNvPr>
          <p:cNvSpPr txBox="1"/>
          <p:nvPr/>
        </p:nvSpPr>
        <p:spPr>
          <a:xfrm>
            <a:off x="4152900" y="4087694"/>
            <a:ext cx="4991100"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Orientation évènements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Séparation claire entre données brutes, sessions, </a:t>
            </a:r>
            <a:r>
              <a:rPr lang="fr-FR" sz="1100" dirty="0" err="1">
                <a:solidFill>
                  <a:schemeClr val="accent5">
                    <a:lumMod val="75000"/>
                  </a:schemeClr>
                </a:solidFill>
                <a:latin typeface="Aptos" panose="020B0004020202020204" pitchFamily="34" charset="0"/>
              </a:rPr>
              <a:t>features</a:t>
            </a:r>
            <a:r>
              <a:rPr lang="fr-FR" sz="1100" dirty="0">
                <a:solidFill>
                  <a:schemeClr val="accent5">
                    <a:lumMod val="75000"/>
                  </a:schemeClr>
                </a:solidFill>
                <a:latin typeface="Aptos" panose="020B0004020202020204" pitchFamily="34" charset="0"/>
              </a:rPr>
              <a:t> et événements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Intégration fluide avec l’OLTP via CDC</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Préparation naturelle du </a:t>
            </a:r>
            <a:r>
              <a:rPr lang="fr-FR" sz="1100" dirty="0" err="1">
                <a:solidFill>
                  <a:schemeClr val="accent5">
                    <a:lumMod val="75000"/>
                  </a:schemeClr>
                </a:solidFill>
                <a:latin typeface="Aptos" panose="020B0004020202020204" pitchFamily="34" charset="0"/>
              </a:rPr>
              <a:t>Feature</a:t>
            </a:r>
            <a:r>
              <a:rPr lang="fr-FR" sz="1100" dirty="0">
                <a:solidFill>
                  <a:schemeClr val="accent5">
                    <a:lumMod val="75000"/>
                  </a:schemeClr>
                </a:solidFill>
                <a:latin typeface="Aptos" panose="020B0004020202020204" pitchFamily="34" charset="0"/>
              </a:rPr>
              <a:t> Store pour le ML</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Support optimal pour la détection de fraude en temps réel</a:t>
            </a:r>
          </a:p>
        </p:txBody>
      </p:sp>
    </p:spTree>
    <p:extLst>
      <p:ext uri="{BB962C8B-B14F-4D97-AF65-F5344CB8AC3E}">
        <p14:creationId xmlns:p14="http://schemas.microsoft.com/office/powerpoint/2010/main" val="159926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La Sécurité</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 name="ZoneTexte 4">
            <a:extLst>
              <a:ext uri="{FF2B5EF4-FFF2-40B4-BE49-F238E27FC236}">
                <a16:creationId xmlns:a16="http://schemas.microsoft.com/office/drawing/2014/main" id="{3D515B7A-E02A-AFF4-B6BF-78B47D13F011}"/>
              </a:ext>
            </a:extLst>
          </p:cNvPr>
          <p:cNvSpPr txBox="1"/>
          <p:nvPr/>
        </p:nvSpPr>
        <p:spPr>
          <a:xfrm>
            <a:off x="5471160" y="4151441"/>
            <a:ext cx="3749040"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Sécurité renforcée par une architecture en couches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Protection forte des données sensibles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Gouvernance et contrôles d’accès sécurisés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Sécurisation intégrée du pipeline de données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Prévention active des attaques</a:t>
            </a:r>
          </a:p>
        </p:txBody>
      </p:sp>
      <p:pic>
        <p:nvPicPr>
          <p:cNvPr id="4" name="Image 3" descr="Une image contenant capture d’écran, texte, diagramme, Logiciel de graphisme&#10;&#10;Description générée automatiquement">
            <a:extLst>
              <a:ext uri="{FF2B5EF4-FFF2-40B4-BE49-F238E27FC236}">
                <a16:creationId xmlns:a16="http://schemas.microsoft.com/office/drawing/2014/main" id="{D1C09059-0167-EFF4-57B4-8EC4076BF5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760" y="591611"/>
            <a:ext cx="5920740" cy="3382708"/>
          </a:xfrm>
          <a:prstGeom prst="rect">
            <a:avLst/>
          </a:prstGeom>
        </p:spPr>
      </p:pic>
    </p:spTree>
    <p:extLst>
      <p:ext uri="{BB962C8B-B14F-4D97-AF65-F5344CB8AC3E}">
        <p14:creationId xmlns:p14="http://schemas.microsoft.com/office/powerpoint/2010/main" val="2721911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Intégration du ML</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 name="ZoneTexte 4">
            <a:extLst>
              <a:ext uri="{FF2B5EF4-FFF2-40B4-BE49-F238E27FC236}">
                <a16:creationId xmlns:a16="http://schemas.microsoft.com/office/drawing/2014/main" id="{3D515B7A-E02A-AFF4-B6BF-78B47D13F011}"/>
              </a:ext>
            </a:extLst>
          </p:cNvPr>
          <p:cNvSpPr txBox="1"/>
          <p:nvPr/>
        </p:nvSpPr>
        <p:spPr>
          <a:xfrm>
            <a:off x="3942522" y="4151441"/>
            <a:ext cx="5277678"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Performance en temps réel</a:t>
            </a:r>
          </a:p>
          <a:p>
            <a:pPr marL="342900" indent="-342900">
              <a:buClr>
                <a:schemeClr val="dk1"/>
              </a:buClr>
              <a:buSzPct val="100000"/>
              <a:buFont typeface="Arial"/>
              <a:buAutoNum type="arabicPeriod"/>
            </a:pPr>
            <a:r>
              <a:rPr lang="fr-FR" sz="1100" dirty="0" err="1">
                <a:solidFill>
                  <a:schemeClr val="accent5">
                    <a:lumMod val="75000"/>
                  </a:schemeClr>
                </a:solidFill>
                <a:latin typeface="Aptos" panose="020B0004020202020204" pitchFamily="34" charset="0"/>
                <a:sym typeface="Inter"/>
              </a:rPr>
              <a:t>Features</a:t>
            </a:r>
            <a:r>
              <a:rPr lang="fr-FR" sz="1100" dirty="0">
                <a:solidFill>
                  <a:schemeClr val="accent5">
                    <a:lumMod val="75000"/>
                  </a:schemeClr>
                </a:solidFill>
                <a:latin typeface="Aptos" panose="020B0004020202020204" pitchFamily="34" charset="0"/>
                <a:sym typeface="Inter"/>
              </a:rPr>
              <a:t> Store double (offline et online) garantissant performance et fraîcheur</a:t>
            </a:r>
          </a:p>
          <a:p>
            <a:pPr marL="342900" indent="-342900">
              <a:buClr>
                <a:schemeClr val="dk1"/>
              </a:buClr>
              <a:buSzPct val="100000"/>
              <a:buFont typeface="Arial"/>
              <a:buAutoNum type="arabicPeriod"/>
            </a:pPr>
            <a:r>
              <a:rPr lang="fr-FR" sz="1100" dirty="0" err="1">
                <a:solidFill>
                  <a:schemeClr val="accent5">
                    <a:lumMod val="75000"/>
                  </a:schemeClr>
                </a:solidFill>
                <a:latin typeface="Aptos" panose="020B0004020202020204" pitchFamily="34" charset="0"/>
                <a:sym typeface="Inter"/>
              </a:rPr>
              <a:t>MLOps</a:t>
            </a:r>
            <a:r>
              <a:rPr lang="fr-FR" sz="1100" dirty="0">
                <a:solidFill>
                  <a:schemeClr val="accent5">
                    <a:lumMod val="75000"/>
                  </a:schemeClr>
                </a:solidFill>
                <a:latin typeface="Aptos" panose="020B0004020202020204" pitchFamily="34" charset="0"/>
                <a:sym typeface="Inter"/>
              </a:rPr>
              <a:t> complet : entraînement, versioning, </a:t>
            </a:r>
            <a:r>
              <a:rPr lang="fr-FR" sz="1100" dirty="0" err="1">
                <a:solidFill>
                  <a:schemeClr val="accent5">
                    <a:lumMod val="75000"/>
                  </a:schemeClr>
                </a:solidFill>
                <a:latin typeface="Aptos" panose="020B0004020202020204" pitchFamily="34" charset="0"/>
                <a:sym typeface="Inter"/>
              </a:rPr>
              <a:t>registry</a:t>
            </a:r>
            <a:r>
              <a:rPr lang="fr-FR" sz="1100" dirty="0">
                <a:solidFill>
                  <a:schemeClr val="accent5">
                    <a:lumMod val="75000"/>
                  </a:schemeClr>
                </a:solidFill>
                <a:latin typeface="Aptos" panose="020B0004020202020204" pitchFamily="34" charset="0"/>
                <a:sym typeface="Inter"/>
              </a:rPr>
              <a:t>, CI/CD</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Monitoring avancé et détection de dérive proactive</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Gouvernance, sécurité et conformités intégrés</a:t>
            </a:r>
          </a:p>
        </p:txBody>
      </p:sp>
      <p:pic>
        <p:nvPicPr>
          <p:cNvPr id="3" name="Image 2">
            <a:extLst>
              <a:ext uri="{FF2B5EF4-FFF2-40B4-BE49-F238E27FC236}">
                <a16:creationId xmlns:a16="http://schemas.microsoft.com/office/drawing/2014/main" id="{71375873-CE27-9222-4504-D605CE8EA5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07017"/>
            <a:ext cx="9177961" cy="1943955"/>
          </a:xfrm>
          <a:prstGeom prst="rect">
            <a:avLst/>
          </a:prstGeom>
        </p:spPr>
      </p:pic>
    </p:spTree>
    <p:extLst>
      <p:ext uri="{BB962C8B-B14F-4D97-AF65-F5344CB8AC3E}">
        <p14:creationId xmlns:p14="http://schemas.microsoft.com/office/powerpoint/2010/main" val="3073973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algn="ctr"/>
            <a:r>
              <a:rPr lang="fr-FR" sz="2000" b="1" dirty="0">
                <a:solidFill>
                  <a:schemeClr val="tx1">
                    <a:lumMod val="65000"/>
                    <a:lumOff val="35000"/>
                  </a:schemeClr>
                </a:solidFill>
                <a:latin typeface="Aptos" panose="020B0004020202020204" pitchFamily="34" charset="0"/>
                <a:ea typeface="Inter"/>
                <a:sym typeface="Inter"/>
              </a:rPr>
              <a:t>Quelques requêtes SQL et NoSQL</a:t>
            </a: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6" name="Image 5" descr="Une image contenant texte, capture d’écran, Police&#10;&#10;Le contenu généré par l’IA peut être incorrect.">
            <a:extLst>
              <a:ext uri="{FF2B5EF4-FFF2-40B4-BE49-F238E27FC236}">
                <a16:creationId xmlns:a16="http://schemas.microsoft.com/office/drawing/2014/main" id="{5038A07E-5E9E-F470-E3CE-4EFCDB3B0DEF}"/>
              </a:ext>
            </a:extLst>
          </p:cNvPr>
          <p:cNvPicPr>
            <a:picLocks noChangeAspect="1"/>
          </p:cNvPicPr>
          <p:nvPr/>
        </p:nvPicPr>
        <p:blipFill>
          <a:blip r:embed="rId4"/>
          <a:stretch>
            <a:fillRect/>
          </a:stretch>
        </p:blipFill>
        <p:spPr>
          <a:xfrm>
            <a:off x="1326363" y="1309428"/>
            <a:ext cx="3245637" cy="1128747"/>
          </a:xfrm>
          <a:prstGeom prst="rect">
            <a:avLst/>
          </a:prstGeom>
        </p:spPr>
      </p:pic>
      <p:pic>
        <p:nvPicPr>
          <p:cNvPr id="7" name="Image 6" descr="Une image contenant texte, capture d’écran, Police&#10;&#10;Le contenu généré par l’IA peut être incorrect.">
            <a:extLst>
              <a:ext uri="{FF2B5EF4-FFF2-40B4-BE49-F238E27FC236}">
                <a16:creationId xmlns:a16="http://schemas.microsoft.com/office/drawing/2014/main" id="{CDCA3CDB-692B-7676-A1CB-974BC47008D6}"/>
              </a:ext>
            </a:extLst>
          </p:cNvPr>
          <p:cNvPicPr>
            <a:picLocks noChangeAspect="1"/>
          </p:cNvPicPr>
          <p:nvPr/>
        </p:nvPicPr>
        <p:blipFill>
          <a:blip r:embed="rId5"/>
          <a:stretch>
            <a:fillRect/>
          </a:stretch>
        </p:blipFill>
        <p:spPr>
          <a:xfrm>
            <a:off x="1326363" y="2548743"/>
            <a:ext cx="3326616" cy="1058469"/>
          </a:xfrm>
          <a:prstGeom prst="rect">
            <a:avLst/>
          </a:prstGeom>
        </p:spPr>
      </p:pic>
      <p:pic>
        <p:nvPicPr>
          <p:cNvPr id="8" name="Image 7" descr="Une image contenant texte, Police, capture d’écran&#10;&#10;Le contenu généré par l’IA peut être incorrect.">
            <a:extLst>
              <a:ext uri="{FF2B5EF4-FFF2-40B4-BE49-F238E27FC236}">
                <a16:creationId xmlns:a16="http://schemas.microsoft.com/office/drawing/2014/main" id="{8B813AA6-D295-8F86-09CD-8B6D899427A3}"/>
              </a:ext>
            </a:extLst>
          </p:cNvPr>
          <p:cNvPicPr>
            <a:picLocks noChangeAspect="1"/>
          </p:cNvPicPr>
          <p:nvPr/>
        </p:nvPicPr>
        <p:blipFill>
          <a:blip r:embed="rId6"/>
          <a:stretch>
            <a:fillRect/>
          </a:stretch>
        </p:blipFill>
        <p:spPr>
          <a:xfrm>
            <a:off x="1326363" y="3717780"/>
            <a:ext cx="4147594" cy="1138447"/>
          </a:xfrm>
          <a:prstGeom prst="rect">
            <a:avLst/>
          </a:prstGeom>
        </p:spPr>
      </p:pic>
      <p:sp>
        <p:nvSpPr>
          <p:cNvPr id="9" name="Google Shape;62;p14">
            <a:extLst>
              <a:ext uri="{FF2B5EF4-FFF2-40B4-BE49-F238E27FC236}">
                <a16:creationId xmlns:a16="http://schemas.microsoft.com/office/drawing/2014/main" id="{4F7ACADF-2FD0-6C3B-05A0-00020BA7DB92}"/>
              </a:ext>
            </a:extLst>
          </p:cNvPr>
          <p:cNvSpPr txBox="1">
            <a:spLocks/>
          </p:cNvSpPr>
          <p:nvPr/>
        </p:nvSpPr>
        <p:spPr>
          <a:xfrm>
            <a:off x="4572000" y="1316155"/>
            <a:ext cx="4016710" cy="4207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cs typeface="Inter"/>
                <a:sym typeface="Inter"/>
              </a:rPr>
              <a:t>Requête OLTP volume et montant de transactions par marchand</a:t>
            </a:r>
            <a:endParaRPr lang="fr-FR" sz="1600" b="1" dirty="0">
              <a:solidFill>
                <a:srgbClr val="0E3449"/>
              </a:solidFill>
              <a:latin typeface="Aptos" panose="020B0004020202020204" pitchFamily="34" charset="0"/>
              <a:ea typeface="Inter"/>
              <a:cs typeface="Inter"/>
              <a:sym typeface="Inter"/>
            </a:endParaRPr>
          </a:p>
        </p:txBody>
      </p:sp>
      <p:sp>
        <p:nvSpPr>
          <p:cNvPr id="10" name="Google Shape;62;p14">
            <a:extLst>
              <a:ext uri="{FF2B5EF4-FFF2-40B4-BE49-F238E27FC236}">
                <a16:creationId xmlns:a16="http://schemas.microsoft.com/office/drawing/2014/main" id="{EB228070-8691-1C30-4685-B678A0FB56F9}"/>
              </a:ext>
            </a:extLst>
          </p:cNvPr>
          <p:cNvSpPr txBox="1">
            <a:spLocks/>
          </p:cNvSpPr>
          <p:nvPr/>
        </p:nvSpPr>
        <p:spPr>
          <a:xfrm>
            <a:off x="4652979" y="2626421"/>
            <a:ext cx="4147594" cy="39491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sym typeface="Inter"/>
              </a:rPr>
              <a:t>Requête OLAP revenus journaliers par pays</a:t>
            </a:r>
          </a:p>
        </p:txBody>
      </p:sp>
      <p:sp>
        <p:nvSpPr>
          <p:cNvPr id="11" name="Google Shape;62;p14">
            <a:extLst>
              <a:ext uri="{FF2B5EF4-FFF2-40B4-BE49-F238E27FC236}">
                <a16:creationId xmlns:a16="http://schemas.microsoft.com/office/drawing/2014/main" id="{FE4E7949-0548-1069-1997-89D6CBA1819F}"/>
              </a:ext>
            </a:extLst>
          </p:cNvPr>
          <p:cNvSpPr txBox="1">
            <a:spLocks/>
          </p:cNvSpPr>
          <p:nvPr/>
        </p:nvSpPr>
        <p:spPr>
          <a:xfrm>
            <a:off x="5473957" y="3754029"/>
            <a:ext cx="3507997" cy="43332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sym typeface="Inter"/>
              </a:rPr>
              <a:t>Requêtes NoSQL sessions suspectes</a:t>
            </a:r>
          </a:p>
        </p:txBody>
      </p:sp>
    </p:spTree>
    <p:extLst>
      <p:ext uri="{BB962C8B-B14F-4D97-AF65-F5344CB8AC3E}">
        <p14:creationId xmlns:p14="http://schemas.microsoft.com/office/powerpoint/2010/main" val="1647344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ctrTitle" idx="4294967295"/>
          </p:nvPr>
        </p:nvSpPr>
        <p:spPr>
          <a:xfrm>
            <a:off x="1358971" y="1621844"/>
            <a:ext cx="6592218" cy="10300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5600" b="1" dirty="0">
                <a:solidFill>
                  <a:srgbClr val="0E3449"/>
                </a:solidFill>
                <a:latin typeface="Aptos" panose="020B0004020202020204" pitchFamily="34" charset="0"/>
                <a:ea typeface="Inter"/>
                <a:cs typeface="Inter"/>
                <a:sym typeface="Inter"/>
              </a:rPr>
              <a:t>Temps d’échange</a:t>
            </a:r>
            <a:endParaRPr sz="5600" b="1" dirty="0">
              <a:solidFill>
                <a:srgbClr val="0E3449"/>
              </a:solidFill>
              <a:latin typeface="Aptos" panose="020B0004020202020204" pitchFamily="34" charset="0"/>
              <a:ea typeface="Inter"/>
              <a:cs typeface="Inter"/>
              <a:sym typeface="Inter"/>
            </a:endParaRPr>
          </a:p>
        </p:txBody>
      </p:sp>
      <p:pic>
        <p:nvPicPr>
          <p:cNvPr id="111" name="Google Shape;111;p19"/>
          <p:cNvPicPr preferRelativeResize="0"/>
          <p:nvPr/>
        </p:nvPicPr>
        <p:blipFill>
          <a:blip r:embed="rId3">
            <a:alphaModFix/>
          </a:blip>
          <a:stretch>
            <a:fillRect/>
          </a:stretch>
        </p:blipFill>
        <p:spPr>
          <a:xfrm>
            <a:off x="3918625" y="3006625"/>
            <a:ext cx="4599299" cy="2136876"/>
          </a:xfrm>
          <a:prstGeom prst="rect">
            <a:avLst/>
          </a:prstGeom>
          <a:noFill/>
          <a:ln>
            <a:noFill/>
          </a:ln>
        </p:spPr>
      </p:pic>
      <p:pic>
        <p:nvPicPr>
          <p:cNvPr id="2" name="Google Shape;56;p13">
            <a:extLst>
              <a:ext uri="{FF2B5EF4-FFF2-40B4-BE49-F238E27FC236}">
                <a16:creationId xmlns:a16="http://schemas.microsoft.com/office/drawing/2014/main" id="{63257B83-5FC2-0173-AC28-A87C9F40D8A7}"/>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448</Words>
  <Application>Microsoft Office PowerPoint</Application>
  <PresentationFormat>Affichage à l'écran (16:9)</PresentationFormat>
  <Paragraphs>48</Paragraphs>
  <Slides>10</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Aptos</vt:lpstr>
      <vt:lpstr>Simple Light</vt:lpstr>
      <vt:lpstr>Projet</vt:lpstr>
      <vt:lpstr>Contexte du projet</vt:lpstr>
      <vt:lpstr>L’Architecture</vt:lpstr>
      <vt:lpstr>Diagramme entité-relation (ERD) </vt:lpstr>
      <vt:lpstr>L’OLAP </vt:lpstr>
      <vt:lpstr>Le NoSQL</vt:lpstr>
      <vt:lpstr>La Sécurité</vt:lpstr>
      <vt:lpstr>Intégration du ML</vt:lpstr>
      <vt:lpstr>Quelques requêtes SQL et NoSQL</vt:lpstr>
      <vt:lpstr>Temps d’échange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david jaoui</dc:creator>
  <cp:lastModifiedBy>david jaoui</cp:lastModifiedBy>
  <cp:revision>38</cp:revision>
  <dcterms:modified xsi:type="dcterms:W3CDTF">2025-12-17T13:50:43Z</dcterms:modified>
</cp:coreProperties>
</file>