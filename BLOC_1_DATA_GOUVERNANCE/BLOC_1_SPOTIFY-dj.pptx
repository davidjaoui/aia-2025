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81" r:id="rId3"/>
    <p:sldId id="274" r:id="rId4"/>
    <p:sldId id="288" r:id="rId5"/>
    <p:sldId id="290" r:id="rId6"/>
    <p:sldId id="264" r:id="rId7"/>
    <p:sldId id="276" r:id="rId8"/>
    <p:sldId id="277" r:id="rId9"/>
    <p:sldId id="278" r:id="rId10"/>
    <p:sldId id="279" r:id="rId11"/>
    <p:sldId id="261" r:id="rId12"/>
    <p:sldId id="284" r:id="rId13"/>
    <p:sldId id="287" r:id="rId14"/>
    <p:sldId id="262" r:id="rId1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2D2F"/>
    <a:srgbClr val="3FDAD2"/>
    <a:srgbClr val="FDD25D"/>
    <a:srgbClr val="7248F8"/>
    <a:srgbClr val="C3FF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559" autoAdjust="0"/>
  </p:normalViewPr>
  <p:slideViewPr>
    <p:cSldViewPr snapToGrid="0">
      <p:cViewPr>
        <p:scale>
          <a:sx n="75" d="100"/>
          <a:sy n="75" d="100"/>
        </p:scale>
        <p:origin x="1666" y="35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C04B894-06F1-570C-D71A-B0EC1204D3A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8A2E5CE2-2C3A-6EED-91E5-EB22A77E1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22D90CC6-B9E3-C944-00A3-323DB7172F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Spotify est une plateforme mondiale fortement orientée produit et data, qui exploite des volumes massifs de données utilisateurs en temps réel. </a:t>
            </a:r>
          </a:p>
          <a:p>
            <a:pPr marL="0" lvl="0" indent="0" algn="l" rtl="0">
              <a:lnSpc>
                <a:spcPct val="100000"/>
              </a:lnSpc>
              <a:spcBef>
                <a:spcPts val="0"/>
              </a:spcBef>
              <a:spcAft>
                <a:spcPts val="0"/>
              </a:spcAft>
              <a:buSzPts val="1100"/>
              <a:buNone/>
            </a:pPr>
            <a:r>
              <a:rPr lang="fr-FR" dirty="0"/>
              <a:t>Cette donnée est essentielle à la personnalisation, à la recommandation et à la prise de décision.</a:t>
            </a:r>
          </a:p>
          <a:p>
            <a:pPr marL="0" lvl="0" indent="0" algn="l" rtl="0">
              <a:lnSpc>
                <a:spcPct val="100000"/>
              </a:lnSpc>
              <a:spcBef>
                <a:spcPts val="0"/>
              </a:spcBef>
              <a:spcAft>
                <a:spcPts val="0"/>
              </a:spcAft>
              <a:buSzPts val="1100"/>
              <a:buNone/>
            </a:pPr>
            <a:r>
              <a:rPr lang="fr-FR" dirty="0"/>
              <a:t> Toutefois, elle reste aujourd’hui fragmentée entre équipes et régions, avec des pratiques hétérogènes </a:t>
            </a:r>
          </a:p>
          <a:p>
            <a:pPr marL="0" lvl="0" indent="0" algn="l" rtl="0">
              <a:lnSpc>
                <a:spcPct val="100000"/>
              </a:lnSpc>
              <a:spcBef>
                <a:spcPts val="0"/>
              </a:spcBef>
              <a:spcAft>
                <a:spcPts val="0"/>
              </a:spcAft>
              <a:buSzPts val="1100"/>
              <a:buNone/>
            </a:pPr>
            <a:r>
              <a:rPr lang="fr-FR" dirty="0"/>
              <a:t>en matière de gouvernance, de qualité et de conformité, ce qui limite la cohérence globale.</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L’objectif du projet est de structurer une gouvernance data globale permettant de garantir</a:t>
            </a:r>
          </a:p>
          <a:p>
            <a:pPr marL="0" lvl="0" indent="0" algn="l" rtl="0">
              <a:lnSpc>
                <a:spcPct val="100000"/>
              </a:lnSpc>
              <a:spcBef>
                <a:spcPts val="0"/>
              </a:spcBef>
              <a:spcAft>
                <a:spcPts val="0"/>
              </a:spcAft>
              <a:buSzPts val="1100"/>
              <a:buNone/>
            </a:pPr>
            <a:r>
              <a:rPr lang="fr-FR" dirty="0"/>
              <a:t> la fiabilité, la cohérence et la conformité des données, </a:t>
            </a:r>
          </a:p>
          <a:p>
            <a:pPr marL="0" lvl="0" indent="0" algn="l" rtl="0">
              <a:lnSpc>
                <a:spcPct val="100000"/>
              </a:lnSpc>
              <a:spcBef>
                <a:spcPts val="0"/>
              </a:spcBef>
              <a:spcAft>
                <a:spcPts val="0"/>
              </a:spcAft>
              <a:buSzPts val="1100"/>
              <a:buNone/>
            </a:pPr>
            <a:r>
              <a:rPr lang="fr-FR" dirty="0"/>
              <a:t>tout en préservant l’agilité des équipes produit.</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 La mise en place d’un Data Center of Excellence vise à transformer la donnée en un levier de valeur business durable à l’échelle de Spotify.</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7927916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C04B894-06F1-570C-D71A-B0EC1204D3A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8A2E5CE2-2C3A-6EED-91E5-EB22A77E19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22D90CC6-B9E3-C944-00A3-323DB7172F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Le projet est structuré en trois étapes :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100" dirty="0">
                <a:solidFill>
                  <a:schemeClr val="tx1">
                    <a:lumMod val="65000"/>
                    <a:lumOff val="35000"/>
                  </a:schemeClr>
                </a:solidFill>
                <a:latin typeface="Aptos" panose="020B0004020202020204" pitchFamily="34" charset="0"/>
              </a:rPr>
              <a:t>Analyser l’existant (organisation, outils, usages data) afin d’identifier les écarts de maturité et définir une vision cible de gouvernance data partagée.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sz="1100" dirty="0">
              <a:solidFill>
                <a:schemeClr val="tx1">
                  <a:lumMod val="65000"/>
                  <a:lumOff val="35000"/>
                </a:schemeClr>
              </a:solidFill>
              <a:latin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100" dirty="0">
                <a:solidFill>
                  <a:schemeClr val="tx1">
                    <a:lumMod val="65000"/>
                    <a:lumOff val="35000"/>
                  </a:schemeClr>
                </a:solidFill>
                <a:latin typeface="Aptos" panose="020B0004020202020204" pitchFamily="34" charset="0"/>
              </a:rPr>
              <a:t>Déployer un Data Center of Excellence et clarifier les rôles (CDO, Data Domain </a:t>
            </a:r>
            <a:r>
              <a:rPr lang="fr-FR" sz="1100" dirty="0" err="1">
                <a:solidFill>
                  <a:schemeClr val="tx1">
                    <a:lumMod val="65000"/>
                    <a:lumOff val="35000"/>
                  </a:schemeClr>
                </a:solidFill>
                <a:latin typeface="Aptos" panose="020B0004020202020204" pitchFamily="34" charset="0"/>
              </a:rPr>
              <a:t>Owners</a:t>
            </a:r>
            <a:r>
              <a:rPr lang="fr-FR" sz="1100" dirty="0">
                <a:solidFill>
                  <a:schemeClr val="tx1">
                    <a:lumMod val="65000"/>
                    <a:lumOff val="35000"/>
                  </a:schemeClr>
                </a:solidFill>
                <a:latin typeface="Aptos" panose="020B0004020202020204" pitchFamily="34" charset="0"/>
              </a:rPr>
              <a:t>, régions) pour structurer les standards, les méthodes et responsabilités.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sz="1100" dirty="0">
              <a:solidFill>
                <a:schemeClr val="tx1">
                  <a:lumMod val="65000"/>
                  <a:lumOff val="35000"/>
                </a:schemeClr>
              </a:solidFill>
              <a:latin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100" dirty="0">
                <a:solidFill>
                  <a:schemeClr val="tx1">
                    <a:lumMod val="65000"/>
                    <a:lumOff val="35000"/>
                  </a:schemeClr>
                </a:solidFill>
                <a:latin typeface="Aptos" panose="020B0004020202020204" pitchFamily="34" charset="0"/>
              </a:rPr>
              <a:t>Généraliser progressivement le modèle à l’ensemble des domaines et régions, mesurer les impacts business et assurer l’amélioration continue de la gouvernance</a:t>
            </a:r>
            <a:r>
              <a:rPr lang="fr-FR" sz="1100" dirty="0">
                <a:latin typeface="Aptos" panose="020B0004020202020204" pitchFamily="34" charset="0"/>
              </a:rPr>
              <a:t>.</a:t>
            </a:r>
            <a:br>
              <a:rPr lang="fr-FR" sz="1100" dirty="0">
                <a:solidFill>
                  <a:schemeClr val="tx1">
                    <a:lumMod val="65000"/>
                    <a:lumOff val="35000"/>
                  </a:schemeClr>
                </a:solidFill>
                <a:latin typeface="Aptos" panose="020B0004020202020204" pitchFamily="34" charset="0"/>
              </a:rPr>
            </a:b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la mise en place d’un modèle cible basé sur un Data Center of Excellence,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puis un déploiement progressif accompagné d’un pilotage dans la durée afin d’assurer l’adoption et la création de valeur.</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398422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f4f11f959e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L’évaluation de maturité positionne Spotify à un niveau </a:t>
            </a:r>
            <a:r>
              <a:rPr lang="fr-FR" dirty="0" err="1"/>
              <a:t>Managed</a:t>
            </a:r>
            <a:r>
              <a:rPr lang="fr-FR" dirty="0"/>
              <a:t>, avec une note de 3,2 sur 5.</a:t>
            </a:r>
          </a:p>
          <a:p>
            <a:pPr marL="0" lvl="0" indent="0" algn="l" rtl="0">
              <a:lnSpc>
                <a:spcPct val="100000"/>
              </a:lnSpc>
              <a:spcBef>
                <a:spcPts val="0"/>
              </a:spcBef>
              <a:spcAft>
                <a:spcPts val="0"/>
              </a:spcAft>
              <a:buSzPts val="1100"/>
              <a:buNone/>
            </a:pPr>
            <a:r>
              <a:rPr lang="fr-FR" dirty="0"/>
              <a:t>Les données sont largement utilisées pour améliorer les produits et les décisions, mais les processus restent principalement locaux, peu formalisés, et le soutien managérial est encore inégal selon les équipes.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Spotify montre une bonne compréhension de l’importance de la donnée et une capacité à résoudre des problématiques locales.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En revanche, l’absence de cadre global et de processus partagés empêche d’atteindre une efficacité maximale et limite l’impact stratégique de la data à l’échelle de l’organisation.</a:t>
            </a:r>
            <a:br>
              <a:rPr lang="fr-FR" dirty="0"/>
            </a:br>
            <a:br>
              <a:rPr lang="fr-FR" dirty="0"/>
            </a:br>
            <a:r>
              <a:rPr lang="fr-FR" dirty="0"/>
              <a:t>u niveau de l’environnement technique : il faudrait mettre en place une  Architecture hybride reposant sur des </a:t>
            </a:r>
            <a:r>
              <a:rPr lang="fr-FR" b="1" dirty="0"/>
              <a:t>Data </a:t>
            </a:r>
            <a:r>
              <a:rPr lang="fr-FR" b="1" dirty="0" err="1"/>
              <a:t>Lakes</a:t>
            </a:r>
            <a:r>
              <a:rPr lang="fr-FR" dirty="0"/>
              <a:t> massifs pour le stockage brut </a:t>
            </a:r>
          </a:p>
          <a:p>
            <a:pPr marL="0" lvl="0" indent="0" algn="l" rtl="0">
              <a:lnSpc>
                <a:spcPct val="100000"/>
              </a:lnSpc>
              <a:spcBef>
                <a:spcPts val="0"/>
              </a:spcBef>
              <a:spcAft>
                <a:spcPts val="0"/>
              </a:spcAft>
              <a:buSzPts val="1100"/>
              <a:buNone/>
            </a:pPr>
            <a:r>
              <a:rPr lang="fr-FR" dirty="0"/>
              <a:t>et des </a:t>
            </a:r>
            <a:r>
              <a:rPr lang="fr-FR" b="1" dirty="0"/>
              <a:t>systèmes Cloud</a:t>
            </a:r>
            <a:r>
              <a:rPr lang="fr-FR" dirty="0"/>
              <a:t> (Google Cloud Platform) pour le traitement distribué.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Cette complexité nécessite une gouvernance stricte pour éviter la formation de silos de données."</a:t>
            </a:r>
            <a:endParaRPr dirty="0"/>
          </a:p>
        </p:txBody>
      </p:sp>
    </p:spTree>
    <p:extLst>
      <p:ext uri="{BB962C8B-B14F-4D97-AF65-F5344CB8AC3E}">
        <p14:creationId xmlns:p14="http://schemas.microsoft.com/office/powerpoint/2010/main" val="1347919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f4f11f959e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br>
              <a:rPr lang="fr-FR" dirty="0"/>
            </a:br>
            <a:br>
              <a:rPr lang="fr-FR" dirty="0"/>
            </a:br>
            <a:r>
              <a:rPr lang="fr-FR" dirty="0"/>
              <a:t>Au niveau de l’environnement technique : il faudrait mettre en place une  Architecture hybride reposant sur des </a:t>
            </a:r>
            <a:r>
              <a:rPr lang="fr-FR" b="1" dirty="0"/>
              <a:t>Data </a:t>
            </a:r>
            <a:r>
              <a:rPr lang="fr-FR" b="1" dirty="0" err="1"/>
              <a:t>Lakes</a:t>
            </a:r>
            <a:r>
              <a:rPr lang="fr-FR" dirty="0"/>
              <a:t> massifs pour le stockage brut </a:t>
            </a:r>
          </a:p>
          <a:p>
            <a:pPr marL="0" lvl="0" indent="0" algn="l" rtl="0">
              <a:lnSpc>
                <a:spcPct val="100000"/>
              </a:lnSpc>
              <a:spcBef>
                <a:spcPts val="0"/>
              </a:spcBef>
              <a:spcAft>
                <a:spcPts val="0"/>
              </a:spcAft>
              <a:buSzPts val="1100"/>
              <a:buNone/>
            </a:pPr>
            <a:r>
              <a:rPr lang="fr-FR" dirty="0"/>
              <a:t>et des </a:t>
            </a:r>
            <a:r>
              <a:rPr lang="fr-FR" b="1" dirty="0"/>
              <a:t>systèmes Cloud</a:t>
            </a:r>
            <a:r>
              <a:rPr lang="fr-FR" dirty="0"/>
              <a:t> (Google Cloud Platform) pour le traitement distribué.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Cette complexité nécessite une gouvernance stricte pour éviter la formation de silos de données."</a:t>
            </a:r>
            <a:endParaRPr dirty="0"/>
          </a:p>
        </p:txBody>
      </p:sp>
    </p:spTree>
    <p:extLst>
      <p:ext uri="{BB962C8B-B14F-4D97-AF65-F5344CB8AC3E}">
        <p14:creationId xmlns:p14="http://schemas.microsoft.com/office/powerpoint/2010/main" val="41221159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Les forces de Spotify résident dans sa capacité analytique, son architecture data puissante et le rôle central de la qualité des données pour les recommandations. </a:t>
            </a:r>
          </a:p>
          <a:p>
            <a:pPr marL="0" lvl="0" indent="0" algn="l" rtl="0">
              <a:lnSpc>
                <a:spcPct val="100000"/>
              </a:lnSpc>
              <a:spcBef>
                <a:spcPts val="0"/>
              </a:spcBef>
              <a:spcAft>
                <a:spcPts val="0"/>
              </a:spcAft>
              <a:buSzPts val="1100"/>
              <a:buNone/>
            </a:pPr>
            <a:r>
              <a:rPr lang="fr-FR" dirty="0"/>
              <a:t>À l’inverse, la gouvernance fragmentée, la complexité de l’architecture, l’accès inégal aux données et l’hétérogénéité des compétences data constituent des freins majeurs.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Environnement  </a:t>
            </a:r>
            <a:r>
              <a:rPr lang="fr-FR" dirty="0" err="1"/>
              <a:t>technologiqueArchitecture</a:t>
            </a:r>
            <a:r>
              <a:rPr lang="fr-FR" dirty="0"/>
              <a:t> hybride reposant sur des </a:t>
            </a:r>
            <a:r>
              <a:rPr lang="fr-FR" b="1" dirty="0"/>
              <a:t>Data </a:t>
            </a:r>
            <a:r>
              <a:rPr lang="fr-FR" b="1" dirty="0" err="1"/>
              <a:t>Lakes</a:t>
            </a:r>
            <a:r>
              <a:rPr lang="fr-FR" dirty="0"/>
              <a:t> massifs pour le stockage brut et des </a:t>
            </a:r>
            <a:r>
              <a:rPr lang="fr-FR" b="1" dirty="0"/>
              <a:t>systèmes Cloud</a:t>
            </a:r>
            <a:r>
              <a:rPr lang="fr-FR" dirty="0"/>
              <a:t> (Google Cloud Platform) pour le traitement distribué. Cette complexité nécessite une gouvernance stricte pour éviter la formation de silos de données."</a:t>
            </a:r>
            <a:endParaRPr dirty="0"/>
          </a:p>
        </p:txBody>
      </p:sp>
    </p:spTree>
    <p:extLst>
      <p:ext uri="{BB962C8B-B14F-4D97-AF65-F5344CB8AC3E}">
        <p14:creationId xmlns:p14="http://schemas.microsoft.com/office/powerpoint/2010/main" val="901829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En synthèse, Spotify dispose d’un fort potentiel data mais souffre d’un manque de structuration transverse. </a:t>
            </a:r>
          </a:p>
          <a:p>
            <a:pPr marL="0" lvl="0" indent="0" algn="l" rtl="0">
              <a:lnSpc>
                <a:spcPct val="100000"/>
              </a:lnSpc>
              <a:spcBef>
                <a:spcPts val="0"/>
              </a:spcBef>
              <a:spcAft>
                <a:spcPts val="0"/>
              </a:spcAft>
              <a:buSzPts val="1100"/>
              <a:buNone/>
            </a:pPr>
            <a:r>
              <a:rPr lang="fr-FR" dirty="0"/>
              <a:t>Sans gouvernance unifiée, la qualité, la conformité et l’accessibilité des données dépendent encore trop des initiatives locales, ce qui limite la performance globale.</a:t>
            </a:r>
            <a:endParaRPr dirty="0"/>
          </a:p>
        </p:txBody>
      </p:sp>
    </p:spTree>
    <p:extLst>
      <p:ext uri="{BB962C8B-B14F-4D97-AF65-F5344CB8AC3E}">
        <p14:creationId xmlns:p14="http://schemas.microsoft.com/office/powerpoint/2010/main" val="20066691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La conformité réglementaire est un enjeu stratégique pour Spotify, notamment face au RGPD et au CCPA.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Une gouvernance insuffisante expose l’entreprise à des risques juridiques, financiers et réputationnels,  le risque financier de 4% du ca mondial est </a:t>
            </a:r>
            <a:r>
              <a:rPr lang="fr-FR" dirty="0" err="1"/>
              <a:t>tres</a:t>
            </a:r>
            <a:r>
              <a:rPr lang="fr-FR" dirty="0"/>
              <a:t> </a:t>
            </a:r>
            <a:r>
              <a:rPr lang="fr-FR" dirty="0" err="1"/>
              <a:t>tres</a:t>
            </a:r>
            <a:r>
              <a:rPr lang="fr-FR" dirty="0"/>
              <a:t> important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tout en pouvant affecter la confiance des utilisateurs, essentielle au modèle économique.</a:t>
            </a:r>
          </a:p>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9043140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Spotify dispose déjà d’une base solide en matière de conformité, mais plusieurs axes doivent être renforcés : </a:t>
            </a:r>
          </a:p>
          <a:p>
            <a:pPr marL="0" lvl="0" indent="0" algn="l" rtl="0">
              <a:lnSpc>
                <a:spcPct val="100000"/>
              </a:lnSpc>
              <a:spcBef>
                <a:spcPts val="0"/>
              </a:spcBef>
              <a:spcAft>
                <a:spcPts val="0"/>
              </a:spcAft>
              <a:buSzPts val="1100"/>
              <a:buNone/>
            </a:pPr>
            <a:r>
              <a:rPr lang="fr-FR" dirty="0"/>
              <a:t>la centralisation du consentement utilisateur,</a:t>
            </a:r>
          </a:p>
          <a:p>
            <a:pPr marL="0" lvl="0" indent="0" algn="l" rtl="0">
              <a:lnSpc>
                <a:spcPct val="100000"/>
              </a:lnSpc>
              <a:spcBef>
                <a:spcPts val="0"/>
              </a:spcBef>
              <a:spcAft>
                <a:spcPts val="0"/>
              </a:spcAft>
              <a:buSzPts val="1100"/>
              <a:buNone/>
            </a:pPr>
            <a:r>
              <a:rPr lang="fr-FR" dirty="0"/>
              <a:t>la clarification des mécanismes d’opt-out, (droit donné à un utilisateur de refuser ou d’arrêter certains usages de ses données personnelles)</a:t>
            </a:r>
          </a:p>
          <a:p>
            <a:pPr marL="0" lvl="0" indent="0" algn="l" rtl="0">
              <a:lnSpc>
                <a:spcPct val="100000"/>
              </a:lnSpc>
              <a:spcBef>
                <a:spcPts val="0"/>
              </a:spcBef>
              <a:spcAft>
                <a:spcPts val="0"/>
              </a:spcAft>
              <a:buSzPts val="1100"/>
              <a:buNone/>
            </a:pPr>
            <a:r>
              <a:rPr lang="fr-FR" dirty="0"/>
              <a:t>la formalisation des tests de sécurité </a:t>
            </a:r>
          </a:p>
          <a:p>
            <a:pPr marL="0" lvl="0" indent="0" algn="l" rtl="0">
              <a:lnSpc>
                <a:spcPct val="100000"/>
              </a:lnSpc>
              <a:spcBef>
                <a:spcPts val="0"/>
              </a:spcBef>
              <a:spcAft>
                <a:spcPts val="0"/>
              </a:spcAft>
              <a:buSzPts val="1100"/>
              <a:buNone/>
            </a:pPr>
            <a:r>
              <a:rPr lang="fr-FR" dirty="0"/>
              <a:t>et la formation régulière des équipes.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L’objectif est d’ancrer le </a:t>
            </a:r>
            <a:r>
              <a:rPr lang="fr-FR" dirty="0" err="1"/>
              <a:t>privacy</a:t>
            </a:r>
            <a:r>
              <a:rPr lang="fr-FR" dirty="0"/>
              <a:t> by design dans les pratiques data.</a:t>
            </a:r>
            <a:endParaRPr dirty="0"/>
          </a:p>
        </p:txBody>
      </p:sp>
    </p:spTree>
    <p:extLst>
      <p:ext uri="{BB962C8B-B14F-4D97-AF65-F5344CB8AC3E}">
        <p14:creationId xmlns:p14="http://schemas.microsoft.com/office/powerpoint/2010/main" val="40302450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a:extLst>
            <a:ext uri="{FF2B5EF4-FFF2-40B4-BE49-F238E27FC236}">
              <a16:creationId xmlns:a16="http://schemas.microsoft.com/office/drawing/2014/main" id="{D18D8B3B-7B1A-28AD-1F38-28EE64633811}"/>
            </a:ext>
          </a:extLst>
        </p:cNvPr>
        <p:cNvGrpSpPr/>
        <p:nvPr/>
      </p:nvGrpSpPr>
      <p:grpSpPr>
        <a:xfrm>
          <a:off x="0" y="0"/>
          <a:ext cx="0" cy="0"/>
          <a:chOff x="0" y="0"/>
          <a:chExt cx="0" cy="0"/>
        </a:xfrm>
      </p:grpSpPr>
      <p:sp>
        <p:nvSpPr>
          <p:cNvPr id="91" name="Google Shape;91;gf4f11f959e_0_29:notes">
            <a:extLst>
              <a:ext uri="{FF2B5EF4-FFF2-40B4-BE49-F238E27FC236}">
                <a16:creationId xmlns:a16="http://schemas.microsoft.com/office/drawing/2014/main" id="{3F548A22-368D-240C-755D-9A8D825BFC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gf4f11f959e_0_29:notes">
            <a:extLst>
              <a:ext uri="{FF2B5EF4-FFF2-40B4-BE49-F238E27FC236}">
                <a16:creationId xmlns:a16="http://schemas.microsoft.com/office/drawing/2014/main" id="{D3A90892-E0E5-A598-D4FA-B64B1DDD5BE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 modèle cible repose sur l’évolution du modèle </a:t>
            </a:r>
            <a:r>
              <a:rPr lang="fr-FR" dirty="0" err="1"/>
              <a:t>embedded</a:t>
            </a:r>
            <a:r>
              <a:rPr lang="fr-FR" dirty="0"/>
              <a:t> actuel vers un Data Center of Excellence. </a:t>
            </a:r>
          </a:p>
          <a:p>
            <a:pPr marL="0" lvl="0" indent="0" algn="l" rtl="0">
              <a:lnSpc>
                <a:spcPct val="100000"/>
              </a:lnSpc>
              <a:spcBef>
                <a:spcPts val="0"/>
              </a:spcBef>
              <a:spcAft>
                <a:spcPts val="0"/>
              </a:spcAft>
              <a:buSzPts val="1100"/>
              <a:buNone/>
            </a:pPr>
            <a:r>
              <a:rPr lang="fr-FR" dirty="0"/>
              <a:t>Ce </a:t>
            </a:r>
            <a:r>
              <a:rPr lang="fr-FR" dirty="0" err="1"/>
              <a:t>CoE</a:t>
            </a:r>
            <a:r>
              <a:rPr lang="fr-FR" dirty="0"/>
              <a:t> définit </a:t>
            </a:r>
          </a:p>
          <a:p>
            <a:pPr marL="0" lvl="0" indent="0" algn="l" rtl="0">
              <a:lnSpc>
                <a:spcPct val="100000"/>
              </a:lnSpc>
              <a:spcBef>
                <a:spcPts val="0"/>
              </a:spcBef>
              <a:spcAft>
                <a:spcPts val="0"/>
              </a:spcAft>
              <a:buSzPts val="1100"/>
              <a:buNone/>
            </a:pPr>
            <a:r>
              <a:rPr lang="fr-FR" dirty="0"/>
              <a:t>les règles communes, les standards et un socle d’outil communs: </a:t>
            </a:r>
          </a:p>
          <a:p>
            <a:pPr marL="0" lvl="0" indent="0" algn="l" rtl="0">
              <a:lnSpc>
                <a:spcPct val="100000"/>
              </a:lnSpc>
              <a:spcBef>
                <a:spcPts val="0"/>
              </a:spcBef>
              <a:spcAft>
                <a:spcPts val="0"/>
              </a:spcAft>
              <a:buSzPts val="1100"/>
              <a:buNone/>
            </a:pPr>
            <a:r>
              <a:rPr lang="fr-FR" dirty="0"/>
              <a:t>catalogage/qualité et contrôle / gestion des accès, pour garantir des pratiques homogènes.,</a:t>
            </a:r>
          </a:p>
          <a:p>
            <a:pPr marL="0" lvl="0" indent="0" algn="l" rtl="0">
              <a:lnSpc>
                <a:spcPct val="100000"/>
              </a:lnSpc>
              <a:spcBef>
                <a:spcPts val="0"/>
              </a:spcBef>
              <a:spcAft>
                <a:spcPts val="0"/>
              </a:spcAft>
              <a:buSzPts val="1100"/>
              <a:buNone/>
            </a:pPr>
            <a:r>
              <a:rPr lang="fr-FR" dirty="0"/>
              <a:t> tout en testant le dispositif sur des périmètres clés </a:t>
            </a:r>
          </a:p>
          <a:p>
            <a:pPr marL="0" lvl="0" indent="0" algn="l" rtl="0">
              <a:lnSpc>
                <a:spcPct val="100000"/>
              </a:lnSpc>
              <a:spcBef>
                <a:spcPts val="0"/>
              </a:spcBef>
              <a:spcAft>
                <a:spcPts val="0"/>
              </a:spcAft>
              <a:buSzPts val="1100"/>
              <a:buNone/>
            </a:pPr>
            <a:r>
              <a:rPr lang="fr-FR" dirty="0"/>
              <a:t>avant généralisation, afin de sécuriser l’adoption.</a:t>
            </a:r>
            <a:endParaRPr dirty="0"/>
          </a:p>
        </p:txBody>
      </p:sp>
    </p:spTree>
    <p:extLst>
      <p:ext uri="{BB962C8B-B14F-4D97-AF65-F5344CB8AC3E}">
        <p14:creationId xmlns:p14="http://schemas.microsoft.com/office/powerpoint/2010/main" val="1991714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L’organisation cible clarifie les rôles entre le CDO, les Data Domain </a:t>
            </a:r>
            <a:r>
              <a:rPr lang="fr-FR" dirty="0" err="1"/>
              <a:t>Owners</a:t>
            </a:r>
            <a:r>
              <a:rPr lang="fr-FR" dirty="0"/>
              <a:t> et les équipes régionales.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Cette répartition permet d’assurer une gouvernance transverse tout en conservant la proximité métier nécessaire à l’agilité et à l’efficacité opérationnelle.</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La première priorité lors du déploiement d’un Centre d’Excellence data est de clarifier les rôles et les responsabilités, afin d’éviter toute ambiguïté organisationnelle. Ensuite, il est essentiel d’obtenir l’adhésion des équipes métiers et locales, car le </a:t>
            </a:r>
            <a:r>
              <a:rPr lang="fr-FR" dirty="0" err="1"/>
              <a:t>CoE</a:t>
            </a:r>
            <a:r>
              <a:rPr lang="fr-FR" dirty="0"/>
              <a:t> ne peut fonctionner sans leur engagement. Une fois ce cadre posé, l’enjeu est de définir un niveau de standardisation suffisant pour harmoniser les pratiques, tout en préservant l’agilité des équipes produit. Il faut également veiller à ne pas tomber dans une centralisation excessive, en maintenant l’exécution au plus près des besoins opérationnels. La démonstration rapide de la valeur business est ensuite déterminante pour légitimer le </a:t>
            </a:r>
            <a:r>
              <a:rPr lang="fr-FR" dirty="0" err="1"/>
              <a:t>CoE</a:t>
            </a:r>
            <a:r>
              <a:rPr lang="fr-FR" dirty="0"/>
              <a:t>. Enfin, le modèle doit intégrer les contraintes réglementaires et régionales, et être piloté dans la durée à l’aide d’indicateurs clairs et partagés.</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b="1" dirty="0"/>
              <a:t>Ou selon le tps dispo</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Le déploiement du modèle soulève plusieurs enjeux clés : clarifier les responsabilités dès le lancement, assurer l’adhésion des équipes locales, standardiser sans freiner l’innovation, éviter une centralisation excessive du </a:t>
            </a:r>
            <a:r>
              <a:rPr lang="fr-FR" dirty="0" err="1"/>
              <a:t>CoE</a:t>
            </a:r>
            <a:r>
              <a:rPr lang="fr-FR" dirty="0"/>
              <a:t> et démontrer rapidement la valeur business du dispositif.</a:t>
            </a:r>
            <a:endParaRPr dirty="0"/>
          </a:p>
        </p:txBody>
      </p:sp>
    </p:spTree>
    <p:extLst>
      <p:ext uri="{BB962C8B-B14F-4D97-AF65-F5344CB8AC3E}">
        <p14:creationId xmlns:p14="http://schemas.microsoft.com/office/powerpoint/2010/main" val="24130664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fr-FR" dirty="0"/>
              <a:t>Le déploiement du Data Center of Excellence s’appuie sur une approche progressive en trois phases afin de sécuriser l’adoption et démontrer rapidement la valeur business.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 première phase, entre 0 et 3 mois, vise à poser les fondations : comprendre l’existant, cartographier les données, auditer les KPI et définir clairement le rôle du </a:t>
            </a:r>
            <a:r>
              <a:rPr lang="fr-FR" dirty="0" err="1"/>
              <a:t>CoE</a:t>
            </a:r>
            <a:r>
              <a:rPr lang="fr-FR" dirty="0"/>
              <a:t>, afin de construire une vision partagée et un cadre commun.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 seconde phase, de 4 à 8 mois, correspond au lancement opérationnel avec un </a:t>
            </a:r>
            <a:r>
              <a:rPr lang="fr-FR" dirty="0" err="1"/>
              <a:t>CoE</a:t>
            </a:r>
            <a:r>
              <a:rPr lang="fr-FR" dirty="0"/>
              <a:t> volontairement léger, avec </a:t>
            </a:r>
          </a:p>
          <a:p>
            <a:pPr marL="0" lvl="0" indent="0" algn="l" rtl="0">
              <a:lnSpc>
                <a:spcPct val="100000"/>
              </a:lnSpc>
              <a:spcBef>
                <a:spcPts val="0"/>
              </a:spcBef>
              <a:spcAft>
                <a:spcPts val="0"/>
              </a:spcAft>
              <a:buSzPts val="1100"/>
              <a:buNone/>
            </a:pPr>
            <a:r>
              <a:rPr lang="fr-FR" dirty="0"/>
              <a:t>la mise en place d’outils communs de gouvernance </a:t>
            </a:r>
          </a:p>
          <a:p>
            <a:pPr marL="0" lvl="0" indent="0" algn="l" rtl="0">
              <a:lnSpc>
                <a:spcPct val="100000"/>
              </a:lnSpc>
              <a:spcBef>
                <a:spcPts val="0"/>
              </a:spcBef>
              <a:spcAft>
                <a:spcPts val="0"/>
              </a:spcAft>
              <a:buSzPts val="1100"/>
              <a:buNone/>
            </a:pPr>
            <a:r>
              <a:rPr lang="fr-FR" dirty="0"/>
              <a:t>et des pilotes sur deux à trois domaines clés, </a:t>
            </a:r>
          </a:p>
          <a:p>
            <a:pPr marL="0" lvl="0" indent="0" algn="l" rtl="0">
              <a:lnSpc>
                <a:spcPct val="100000"/>
              </a:lnSpc>
              <a:spcBef>
                <a:spcPts val="0"/>
              </a:spcBef>
              <a:spcAft>
                <a:spcPts val="0"/>
              </a:spcAft>
              <a:buSzPts val="1100"/>
              <a:buNone/>
            </a:pPr>
            <a:r>
              <a:rPr lang="fr-FR" dirty="0"/>
              <a:t>Qui permettent d’apporter une preuve de valeur concrète.</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 Enfin, à partir du neuvième mois, la phase de déploiement et de pérennisation permet d’étendre le modèle à l’ensemble des domaines, d’harmoniser les KPI et d’installer une logique d’audit et d’amélioration continue, avec pour objectif final une maturité data à l’échelle de Spotify.</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Pour conclure, ce projet de gouvernance data vise avant tout à transformer la richesse data de Spotify en un levier de performance durable.</a:t>
            </a:r>
          </a:p>
          <a:p>
            <a:pPr marL="0" lvl="0" indent="0" algn="l" rtl="0">
              <a:lnSpc>
                <a:spcPct val="100000"/>
              </a:lnSpc>
              <a:spcBef>
                <a:spcPts val="0"/>
              </a:spcBef>
              <a:spcAft>
                <a:spcPts val="0"/>
              </a:spcAft>
              <a:buSzPts val="1100"/>
              <a:buNone/>
            </a:pPr>
            <a:r>
              <a:rPr lang="fr-FR" dirty="0"/>
              <a:t> En structurant les pratiques autour d’un Data Center of Excellence, Spotify peut renforcer</a:t>
            </a:r>
          </a:p>
          <a:p>
            <a:pPr marL="0" lvl="0" indent="0" algn="l" rtl="0">
              <a:lnSpc>
                <a:spcPct val="100000"/>
              </a:lnSpc>
              <a:spcBef>
                <a:spcPts val="0"/>
              </a:spcBef>
              <a:spcAft>
                <a:spcPts val="0"/>
              </a:spcAft>
              <a:buSzPts val="1100"/>
              <a:buNone/>
            </a:pPr>
            <a:r>
              <a:rPr lang="fr-FR" dirty="0"/>
              <a:t> la qualité, l</a:t>
            </a:r>
          </a:p>
          <a:p>
            <a:pPr marL="0" lvl="0" indent="0" algn="l" rtl="0">
              <a:lnSpc>
                <a:spcPct val="100000"/>
              </a:lnSpc>
              <a:spcBef>
                <a:spcPts val="0"/>
              </a:spcBef>
              <a:spcAft>
                <a:spcPts val="0"/>
              </a:spcAft>
              <a:buSzPts val="1100"/>
              <a:buNone/>
            </a:pPr>
            <a:r>
              <a:rPr lang="fr-FR" dirty="0"/>
              <a:t>a conformité </a:t>
            </a:r>
          </a:p>
          <a:p>
            <a:pPr marL="0" lvl="0" indent="0" algn="l" rtl="0">
              <a:lnSpc>
                <a:spcPct val="100000"/>
              </a:lnSpc>
              <a:spcBef>
                <a:spcPts val="0"/>
              </a:spcBef>
              <a:spcAft>
                <a:spcPts val="0"/>
              </a:spcAft>
              <a:buSzPts val="1100"/>
              <a:buNone/>
            </a:pPr>
            <a:r>
              <a:rPr lang="fr-FR" dirty="0"/>
              <a:t>et la cohérence de ses données, sans remettre en cause l’agilité qui fait la force de ses équipes produit. </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L’approche progressive proposée permet de </a:t>
            </a:r>
          </a:p>
          <a:p>
            <a:pPr marL="0" lvl="0" indent="0" algn="l" rtl="0">
              <a:lnSpc>
                <a:spcPct val="100000"/>
              </a:lnSpc>
              <a:spcBef>
                <a:spcPts val="0"/>
              </a:spcBef>
              <a:spcAft>
                <a:spcPts val="0"/>
              </a:spcAft>
              <a:buSzPts val="1100"/>
              <a:buNone/>
            </a:pPr>
            <a:r>
              <a:rPr lang="fr-FR" dirty="0"/>
              <a:t>sécuriser le déploiement, </a:t>
            </a:r>
          </a:p>
          <a:p>
            <a:pPr marL="0" lvl="0" indent="0" algn="l" rtl="0">
              <a:lnSpc>
                <a:spcPct val="100000"/>
              </a:lnSpc>
              <a:spcBef>
                <a:spcPts val="0"/>
              </a:spcBef>
              <a:spcAft>
                <a:spcPts val="0"/>
              </a:spcAft>
              <a:buSzPts val="1100"/>
              <a:buNone/>
            </a:pPr>
            <a:r>
              <a:rPr lang="fr-FR" dirty="0"/>
              <a:t>de démontrer rapidement la valeur business </a:t>
            </a:r>
          </a:p>
          <a:p>
            <a:pPr marL="0" lvl="0" indent="0" algn="l" rtl="0">
              <a:lnSpc>
                <a:spcPct val="100000"/>
              </a:lnSpc>
              <a:spcBef>
                <a:spcPts val="0"/>
              </a:spcBef>
              <a:spcAft>
                <a:spcPts val="0"/>
              </a:spcAft>
              <a:buSzPts val="1100"/>
              <a:buNone/>
            </a:pPr>
            <a:r>
              <a:rPr lang="fr-FR" dirty="0"/>
              <a:t>et d’inscrire la gouvernance data dans la durée.</a:t>
            </a:r>
          </a:p>
          <a:p>
            <a:pPr marL="0" lvl="0" indent="0" algn="l" rtl="0">
              <a:lnSpc>
                <a:spcPct val="100000"/>
              </a:lnSpc>
              <a:spcBef>
                <a:spcPts val="0"/>
              </a:spcBef>
              <a:spcAft>
                <a:spcPts val="0"/>
              </a:spcAft>
              <a:buSzPts val="1100"/>
              <a:buNone/>
            </a:pPr>
            <a:endParaRPr lang="fr-FR" dirty="0"/>
          </a:p>
          <a:p>
            <a:pPr marL="0" lvl="0" indent="0" algn="l" rtl="0">
              <a:lnSpc>
                <a:spcPct val="100000"/>
              </a:lnSpc>
              <a:spcBef>
                <a:spcPts val="0"/>
              </a:spcBef>
              <a:spcAft>
                <a:spcPts val="0"/>
              </a:spcAft>
              <a:buSzPts val="1100"/>
              <a:buNone/>
            </a:pPr>
            <a:r>
              <a:rPr lang="fr-FR" dirty="0"/>
              <a:t> Ainsi, la gouvernance n’est pas un frein à l’innovation, mais un accélérateur de confiance, d’efficacité et de création de valeur à l’échelle mondiale</a:t>
            </a:r>
            <a:endParaRPr dirty="0"/>
          </a:p>
        </p:txBody>
      </p:sp>
    </p:spTree>
    <p:extLst>
      <p:ext uri="{BB962C8B-B14F-4D97-AF65-F5344CB8AC3E}">
        <p14:creationId xmlns:p14="http://schemas.microsoft.com/office/powerpoint/2010/main" val="1434354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emf"/><Relationship Id="rId5" Type="http://schemas.openxmlformats.org/officeDocument/2006/relationships/package" Target="../embeddings/Microsoft_Excel_Worksheet.xlsx"/><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emf"/></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github.com/Davidjaoui/AIA-2025/blob/main/BLOC_1_DATA_GOUVERNANCE/02%20Rapport%20de%20maturit%C3%A9%20data%20.pdf"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5.emf"/></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github.com/Davidjaoui/AIA-2025/blob/main/BLOC_1_DATA_GOUVERNANCE/05%20Data%20Gouvernance%20Policy.pdf" TargetMode="Externa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github.com/Davidjaoui/AIA-2025/blob/main/BLOC_1_DATA_GOUVERNANCE/06%20plan%20d'implementation%203_etapes.pdf" TargetMode="Externa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708992" y="712713"/>
            <a:ext cx="1726016" cy="61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4400" b="1" dirty="0">
                <a:solidFill>
                  <a:schemeClr val="tx1"/>
                </a:solidFill>
                <a:latin typeface="Aptos" panose="020B0004020202020204" pitchFamily="34" charset="0"/>
                <a:ea typeface="Inter Medium"/>
                <a:sym typeface="Inter SemiBold"/>
              </a:rPr>
              <a:t>Projet</a:t>
            </a:r>
            <a:endParaRPr sz="4400" b="1" dirty="0">
              <a:solidFill>
                <a:schemeClr val="tx1"/>
              </a:solidFill>
              <a:latin typeface="Aptos" panose="020B0004020202020204" pitchFamily="34" charset="0"/>
              <a:ea typeface="Inter Medium"/>
              <a:sym typeface="Inter SemiBold"/>
            </a:endParaRPr>
          </a:p>
        </p:txBody>
      </p:sp>
      <p:pic>
        <p:nvPicPr>
          <p:cNvPr id="56" name="Google Shape;56;p13"/>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57" name="Google Shape;57;p13"/>
          <p:cNvSpPr txBox="1">
            <a:spLocks noGrp="1"/>
          </p:cNvSpPr>
          <p:nvPr>
            <p:ph type="ctrTitle"/>
          </p:nvPr>
        </p:nvSpPr>
        <p:spPr>
          <a:xfrm>
            <a:off x="1914449" y="3783490"/>
            <a:ext cx="5315102" cy="832139"/>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fr" sz="4400" b="1" dirty="0">
                <a:solidFill>
                  <a:schemeClr val="tx1"/>
                </a:solidFill>
                <a:latin typeface="Aptos" panose="020B0004020202020204" pitchFamily="34" charset="0"/>
                <a:ea typeface="Inter Medium"/>
                <a:cs typeface="Inter Medium"/>
                <a:sym typeface="Inter Medium"/>
              </a:rPr>
              <a:t>Data Gouvernance</a:t>
            </a:r>
            <a:endParaRPr sz="4400" b="1" dirty="0">
              <a:solidFill>
                <a:schemeClr val="tx1"/>
              </a:solidFill>
              <a:latin typeface="Aptos" panose="020B0004020202020204" pitchFamily="34" charset="0"/>
              <a:ea typeface="Inter Medium"/>
              <a:cs typeface="Inter Medium"/>
              <a:sym typeface="Inter Medium"/>
            </a:endParaRPr>
          </a:p>
        </p:txBody>
      </p:sp>
      <p:pic>
        <p:nvPicPr>
          <p:cNvPr id="5" name="Image 4">
            <a:extLst>
              <a:ext uri="{FF2B5EF4-FFF2-40B4-BE49-F238E27FC236}">
                <a16:creationId xmlns:a16="http://schemas.microsoft.com/office/drawing/2014/main" id="{C699ED71-FF27-F777-6420-EF8CE08C1AD0}"/>
              </a:ext>
            </a:extLst>
          </p:cNvPr>
          <p:cNvPicPr>
            <a:picLocks noChangeAspect="1"/>
          </p:cNvPicPr>
          <p:nvPr/>
        </p:nvPicPr>
        <p:blipFill>
          <a:blip r:embed="rId4"/>
          <a:stretch>
            <a:fillRect/>
          </a:stretch>
        </p:blipFill>
        <p:spPr>
          <a:xfrm>
            <a:off x="2153467" y="1641331"/>
            <a:ext cx="4837065" cy="14511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80">
          <a:extLst>
            <a:ext uri="{FF2B5EF4-FFF2-40B4-BE49-F238E27FC236}">
              <a16:creationId xmlns:a16="http://schemas.microsoft.com/office/drawing/2014/main" id="{83C140B6-A3CA-6AB9-FDFA-0920AA2E86C8}"/>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0061F83D-46D6-88DB-E750-8C2BFD677B85}"/>
              </a:ext>
            </a:extLst>
          </p:cNvPr>
          <p:cNvSpPr/>
          <p:nvPr/>
        </p:nvSpPr>
        <p:spPr>
          <a:xfrm>
            <a:off x="-126879" y="-8850"/>
            <a:ext cx="3335400"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82" name="Google Shape;82;p16">
            <a:extLst>
              <a:ext uri="{FF2B5EF4-FFF2-40B4-BE49-F238E27FC236}">
                <a16:creationId xmlns:a16="http://schemas.microsoft.com/office/drawing/2014/main" id="{3CFAE3BB-29CE-41A1-DFE6-4170695F9169}"/>
              </a:ext>
            </a:extLst>
          </p:cNvPr>
          <p:cNvSpPr txBox="1">
            <a:spLocks noGrp="1"/>
          </p:cNvSpPr>
          <p:nvPr>
            <p:ph type="title"/>
          </p:nvPr>
        </p:nvSpPr>
        <p:spPr>
          <a:xfrm>
            <a:off x="129343" y="1920634"/>
            <a:ext cx="2513100" cy="909652"/>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fr" sz="2400" b="1" dirty="0">
                <a:solidFill>
                  <a:schemeClr val="tx1">
                    <a:lumMod val="65000"/>
                    <a:lumOff val="35000"/>
                  </a:schemeClr>
                </a:solidFill>
                <a:latin typeface="Aptos" panose="020B0004020202020204" pitchFamily="34" charset="0"/>
                <a:ea typeface="Inter"/>
                <a:cs typeface="Inter"/>
                <a:sym typeface="Inter"/>
              </a:rPr>
              <a:t>Contexte du projet</a:t>
            </a:r>
            <a:endParaRPr sz="2400" b="1" dirty="0">
              <a:solidFill>
                <a:schemeClr val="tx1">
                  <a:lumMod val="65000"/>
                  <a:lumOff val="35000"/>
                </a:schemeClr>
              </a:solidFill>
              <a:latin typeface="Aptos" panose="020B0004020202020204" pitchFamily="34" charset="0"/>
              <a:ea typeface="Inter"/>
              <a:cs typeface="Inter"/>
              <a:sym typeface="Inter"/>
            </a:endParaRPr>
          </a:p>
        </p:txBody>
      </p:sp>
      <p:sp>
        <p:nvSpPr>
          <p:cNvPr id="84" name="Google Shape;84;p16">
            <a:extLst>
              <a:ext uri="{FF2B5EF4-FFF2-40B4-BE49-F238E27FC236}">
                <a16:creationId xmlns:a16="http://schemas.microsoft.com/office/drawing/2014/main" id="{C1E338F8-25DE-A367-B69B-21AE27098E3C}"/>
              </a:ext>
            </a:extLst>
          </p:cNvPr>
          <p:cNvSpPr txBox="1">
            <a:spLocks noGrp="1"/>
          </p:cNvSpPr>
          <p:nvPr>
            <p:ph type="ctrTitle" idx="4294967295"/>
          </p:nvPr>
        </p:nvSpPr>
        <p:spPr>
          <a:xfrm>
            <a:off x="4158296" y="630758"/>
            <a:ext cx="4729395" cy="4038896"/>
          </a:xfrm>
          <a:prstGeom prst="rect">
            <a:avLst/>
          </a:prstGeom>
          <a:noFill/>
          <a:ln>
            <a:noFill/>
          </a:ln>
        </p:spPr>
        <p:txBody>
          <a:bodyPr spcFirstLastPara="1" wrap="square" lIns="91425" tIns="91425" rIns="91425" bIns="91425" anchor="t" anchorCtr="0">
            <a:noAutofit/>
          </a:bodyPr>
          <a:lstStyle/>
          <a:p>
            <a:r>
              <a:rPr lang="fr-FR" sz="1500" b="1" dirty="0">
                <a:solidFill>
                  <a:schemeClr val="tx1">
                    <a:lumMod val="65000"/>
                    <a:lumOff val="35000"/>
                  </a:schemeClr>
                </a:solidFill>
                <a:latin typeface="Aptos" panose="020B0004020202020204" pitchFamily="34" charset="0"/>
              </a:rPr>
              <a:t>Contexte actuel de Spotify</a:t>
            </a:r>
            <a:br>
              <a:rPr lang="fr-FR" sz="1500" b="1" dirty="0">
                <a:solidFill>
                  <a:schemeClr val="tx1">
                    <a:lumMod val="65000"/>
                    <a:lumOff val="35000"/>
                  </a:schemeClr>
                </a:solidFill>
                <a:latin typeface="Aptos" panose="020B0004020202020204" pitchFamily="34" charset="0"/>
              </a:rPr>
            </a:br>
            <a:br>
              <a:rPr lang="fr-FR" sz="1100" b="1" dirty="0"/>
            </a:br>
            <a:r>
              <a:rPr lang="fr-FR" sz="1200" dirty="0" err="1">
                <a:solidFill>
                  <a:schemeClr val="tx1">
                    <a:lumMod val="65000"/>
                    <a:lumOff val="35000"/>
                  </a:schemeClr>
                </a:solidFill>
                <a:latin typeface="Aptos" panose="020B0004020202020204" pitchFamily="34" charset="0"/>
              </a:rPr>
              <a:t>Spotify</a:t>
            </a:r>
            <a:r>
              <a:rPr lang="fr-FR" sz="1200" dirty="0">
                <a:solidFill>
                  <a:schemeClr val="tx1">
                    <a:lumMod val="65000"/>
                    <a:lumOff val="35000"/>
                  </a:schemeClr>
                </a:solidFill>
                <a:latin typeface="Aptos" panose="020B0004020202020204" pitchFamily="34" charset="0"/>
              </a:rPr>
              <a:t> est une plateforme mondiale fortement orientée produit et data, exploitant des volumes massifs de données en temps réel. </a:t>
            </a:r>
            <a:br>
              <a:rPr lang="fr-FR" sz="12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r>
              <a:rPr lang="fr-FR" sz="1200" dirty="0">
                <a:solidFill>
                  <a:schemeClr val="tx1">
                    <a:lumMod val="65000"/>
                    <a:lumOff val="35000"/>
                  </a:schemeClr>
                </a:solidFill>
                <a:latin typeface="Aptos" panose="020B0004020202020204" pitchFamily="34" charset="0"/>
              </a:rPr>
              <a:t>Ces données restent fragmentées entre équipes et régions, avec des pratiques hétérogènes. </a:t>
            </a:r>
            <a:br>
              <a:rPr lang="fr-FR" sz="1200" dirty="0">
                <a:solidFill>
                  <a:schemeClr val="tx1">
                    <a:lumMod val="65000"/>
                    <a:lumOff val="35000"/>
                  </a:schemeClr>
                </a:solidFill>
                <a:latin typeface="Aptos" panose="020B0004020202020204" pitchFamily="34" charset="0"/>
              </a:rPr>
            </a:br>
            <a:br>
              <a:rPr lang="fr-FR" sz="1200" dirty="0">
                <a:solidFill>
                  <a:schemeClr val="tx1">
                    <a:lumMod val="65000"/>
                    <a:lumOff val="35000"/>
                  </a:schemeClr>
                </a:solidFill>
                <a:latin typeface="Aptos" panose="020B0004020202020204" pitchFamily="34" charset="0"/>
              </a:rPr>
            </a:br>
            <a:r>
              <a:rPr lang="fr-FR" sz="1200" dirty="0">
                <a:solidFill>
                  <a:schemeClr val="tx1">
                    <a:lumMod val="65000"/>
                    <a:lumOff val="35000"/>
                  </a:schemeClr>
                </a:solidFill>
                <a:latin typeface="Aptos" panose="020B0004020202020204" pitchFamily="34" charset="0"/>
              </a:rPr>
              <a:t>Un cadre commun est nécessaire pour structurer standards, méthodes et responsabilités.</a:t>
            </a:r>
            <a:br>
              <a:rPr lang="fr-FR" sz="1200" dirty="0">
                <a:latin typeface="Aptos" panose="020B0004020202020204" pitchFamily="34" charset="0"/>
              </a:rPr>
            </a:br>
            <a:br>
              <a:rPr lang="fr-FR" sz="1200" dirty="0">
                <a:latin typeface="Aptos" panose="020B0004020202020204" pitchFamily="34" charset="0"/>
              </a:rPr>
            </a:br>
            <a:br>
              <a:rPr 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Objectif du projet</a:t>
            </a:r>
            <a:br>
              <a:rPr lang="fr-FR" sz="1500" b="1" dirty="0">
                <a:solidFill>
                  <a:schemeClr val="tx1">
                    <a:lumMod val="65000"/>
                    <a:lumOff val="35000"/>
                  </a:schemeClr>
                </a:solidFill>
                <a:latin typeface="Aptos" panose="020B0004020202020204" pitchFamily="34" charset="0"/>
              </a:rPr>
            </a:br>
            <a:br>
              <a:rPr lang="fr-FR" sz="1100" b="1" dirty="0"/>
            </a:br>
            <a:r>
              <a:rPr lang="fr-FR" sz="1200" dirty="0">
                <a:solidFill>
                  <a:schemeClr val="tx1">
                    <a:lumMod val="65000"/>
                    <a:lumOff val="35000"/>
                  </a:schemeClr>
                </a:solidFill>
                <a:latin typeface="Aptos" panose="020B0004020202020204" pitchFamily="34" charset="0"/>
              </a:rPr>
              <a:t>L’objectif est de structurer une gouvernance data globale permettant de garantir la fiabilité, la cohérence et la conformité des données, et de préserver l’agilité des équipes produit.</a:t>
            </a:r>
            <a:br>
              <a:rPr lang="fr-FR" sz="1200" dirty="0">
                <a:solidFill>
                  <a:schemeClr val="tx1">
                    <a:lumMod val="65000"/>
                    <a:lumOff val="35000"/>
                  </a:schemeClr>
                </a:solidFill>
                <a:latin typeface="Aptos" panose="020B0004020202020204" pitchFamily="34" charset="0"/>
              </a:rPr>
            </a:br>
            <a:br>
              <a:rPr lang="fr-FR" sz="1200" dirty="0">
                <a:solidFill>
                  <a:schemeClr val="tx1">
                    <a:lumMod val="65000"/>
                    <a:lumOff val="35000"/>
                  </a:schemeClr>
                </a:solidFill>
                <a:latin typeface="Aptos" panose="020B0004020202020204" pitchFamily="34" charset="0"/>
              </a:rPr>
            </a:br>
            <a:r>
              <a:rPr lang="fr-FR" sz="1200" dirty="0">
                <a:solidFill>
                  <a:schemeClr val="tx1">
                    <a:lumMod val="65000"/>
                    <a:lumOff val="35000"/>
                  </a:schemeClr>
                </a:solidFill>
                <a:latin typeface="Aptos" panose="020B0004020202020204" pitchFamily="34" charset="0"/>
              </a:rPr>
              <a:t>La mise en place d’un Data Center of Excellence vise à maximiser la création de valeur business à partir de la donnée.</a:t>
            </a:r>
            <a:br>
              <a:rPr lang="fr-FR" sz="1200" dirty="0">
                <a:solidFill>
                  <a:schemeClr val="tx1">
                    <a:lumMod val="65000"/>
                    <a:lumOff val="35000"/>
                  </a:schemeClr>
                </a:solidFill>
                <a:latin typeface="Aptos" panose="020B0004020202020204" pitchFamily="34" charset="0"/>
              </a:rPr>
            </a:br>
            <a:endParaRPr lang="fr-FR" sz="1200" dirty="0">
              <a:solidFill>
                <a:schemeClr val="tx1">
                  <a:lumMod val="65000"/>
                  <a:lumOff val="35000"/>
                </a:schemeClr>
              </a:solidFill>
              <a:latin typeface="Aptos" panose="020B0004020202020204" pitchFamily="34" charset="0"/>
              <a:sym typeface="Inter"/>
            </a:endParaRPr>
          </a:p>
        </p:txBody>
      </p:sp>
      <p:sp>
        <p:nvSpPr>
          <p:cNvPr id="85" name="Google Shape;85;p16">
            <a:extLst>
              <a:ext uri="{FF2B5EF4-FFF2-40B4-BE49-F238E27FC236}">
                <a16:creationId xmlns:a16="http://schemas.microsoft.com/office/drawing/2014/main" id="{19711759-8150-2454-E693-FCC33CAD5770}"/>
              </a:ext>
            </a:extLst>
          </p:cNvPr>
          <p:cNvSpPr/>
          <p:nvPr/>
        </p:nvSpPr>
        <p:spPr>
          <a:xfrm rot="-355994" flipV="1">
            <a:off x="3743032" y="875330"/>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89" name="Google Shape;89;p16">
            <a:extLst>
              <a:ext uri="{FF2B5EF4-FFF2-40B4-BE49-F238E27FC236}">
                <a16:creationId xmlns:a16="http://schemas.microsoft.com/office/drawing/2014/main" id="{9E5E8B43-AF83-D9B3-A37B-077E3A12A957}"/>
              </a:ext>
            </a:extLst>
          </p:cNvPr>
          <p:cNvSpPr/>
          <p:nvPr/>
        </p:nvSpPr>
        <p:spPr>
          <a:xfrm rot="-355994" flipV="1">
            <a:off x="3722938" y="3149198"/>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pic>
        <p:nvPicPr>
          <p:cNvPr id="2" name="Google Shape;56;p13">
            <a:extLst>
              <a:ext uri="{FF2B5EF4-FFF2-40B4-BE49-F238E27FC236}">
                <a16:creationId xmlns:a16="http://schemas.microsoft.com/office/drawing/2014/main" id="{E64216D7-3B34-5736-8E0E-02E706BC4E3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Tree>
    <p:extLst>
      <p:ext uri="{BB962C8B-B14F-4D97-AF65-F5344CB8AC3E}">
        <p14:creationId xmlns:p14="http://schemas.microsoft.com/office/powerpoint/2010/main" val="130101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80">
          <a:extLst>
            <a:ext uri="{FF2B5EF4-FFF2-40B4-BE49-F238E27FC236}">
              <a16:creationId xmlns:a16="http://schemas.microsoft.com/office/drawing/2014/main" id="{83C140B6-A3CA-6AB9-FDFA-0920AA2E86C8}"/>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0061F83D-46D6-88DB-E750-8C2BFD677B85}"/>
              </a:ext>
            </a:extLst>
          </p:cNvPr>
          <p:cNvSpPr/>
          <p:nvPr/>
        </p:nvSpPr>
        <p:spPr>
          <a:xfrm>
            <a:off x="-126879" y="-8850"/>
            <a:ext cx="3335400"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3CFAE3BB-29CE-41A1-DFE6-4170695F9169}"/>
              </a:ext>
            </a:extLst>
          </p:cNvPr>
          <p:cNvSpPr txBox="1">
            <a:spLocks noGrp="1"/>
          </p:cNvSpPr>
          <p:nvPr>
            <p:ph type="title"/>
          </p:nvPr>
        </p:nvSpPr>
        <p:spPr>
          <a:xfrm>
            <a:off x="129343" y="1920633"/>
            <a:ext cx="2513100" cy="1252057"/>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800"/>
              <a:buNone/>
            </a:pPr>
            <a:r>
              <a:rPr lang="fr-FR" sz="2400" b="1" dirty="0">
                <a:solidFill>
                  <a:schemeClr val="tx1">
                    <a:lumMod val="65000"/>
                    <a:lumOff val="35000"/>
                  </a:schemeClr>
                </a:solidFill>
                <a:latin typeface="Aptos" panose="020B0004020202020204" pitchFamily="34" charset="0"/>
                <a:cs typeface="Inter"/>
              </a:rPr>
              <a:t>Présentation des 3 étapes du projet</a:t>
            </a:r>
            <a:endParaRPr sz="2400" b="1" dirty="0">
              <a:solidFill>
                <a:schemeClr val="tx1">
                  <a:lumMod val="65000"/>
                  <a:lumOff val="35000"/>
                </a:schemeClr>
              </a:solidFill>
              <a:latin typeface="Aptos" panose="020B0004020202020204" pitchFamily="34" charset="0"/>
              <a:ea typeface="Inter"/>
              <a:cs typeface="Inter"/>
              <a:sym typeface="Inter"/>
            </a:endParaRPr>
          </a:p>
        </p:txBody>
      </p:sp>
      <p:sp>
        <p:nvSpPr>
          <p:cNvPr id="84" name="Google Shape;84;p16">
            <a:extLst>
              <a:ext uri="{FF2B5EF4-FFF2-40B4-BE49-F238E27FC236}">
                <a16:creationId xmlns:a16="http://schemas.microsoft.com/office/drawing/2014/main" id="{C1E338F8-25DE-A367-B69B-21AE27098E3C}"/>
              </a:ext>
            </a:extLst>
          </p:cNvPr>
          <p:cNvSpPr txBox="1">
            <a:spLocks noGrp="1"/>
          </p:cNvSpPr>
          <p:nvPr>
            <p:ph type="ctrTitle" idx="4294967295"/>
          </p:nvPr>
        </p:nvSpPr>
        <p:spPr>
          <a:xfrm>
            <a:off x="3989620" y="932599"/>
            <a:ext cx="4729395" cy="3781915"/>
          </a:xfrm>
          <a:prstGeom prst="rect">
            <a:avLst/>
          </a:prstGeom>
          <a:noFill/>
          <a:ln>
            <a:noFill/>
          </a:ln>
        </p:spPr>
        <p:txBody>
          <a:bodyPr spcFirstLastPara="1" wrap="square" lIns="91425" tIns="91425" rIns="91425" bIns="91425" anchor="t" anchorCtr="0">
            <a:noAutofit/>
          </a:bodyPr>
          <a:lstStyle/>
          <a:p>
            <a:r>
              <a:rPr lang="fr-FR" sz="1500" b="1" dirty="0">
                <a:solidFill>
                  <a:schemeClr val="tx1">
                    <a:lumMod val="65000"/>
                    <a:lumOff val="35000"/>
                  </a:schemeClr>
                </a:solidFill>
                <a:latin typeface="Aptos" panose="020B0004020202020204" pitchFamily="34" charset="0"/>
              </a:rPr>
              <a:t>Diagnostic &amp; cadrage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Analyser l’existant pour identifier les écarts de maturité et définir une gouvernance data cible</a:t>
            </a:r>
            <a:r>
              <a:rPr lang="fr-FR" sz="1200" dirty="0">
                <a:solidFill>
                  <a:schemeClr val="tx1">
                    <a:lumMod val="65000"/>
                    <a:lumOff val="35000"/>
                  </a:schemeClr>
                </a:solidFill>
                <a:latin typeface="Aptos" panose="020B0004020202020204" pitchFamily="34" charset="0"/>
              </a:rPr>
              <a:t>.</a:t>
            </a:r>
            <a:br>
              <a:rPr lang="fr-FR" sz="12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br>
              <a:rPr lang="fr-FR" alt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Mise en place du modèle cible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Déployer un Data Center of Excellence et clarifier les rôles pour structurer la gouvernance data..</a:t>
            </a:r>
            <a:br>
              <a:rPr lang="fr-FR" sz="12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br>
              <a:rPr lang="fr-FR" sz="1500" dirty="0">
                <a:solidFill>
                  <a:schemeClr val="tx1">
                    <a:lumMod val="65000"/>
                    <a:lumOff val="35000"/>
                  </a:schemeClr>
                </a:solidFill>
                <a:latin typeface="Aptos" panose="020B0004020202020204" pitchFamily="34" charset="0"/>
              </a:rPr>
            </a:br>
            <a:r>
              <a:rPr lang="fr-FR" sz="1500" b="1" dirty="0">
                <a:solidFill>
                  <a:schemeClr val="tx1">
                    <a:lumMod val="65000"/>
                    <a:lumOff val="35000"/>
                  </a:schemeClr>
                </a:solidFill>
                <a:latin typeface="Aptos" panose="020B0004020202020204" pitchFamily="34" charset="0"/>
              </a:rPr>
              <a:t>Déploiement &amp; pilotage</a:t>
            </a:r>
            <a:br>
              <a:rPr lang="fr-FR" sz="1500" dirty="0">
                <a:solidFill>
                  <a:schemeClr val="tx1">
                    <a:lumMod val="65000"/>
                    <a:lumOff val="35000"/>
                  </a:schemeClr>
                </a:solidFill>
                <a:latin typeface="Aptos" panose="020B0004020202020204" pitchFamily="34" charset="0"/>
              </a:rPr>
            </a:br>
            <a:r>
              <a:rPr lang="fr-FR" sz="1500" dirty="0">
                <a:solidFill>
                  <a:schemeClr val="tx1">
                    <a:lumMod val="65000"/>
                    <a:lumOff val="35000"/>
                  </a:schemeClr>
                </a:solidFill>
                <a:latin typeface="Aptos" panose="020B0004020202020204" pitchFamily="34" charset="0"/>
              </a:rPr>
              <a:t>Déployer le modèle à l’échelle globale, mesurer la valeur business et piloter l’amélioration continue.</a:t>
            </a:r>
            <a:br>
              <a:rPr lang="fr-FR" sz="1500" dirty="0">
                <a:solidFill>
                  <a:schemeClr val="tx1">
                    <a:lumMod val="65000"/>
                    <a:lumOff val="35000"/>
                  </a:schemeClr>
                </a:solidFill>
                <a:latin typeface="Aptos" panose="020B0004020202020204" pitchFamily="34" charset="0"/>
              </a:rPr>
            </a:br>
            <a:br>
              <a:rPr lang="fr-FR" sz="1200" dirty="0">
                <a:solidFill>
                  <a:schemeClr val="tx1">
                    <a:lumMod val="65000"/>
                    <a:lumOff val="35000"/>
                  </a:schemeClr>
                </a:solidFill>
                <a:latin typeface="Aptos" panose="020B0004020202020204" pitchFamily="34" charset="0"/>
              </a:rPr>
            </a:br>
            <a:endParaRPr lang="fr-FR" sz="1200" dirty="0">
              <a:solidFill>
                <a:schemeClr val="tx1">
                  <a:lumMod val="65000"/>
                  <a:lumOff val="35000"/>
                </a:schemeClr>
              </a:solidFill>
              <a:latin typeface="Aptos" panose="020B0004020202020204" pitchFamily="34" charset="0"/>
              <a:sym typeface="Inter"/>
            </a:endParaRPr>
          </a:p>
        </p:txBody>
      </p:sp>
      <p:sp>
        <p:nvSpPr>
          <p:cNvPr id="85" name="Google Shape;85;p16">
            <a:extLst>
              <a:ext uri="{FF2B5EF4-FFF2-40B4-BE49-F238E27FC236}">
                <a16:creationId xmlns:a16="http://schemas.microsoft.com/office/drawing/2014/main" id="{19711759-8150-2454-E693-FCC33CAD5770}"/>
              </a:ext>
            </a:extLst>
          </p:cNvPr>
          <p:cNvSpPr/>
          <p:nvPr/>
        </p:nvSpPr>
        <p:spPr>
          <a:xfrm rot="-355994" flipV="1">
            <a:off x="3574356" y="1177171"/>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a:extLst>
              <a:ext uri="{FF2B5EF4-FFF2-40B4-BE49-F238E27FC236}">
                <a16:creationId xmlns:a16="http://schemas.microsoft.com/office/drawing/2014/main" id="{9E5E8B43-AF83-D9B3-A37B-077E3A12A957}"/>
              </a:ext>
            </a:extLst>
          </p:cNvPr>
          <p:cNvSpPr/>
          <p:nvPr/>
        </p:nvSpPr>
        <p:spPr>
          <a:xfrm rot="-355994" flipV="1">
            <a:off x="3554262" y="3459380"/>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2" name="Google Shape;56;p13">
            <a:extLst>
              <a:ext uri="{FF2B5EF4-FFF2-40B4-BE49-F238E27FC236}">
                <a16:creationId xmlns:a16="http://schemas.microsoft.com/office/drawing/2014/main" id="{E64216D7-3B34-5736-8E0E-02E706BC4E3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Google Shape;85;p16">
            <a:extLst>
              <a:ext uri="{FF2B5EF4-FFF2-40B4-BE49-F238E27FC236}">
                <a16:creationId xmlns:a16="http://schemas.microsoft.com/office/drawing/2014/main" id="{CE1EE781-E7A0-665D-ECFF-9A15DFD00C64}"/>
              </a:ext>
            </a:extLst>
          </p:cNvPr>
          <p:cNvSpPr/>
          <p:nvPr/>
        </p:nvSpPr>
        <p:spPr>
          <a:xfrm rot="21244006" flipV="1">
            <a:off x="3581284" y="2250824"/>
            <a:ext cx="261199" cy="45719"/>
          </a:xfrm>
          <a:prstGeom prst="roundRect">
            <a:avLst>
              <a:gd name="adj" fmla="val 50000"/>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83483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p:cNvGrpSpPr/>
        <p:nvPr/>
      </p:nvGrpSpPr>
      <p:grpSpPr>
        <a:xfrm>
          <a:off x="0" y="0"/>
          <a:ext cx="0" cy="0"/>
          <a:chOff x="0" y="0"/>
          <a:chExt cx="0" cy="0"/>
        </a:xfrm>
      </p:grpSpPr>
      <p:pic>
        <p:nvPicPr>
          <p:cNvPr id="24" name="Image 23">
            <a:extLst>
              <a:ext uri="{FF2B5EF4-FFF2-40B4-BE49-F238E27FC236}">
                <a16:creationId xmlns:a16="http://schemas.microsoft.com/office/drawing/2014/main" id="{D03B941A-9C78-10B7-F622-267DBEEC9AD4}"/>
              </a:ext>
            </a:extLst>
          </p:cNvPr>
          <p:cNvPicPr>
            <a:picLocks noChangeAspect="1"/>
          </p:cNvPicPr>
          <p:nvPr/>
        </p:nvPicPr>
        <p:blipFill>
          <a:blip r:embed="rId3"/>
          <a:stretch>
            <a:fillRect/>
          </a:stretch>
        </p:blipFill>
        <p:spPr>
          <a:xfrm>
            <a:off x="2315430" y="1777250"/>
            <a:ext cx="6766925" cy="2507073"/>
          </a:xfrm>
          <a:prstGeom prst="rect">
            <a:avLst/>
          </a:prstGeom>
          <a:solidFill>
            <a:schemeClr val="bg1"/>
          </a:solidFill>
          <a:ln>
            <a:solidFill>
              <a:schemeClr val="bg1"/>
            </a:solidFill>
          </a:ln>
        </p:spPr>
      </p:pic>
      <p:sp>
        <p:nvSpPr>
          <p:cNvPr id="53" name="ZoneTexte 52">
            <a:extLst>
              <a:ext uri="{FF2B5EF4-FFF2-40B4-BE49-F238E27FC236}">
                <a16:creationId xmlns:a16="http://schemas.microsoft.com/office/drawing/2014/main" id="{FF827886-FCCE-F7C8-C491-5514F1FD31BC}"/>
              </a:ext>
            </a:extLst>
          </p:cNvPr>
          <p:cNvSpPr txBox="1"/>
          <p:nvPr/>
        </p:nvSpPr>
        <p:spPr>
          <a:xfrm>
            <a:off x="6549787" y="1746961"/>
            <a:ext cx="723535" cy="400110"/>
          </a:xfrm>
          <a:prstGeom prst="rect">
            <a:avLst/>
          </a:prstGeom>
          <a:noFill/>
        </p:spPr>
        <p:txBody>
          <a:bodyPr wrap="square" rtlCol="0">
            <a:spAutoFit/>
          </a:bodyPr>
          <a:lstStyle/>
          <a:p>
            <a:pPr algn="ctr"/>
            <a:r>
              <a:rPr lang="fr-FR" sz="1000" b="1" dirty="0">
                <a:solidFill>
                  <a:schemeClr val="accent5">
                    <a:lumMod val="75000"/>
                  </a:schemeClr>
                </a:solidFill>
                <a:latin typeface="Aptos" panose="020B0004020202020204" pitchFamily="34" charset="0"/>
                <a:ea typeface="Inter" panose="020B0604020202020204" charset="0"/>
              </a:rPr>
              <a:t>Note                    </a:t>
            </a:r>
          </a:p>
          <a:p>
            <a:pPr algn="ctr"/>
            <a:r>
              <a:rPr lang="fr-FR" sz="1000" b="1" dirty="0">
                <a:solidFill>
                  <a:schemeClr val="accent5">
                    <a:lumMod val="75000"/>
                  </a:schemeClr>
                </a:solidFill>
                <a:latin typeface="Aptos" panose="020B0004020202020204" pitchFamily="34" charset="0"/>
                <a:ea typeface="Inter" panose="020B0604020202020204" charset="0"/>
              </a:rPr>
              <a:t>3,2 / 5 </a:t>
            </a:r>
          </a:p>
        </p:txBody>
      </p:sp>
      <p:sp>
        <p:nvSpPr>
          <p:cNvPr id="95" name="Google Shape;95;p17"/>
          <p:cNvSpPr txBox="1">
            <a:spLocks noGrp="1"/>
          </p:cNvSpPr>
          <p:nvPr>
            <p:ph type="ctrTitle" idx="4294967295"/>
          </p:nvPr>
        </p:nvSpPr>
        <p:spPr>
          <a:xfrm>
            <a:off x="1146982" y="8826"/>
            <a:ext cx="6850036" cy="496784"/>
          </a:xfrm>
          <a:prstGeom prst="rect">
            <a:avLst/>
          </a:prstGeom>
          <a:noFill/>
          <a:ln>
            <a:noFill/>
          </a:ln>
        </p:spPr>
        <p:txBody>
          <a:bodyPr spcFirstLastPara="1" wrap="square" lIns="91425" tIns="91425" rIns="91425" bIns="91425" anchor="t" anchorCtr="0">
            <a:noAutofit/>
          </a:bodyPr>
          <a:lstStyle/>
          <a:p>
            <a:pPr marL="0" marR="0" lvl="0" indent="0" rtl="0">
              <a:lnSpc>
                <a:spcPct val="100000"/>
              </a:lnSpc>
              <a:spcBef>
                <a:spcPts val="0"/>
              </a:spcBef>
              <a:spcAft>
                <a:spcPts val="0"/>
              </a:spcAft>
              <a:buClr>
                <a:schemeClr val="dk1"/>
              </a:buClr>
              <a:buSzPts val="2800"/>
              <a:buFont typeface="Arial"/>
              <a:buNone/>
            </a:pPr>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a:t>
            </a:r>
            <a:r>
              <a:rPr lang="fr-FR" sz="2000" b="1" dirty="0">
                <a:solidFill>
                  <a:schemeClr val="tx1">
                    <a:lumMod val="65000"/>
                    <a:lumOff val="35000"/>
                  </a:schemeClr>
                </a:solidFill>
                <a:latin typeface="Aptos" panose="020B0004020202020204" pitchFamily="34" charset="0"/>
                <a:ea typeface="Inter"/>
                <a:cs typeface="Inter"/>
                <a:sym typeface="Inter"/>
              </a:rPr>
              <a:t>  Niveau de maturité Spotify</a:t>
            </a:r>
            <a:endParaRPr lang="fr-FR" sz="2000" b="1" i="0" u="none" strike="noStrike" cap="none" dirty="0">
              <a:solidFill>
                <a:schemeClr val="tx1">
                  <a:lumMod val="65000"/>
                  <a:lumOff val="35000"/>
                </a:schemeClr>
              </a:solidFill>
              <a:latin typeface="Aptos" panose="020B0004020202020204" pitchFamily="34" charset="0"/>
              <a:ea typeface="Inter"/>
              <a:cs typeface="Inter"/>
              <a:sym typeface="Inter"/>
            </a:endParaRPr>
          </a:p>
        </p:txBody>
      </p:sp>
      <p:pic>
        <p:nvPicPr>
          <p:cNvPr id="2" name="Google Shape;56;p13">
            <a:extLst>
              <a:ext uri="{FF2B5EF4-FFF2-40B4-BE49-F238E27FC236}">
                <a16:creationId xmlns:a16="http://schemas.microsoft.com/office/drawing/2014/main" id="{29AF42A0-D3B7-10B5-470C-4D627B891DF8}"/>
              </a:ext>
            </a:extLst>
          </p:cNvPr>
          <p:cNvPicPr preferRelativeResize="0"/>
          <p:nvPr/>
        </p:nvPicPr>
        <p:blipFill>
          <a:blip r:embed="rId4">
            <a:alphaModFix/>
          </a:blip>
          <a:stretch>
            <a:fillRect/>
          </a:stretch>
        </p:blipFill>
        <p:spPr>
          <a:xfrm>
            <a:off x="76200" y="90544"/>
            <a:ext cx="973275" cy="651050"/>
          </a:xfrm>
          <a:prstGeom prst="rect">
            <a:avLst/>
          </a:prstGeom>
          <a:noFill/>
          <a:ln>
            <a:noFill/>
          </a:ln>
        </p:spPr>
      </p:pic>
      <p:graphicFrame>
        <p:nvGraphicFramePr>
          <p:cNvPr id="18" name="Objet 17">
            <a:extLst>
              <a:ext uri="{FF2B5EF4-FFF2-40B4-BE49-F238E27FC236}">
                <a16:creationId xmlns:a16="http://schemas.microsoft.com/office/drawing/2014/main" id="{AF06465E-3E44-56F3-5DC5-12CE5BEC90FB}"/>
              </a:ext>
            </a:extLst>
          </p:cNvPr>
          <p:cNvGraphicFramePr>
            <a:graphicFrameLocks noChangeAspect="1"/>
          </p:cNvGraphicFramePr>
          <p:nvPr/>
        </p:nvGraphicFramePr>
        <p:xfrm>
          <a:off x="280325" y="830645"/>
          <a:ext cx="1894402" cy="4180749"/>
        </p:xfrm>
        <a:graphic>
          <a:graphicData uri="http://schemas.openxmlformats.org/presentationml/2006/ole">
            <mc:AlternateContent xmlns:mc="http://schemas.openxmlformats.org/markup-compatibility/2006">
              <mc:Choice xmlns:v="urn:schemas-microsoft-com:vml" Requires="v">
                <p:oleObj name="Worksheet" r:id="rId5" imgW="4229246" imgH="9342191" progId="Excel.Sheet.12">
                  <p:embed/>
                </p:oleObj>
              </mc:Choice>
              <mc:Fallback>
                <p:oleObj name="Worksheet" r:id="rId5" imgW="4229246" imgH="9342191" progId="Excel.Sheet.12">
                  <p:embed/>
                  <p:pic>
                    <p:nvPicPr>
                      <p:cNvPr id="18" name="Objet 17">
                        <a:extLst>
                          <a:ext uri="{FF2B5EF4-FFF2-40B4-BE49-F238E27FC236}">
                            <a16:creationId xmlns:a16="http://schemas.microsoft.com/office/drawing/2014/main" id="{AF06465E-3E44-56F3-5DC5-12CE5BEC90FB}"/>
                          </a:ext>
                        </a:extLst>
                      </p:cNvPr>
                      <p:cNvPicPr/>
                      <p:nvPr/>
                    </p:nvPicPr>
                    <p:blipFill>
                      <a:blip r:embed="rId6"/>
                      <a:stretch>
                        <a:fillRect/>
                      </a:stretch>
                    </p:blipFill>
                    <p:spPr>
                      <a:xfrm>
                        <a:off x="280325" y="830645"/>
                        <a:ext cx="1894402" cy="4180749"/>
                      </a:xfrm>
                      <a:prstGeom prst="rect">
                        <a:avLst/>
                      </a:prstGeom>
                    </p:spPr>
                  </p:pic>
                </p:oleObj>
              </mc:Fallback>
            </mc:AlternateContent>
          </a:graphicData>
        </a:graphic>
      </p:graphicFrame>
      <p:pic>
        <p:nvPicPr>
          <p:cNvPr id="47" name="Image 46">
            <a:extLst>
              <a:ext uri="{FF2B5EF4-FFF2-40B4-BE49-F238E27FC236}">
                <a16:creationId xmlns:a16="http://schemas.microsoft.com/office/drawing/2014/main" id="{1B04BE5E-CF1A-58ED-7801-537D2EA44410}"/>
              </a:ext>
            </a:extLst>
          </p:cNvPr>
          <p:cNvPicPr>
            <a:picLocks noChangeAspect="1"/>
          </p:cNvPicPr>
          <p:nvPr/>
        </p:nvPicPr>
        <p:blipFill>
          <a:blip r:embed="rId7"/>
          <a:stretch>
            <a:fillRect/>
          </a:stretch>
        </p:blipFill>
        <p:spPr>
          <a:xfrm>
            <a:off x="6131849" y="1252470"/>
            <a:ext cx="835875" cy="239673"/>
          </a:xfrm>
          <a:prstGeom prst="rect">
            <a:avLst/>
          </a:prstGeom>
        </p:spPr>
      </p:pic>
      <p:cxnSp>
        <p:nvCxnSpPr>
          <p:cNvPr id="49" name="Connecteur droit avec flèche 48">
            <a:extLst>
              <a:ext uri="{FF2B5EF4-FFF2-40B4-BE49-F238E27FC236}">
                <a16:creationId xmlns:a16="http://schemas.microsoft.com/office/drawing/2014/main" id="{A2F1A358-7FB2-5C6A-17BC-8397DB321D48}"/>
              </a:ext>
            </a:extLst>
          </p:cNvPr>
          <p:cNvCxnSpPr>
            <a:cxnSpLocks/>
          </p:cNvCxnSpPr>
          <p:nvPr/>
        </p:nvCxnSpPr>
        <p:spPr>
          <a:xfrm>
            <a:off x="6549787" y="1507288"/>
            <a:ext cx="0" cy="677483"/>
          </a:xfrm>
          <a:prstGeom prst="straightConnector1">
            <a:avLst/>
          </a:prstGeom>
          <a:ln w="38100" cap="flat" cmpd="sng" algn="ctr">
            <a:solidFill>
              <a:srgbClr val="FDD25D"/>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5" name="Rectangle 3">
            <a:extLst>
              <a:ext uri="{FF2B5EF4-FFF2-40B4-BE49-F238E27FC236}">
                <a16:creationId xmlns:a16="http://schemas.microsoft.com/office/drawing/2014/main" id="{B739F8D5-C0C5-17BF-BB07-F4C5FEA733FC}"/>
              </a:ext>
            </a:extLst>
          </p:cNvPr>
          <p:cNvSpPr>
            <a:spLocks noChangeArrowheads="1"/>
          </p:cNvSpPr>
          <p:nvPr/>
        </p:nvSpPr>
        <p:spPr bwMode="auto">
          <a:xfrm>
            <a:off x="6283602" y="4314612"/>
            <a:ext cx="1255903" cy="753416"/>
          </a:xfrm>
          <a:prstGeom prst="rect">
            <a:avLst/>
          </a:prstGeom>
          <a:ln w="19050" cap="rnd">
            <a:solidFill>
              <a:schemeClr val="accent1"/>
            </a:solidFill>
            <a:prstDash val="solid"/>
          </a:ln>
        </p:spPr>
        <p:style>
          <a:lnRef idx="2">
            <a:schemeClr val="accent1"/>
          </a:lnRef>
          <a:fillRef idx="1">
            <a:schemeClr val="lt1"/>
          </a:fillRef>
          <a:effectRef idx="0">
            <a:schemeClr val="accent1"/>
          </a:effectRef>
          <a:fontRef idx="minor">
            <a:schemeClr val="dk1"/>
          </a:fontRef>
        </p:style>
        <p:txBody>
          <a:bodyPr vert="horz" wrap="square" lIns="0" tIns="-7935" rIns="0" bIns="-7935" numCol="1" anchor="ctr" anchorCtr="0" compatLnSpc="1">
            <a:prstTxWarp prst="textNoShape">
              <a:avLst/>
            </a:prstTxWarp>
            <a:spAutoFit/>
          </a:bodyPr>
          <a:lstStyle/>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Les politiques sont connues </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gestion des données est maîtrisée</a:t>
            </a:r>
          </a:p>
          <a:p>
            <a:pPr lvl="0" algn="ctr" defTabSz="914400" eaLnBrk="0" fontAlgn="base" latinLnBrk="0" hangingPunct="0">
              <a:spcBef>
                <a:spcPct val="0"/>
              </a:spcBef>
              <a:spcAft>
                <a:spcPct val="0"/>
              </a:spcAft>
              <a:buClrTx/>
              <a:buSzTx/>
              <a:tabLst/>
            </a:pPr>
            <a:endParaRPr lang="fr-FR" altLang="fr-FR" sz="500" dirty="0">
              <a:solidFill>
                <a:srgbClr val="1F1F1F"/>
              </a:solidFill>
              <a:latin typeface="Aptos" panose="020B0004020202020204" pitchFamily="34" charset="0"/>
            </a:endParaRP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La sécurité est </a:t>
            </a:r>
          </a:p>
          <a:p>
            <a:pPr lvl="0" algn="ctr" defTabSz="914400" eaLnBrk="0" fontAlgn="base" latinLnBrk="0" hangingPunct="0">
              <a:spcBef>
                <a:spcPct val="0"/>
              </a:spcBef>
              <a:spcAft>
                <a:spcPct val="0"/>
              </a:spcAft>
              <a:buClrTx/>
              <a:buSzTx/>
              <a:tabLst/>
            </a:pPr>
            <a:r>
              <a:rPr lang="fr-FR" altLang="fr-FR" sz="800" dirty="0">
                <a:solidFill>
                  <a:srgbClr val="1F1F1F"/>
                </a:solidFill>
                <a:latin typeface="Aptos" panose="020B0004020202020204" pitchFamily="34" charset="0"/>
              </a:rPr>
              <a:t>contrôlée</a:t>
            </a:r>
          </a:p>
        </p:txBody>
      </p:sp>
    </p:spTree>
    <p:extLst>
      <p:ext uri="{BB962C8B-B14F-4D97-AF65-F5344CB8AC3E}">
        <p14:creationId xmlns:p14="http://schemas.microsoft.com/office/powerpoint/2010/main" val="3782483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p:cNvGrpSpPr/>
        <p:nvPr/>
      </p:nvGrpSpPr>
      <p:grpSpPr>
        <a:xfrm>
          <a:off x="0" y="0"/>
          <a:ext cx="0" cy="0"/>
          <a:chOff x="0" y="0"/>
          <a:chExt cx="0" cy="0"/>
        </a:xfrm>
      </p:grpSpPr>
      <p:sp>
        <p:nvSpPr>
          <p:cNvPr id="12" name="Rectangle : coins arrondis 11">
            <a:extLst>
              <a:ext uri="{FF2B5EF4-FFF2-40B4-BE49-F238E27FC236}">
                <a16:creationId xmlns:a16="http://schemas.microsoft.com/office/drawing/2014/main" id="{89DB9582-BE56-5FAA-58D6-F7BB55608237}"/>
              </a:ext>
            </a:extLst>
          </p:cNvPr>
          <p:cNvSpPr/>
          <p:nvPr/>
        </p:nvSpPr>
        <p:spPr>
          <a:xfrm>
            <a:off x="2418796" y="1668598"/>
            <a:ext cx="1926771" cy="190917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fr-FR" dirty="0"/>
              <a:t>DATA LAKE</a:t>
            </a:r>
          </a:p>
          <a:p>
            <a:pPr algn="ctr"/>
            <a:endParaRPr lang="fr-FR" dirty="0"/>
          </a:p>
          <a:p>
            <a:pPr algn="ctr"/>
            <a:endParaRPr lang="fr-FR" dirty="0"/>
          </a:p>
        </p:txBody>
      </p:sp>
      <p:sp>
        <p:nvSpPr>
          <p:cNvPr id="95" name="Google Shape;95;p17"/>
          <p:cNvSpPr txBox="1">
            <a:spLocks noGrp="1"/>
          </p:cNvSpPr>
          <p:nvPr>
            <p:ph type="ctrTitle" idx="4294967295"/>
          </p:nvPr>
        </p:nvSpPr>
        <p:spPr>
          <a:xfrm>
            <a:off x="1146982" y="8826"/>
            <a:ext cx="6850036" cy="496784"/>
          </a:xfrm>
          <a:prstGeom prst="rect">
            <a:avLst/>
          </a:prstGeom>
          <a:noFill/>
          <a:ln>
            <a:noFill/>
          </a:ln>
        </p:spPr>
        <p:txBody>
          <a:bodyPr spcFirstLastPara="1" wrap="square" lIns="91425" tIns="91425" rIns="91425" bIns="91425" anchor="t" anchorCtr="0">
            <a:noAutofit/>
          </a:bodyPr>
          <a:lstStyle/>
          <a:p>
            <a:pPr marL="0" marR="0" lvl="0" indent="0" rtl="0">
              <a:lnSpc>
                <a:spcPct val="100000"/>
              </a:lnSpc>
              <a:spcBef>
                <a:spcPts val="0"/>
              </a:spcBef>
              <a:spcAft>
                <a:spcPts val="0"/>
              </a:spcAft>
              <a:buClr>
                <a:schemeClr val="dk1"/>
              </a:buClr>
              <a:buSzPts val="2800"/>
              <a:buFont typeface="Arial"/>
              <a:buNone/>
            </a:pPr>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a:t>
            </a:r>
            <a:r>
              <a:rPr lang="fr-FR" sz="2000" b="1" dirty="0">
                <a:solidFill>
                  <a:schemeClr val="tx1">
                    <a:lumMod val="65000"/>
                    <a:lumOff val="35000"/>
                  </a:schemeClr>
                </a:solidFill>
                <a:latin typeface="Aptos" panose="020B0004020202020204" pitchFamily="34" charset="0"/>
                <a:ea typeface="Inter"/>
                <a:cs typeface="Inter"/>
                <a:sym typeface="Inter"/>
              </a:rPr>
              <a:t>  </a:t>
            </a:r>
            <a:r>
              <a:rPr lang="fr-FR" sz="2000" b="1" dirty="0">
                <a:solidFill>
                  <a:schemeClr val="tx1">
                    <a:lumMod val="65000"/>
                    <a:lumOff val="35000"/>
                  </a:schemeClr>
                </a:solidFill>
                <a:latin typeface="Aptos" panose="020B0004020202020204" pitchFamily="34" charset="0"/>
                <a:ea typeface="Inter"/>
              </a:rPr>
              <a:t>Infrastructure Technique &amp; Flux de Données</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2" name="Google Shape;56;p13">
            <a:extLst>
              <a:ext uri="{FF2B5EF4-FFF2-40B4-BE49-F238E27FC236}">
                <a16:creationId xmlns:a16="http://schemas.microsoft.com/office/drawing/2014/main" id="{29AF42A0-D3B7-10B5-470C-4D627B891DF8}"/>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6" name="Rectangle : coins arrondis 5">
            <a:extLst>
              <a:ext uri="{FF2B5EF4-FFF2-40B4-BE49-F238E27FC236}">
                <a16:creationId xmlns:a16="http://schemas.microsoft.com/office/drawing/2014/main" id="{86C75E75-0FE0-71B4-6460-DC6F3516575F}"/>
              </a:ext>
            </a:extLst>
          </p:cNvPr>
          <p:cNvSpPr/>
          <p:nvPr/>
        </p:nvSpPr>
        <p:spPr>
          <a:xfrm>
            <a:off x="183596" y="1668598"/>
            <a:ext cx="1926771" cy="190917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fr-FR" dirty="0"/>
              <a:t>SOURCES DE DONNEES</a:t>
            </a:r>
          </a:p>
        </p:txBody>
      </p:sp>
      <p:pic>
        <p:nvPicPr>
          <p:cNvPr id="8" name="Image 7">
            <a:extLst>
              <a:ext uri="{FF2B5EF4-FFF2-40B4-BE49-F238E27FC236}">
                <a16:creationId xmlns:a16="http://schemas.microsoft.com/office/drawing/2014/main" id="{98521801-8786-A7F9-25DE-FF527EAD41A7}"/>
              </a:ext>
            </a:extLst>
          </p:cNvPr>
          <p:cNvPicPr>
            <a:picLocks noChangeAspect="1"/>
          </p:cNvPicPr>
          <p:nvPr/>
        </p:nvPicPr>
        <p:blipFill>
          <a:blip r:embed="rId4"/>
          <a:stretch>
            <a:fillRect/>
          </a:stretch>
        </p:blipFill>
        <p:spPr>
          <a:xfrm>
            <a:off x="624967" y="2240354"/>
            <a:ext cx="1044030" cy="1234547"/>
          </a:xfrm>
          <a:prstGeom prst="rect">
            <a:avLst/>
          </a:prstGeom>
        </p:spPr>
      </p:pic>
      <p:sp>
        <p:nvSpPr>
          <p:cNvPr id="9" name="Organigramme : Disque magnétique 8">
            <a:extLst>
              <a:ext uri="{FF2B5EF4-FFF2-40B4-BE49-F238E27FC236}">
                <a16:creationId xmlns:a16="http://schemas.microsoft.com/office/drawing/2014/main" id="{5A4C8998-67F3-7886-3A6A-A5BF9283E4FF}"/>
              </a:ext>
            </a:extLst>
          </p:cNvPr>
          <p:cNvSpPr/>
          <p:nvPr/>
        </p:nvSpPr>
        <p:spPr>
          <a:xfrm>
            <a:off x="2931888" y="2934604"/>
            <a:ext cx="928914" cy="413657"/>
          </a:xfrm>
          <a:prstGeom prst="flowChartMagneticDisk">
            <a:avLst/>
          </a:prstGeom>
          <a:solidFill>
            <a:srgbClr val="2D2D2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Organigramme : Disque magnétique 10">
            <a:extLst>
              <a:ext uri="{FF2B5EF4-FFF2-40B4-BE49-F238E27FC236}">
                <a16:creationId xmlns:a16="http://schemas.microsoft.com/office/drawing/2014/main" id="{69EC353E-583F-7547-7E6D-761D46B80995}"/>
              </a:ext>
            </a:extLst>
          </p:cNvPr>
          <p:cNvSpPr/>
          <p:nvPr/>
        </p:nvSpPr>
        <p:spPr>
          <a:xfrm>
            <a:off x="2931888" y="2597147"/>
            <a:ext cx="928914" cy="413657"/>
          </a:xfrm>
          <a:prstGeom prst="flowChartMagneticDisk">
            <a:avLst/>
          </a:prstGeom>
          <a:solidFill>
            <a:srgbClr val="2D2D2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Organigramme : Disque magnétique 9">
            <a:extLst>
              <a:ext uri="{FF2B5EF4-FFF2-40B4-BE49-F238E27FC236}">
                <a16:creationId xmlns:a16="http://schemas.microsoft.com/office/drawing/2014/main" id="{F82DFC9F-1286-34D9-64E2-3A1CBE964FAB}"/>
              </a:ext>
            </a:extLst>
          </p:cNvPr>
          <p:cNvSpPr/>
          <p:nvPr/>
        </p:nvSpPr>
        <p:spPr>
          <a:xfrm>
            <a:off x="2931888" y="2259690"/>
            <a:ext cx="928914" cy="413657"/>
          </a:xfrm>
          <a:prstGeom prst="flowChartMagneticDisk">
            <a:avLst/>
          </a:prstGeom>
          <a:solidFill>
            <a:srgbClr val="2D2D2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 coins arrondis 12">
            <a:extLst>
              <a:ext uri="{FF2B5EF4-FFF2-40B4-BE49-F238E27FC236}">
                <a16:creationId xmlns:a16="http://schemas.microsoft.com/office/drawing/2014/main" id="{5B19161F-0F68-0137-9AC8-0B3ECE0483DA}"/>
              </a:ext>
            </a:extLst>
          </p:cNvPr>
          <p:cNvSpPr/>
          <p:nvPr/>
        </p:nvSpPr>
        <p:spPr>
          <a:xfrm>
            <a:off x="4653996" y="1668598"/>
            <a:ext cx="1926771" cy="190917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fr-FR" dirty="0"/>
              <a:t>CLOUDE GCP</a:t>
            </a:r>
          </a:p>
          <a:p>
            <a:pPr algn="ctr"/>
            <a:endParaRPr lang="fr-FR" dirty="0"/>
          </a:p>
          <a:p>
            <a:pPr algn="ctr"/>
            <a:endParaRPr lang="fr-FR" dirty="0"/>
          </a:p>
        </p:txBody>
      </p:sp>
      <p:sp>
        <p:nvSpPr>
          <p:cNvPr id="16" name="Nuage 15">
            <a:extLst>
              <a:ext uri="{FF2B5EF4-FFF2-40B4-BE49-F238E27FC236}">
                <a16:creationId xmlns:a16="http://schemas.microsoft.com/office/drawing/2014/main" id="{5F6A7D81-2C3A-5DD4-CEFB-1BA85CD37930}"/>
              </a:ext>
            </a:extLst>
          </p:cNvPr>
          <p:cNvSpPr/>
          <p:nvPr/>
        </p:nvSpPr>
        <p:spPr>
          <a:xfrm>
            <a:off x="4919416" y="2399722"/>
            <a:ext cx="1324809" cy="699649"/>
          </a:xfrm>
          <a:custGeom>
            <a:avLst/>
            <a:gdLst>
              <a:gd name="connsiteX0" fmla="*/ 3900 w 43200"/>
              <a:gd name="connsiteY0" fmla="*/ 14370 h 43200"/>
              <a:gd name="connsiteX1" fmla="*/ 5623 w 43200"/>
              <a:gd name="connsiteY1" fmla="*/ 6907 h 43200"/>
              <a:gd name="connsiteX2" fmla="*/ 14005 w 43200"/>
              <a:gd name="connsiteY2" fmla="*/ 5202 h 43200"/>
              <a:gd name="connsiteX3" fmla="*/ 22456 w 43200"/>
              <a:gd name="connsiteY3" fmla="*/ 3432 h 43200"/>
              <a:gd name="connsiteX4" fmla="*/ 25749 w 43200"/>
              <a:gd name="connsiteY4" fmla="*/ 200 h 43200"/>
              <a:gd name="connsiteX5" fmla="*/ 29833 w 43200"/>
              <a:gd name="connsiteY5" fmla="*/ 2481 h 43200"/>
              <a:gd name="connsiteX6" fmla="*/ 35463 w 43200"/>
              <a:gd name="connsiteY6" fmla="*/ 690 h 43200"/>
              <a:gd name="connsiteX7" fmla="*/ 38318 w 43200"/>
              <a:gd name="connsiteY7" fmla="*/ 5576 h 43200"/>
              <a:gd name="connsiteX8" fmla="*/ 41982 w 43200"/>
              <a:gd name="connsiteY8" fmla="*/ 10318 h 43200"/>
              <a:gd name="connsiteX9" fmla="*/ 41818 w 43200"/>
              <a:gd name="connsiteY9" fmla="*/ 15460 h 43200"/>
              <a:gd name="connsiteX10" fmla="*/ 43016 w 43200"/>
              <a:gd name="connsiteY10" fmla="*/ 23322 h 43200"/>
              <a:gd name="connsiteX11" fmla="*/ 37404 w 43200"/>
              <a:gd name="connsiteY11" fmla="*/ 30204 h 43200"/>
              <a:gd name="connsiteX12" fmla="*/ 35395 w 43200"/>
              <a:gd name="connsiteY12" fmla="*/ 36101 h 43200"/>
              <a:gd name="connsiteX13" fmla="*/ 28555 w 43200"/>
              <a:gd name="connsiteY13" fmla="*/ 36815 h 43200"/>
              <a:gd name="connsiteX14" fmla="*/ 23667 w 43200"/>
              <a:gd name="connsiteY14" fmla="*/ 43106 h 43200"/>
              <a:gd name="connsiteX15" fmla="*/ 16480 w 43200"/>
              <a:gd name="connsiteY15" fmla="*/ 39266 h 43200"/>
              <a:gd name="connsiteX16" fmla="*/ 5804 w 43200"/>
              <a:gd name="connsiteY16" fmla="*/ 35472 h 43200"/>
              <a:gd name="connsiteX17" fmla="*/ 1110 w 43200"/>
              <a:gd name="connsiteY17" fmla="*/ 31250 h 43200"/>
              <a:gd name="connsiteX18" fmla="*/ 2113 w 43200"/>
              <a:gd name="connsiteY18" fmla="*/ 25551 h 43200"/>
              <a:gd name="connsiteX19" fmla="*/ -5 w 43200"/>
              <a:gd name="connsiteY19" fmla="*/ 19704 h 43200"/>
              <a:gd name="connsiteX20" fmla="*/ 3863 w 43200"/>
              <a:gd name="connsiteY20" fmla="*/ 14507 h 43200"/>
              <a:gd name="connsiteX21" fmla="*/ 3900 w 43200"/>
              <a:gd name="connsiteY21" fmla="*/ 14370 h 43200"/>
              <a:gd name="connsiteX0" fmla="*/ 4693 w 43200"/>
              <a:gd name="connsiteY0" fmla="*/ 26177 h 43200"/>
              <a:gd name="connsiteX1" fmla="*/ 2160 w 43200"/>
              <a:gd name="connsiteY1" fmla="*/ 25380 h 43200"/>
              <a:gd name="connsiteX2" fmla="*/ 6928 w 43200"/>
              <a:gd name="connsiteY2" fmla="*/ 34899 h 43200"/>
              <a:gd name="connsiteX3" fmla="*/ 5820 w 43200"/>
              <a:gd name="connsiteY3" fmla="*/ 35280 h 43200"/>
              <a:gd name="connsiteX4" fmla="*/ 16478 w 43200"/>
              <a:gd name="connsiteY4" fmla="*/ 39090 h 43200"/>
              <a:gd name="connsiteX5" fmla="*/ 15810 w 43200"/>
              <a:gd name="connsiteY5" fmla="*/ 37350 h 43200"/>
              <a:gd name="connsiteX6" fmla="*/ 28827 w 43200"/>
              <a:gd name="connsiteY6" fmla="*/ 34751 h 43200"/>
              <a:gd name="connsiteX7" fmla="*/ 28560 w 43200"/>
              <a:gd name="connsiteY7" fmla="*/ 36660 h 43200"/>
              <a:gd name="connsiteX8" fmla="*/ 34129 w 43200"/>
              <a:gd name="connsiteY8" fmla="*/ 22954 h 43200"/>
              <a:gd name="connsiteX9" fmla="*/ 37380 w 43200"/>
              <a:gd name="connsiteY9" fmla="*/ 30090 h 43200"/>
              <a:gd name="connsiteX10" fmla="*/ 41798 w 43200"/>
              <a:gd name="connsiteY10" fmla="*/ 15354 h 43200"/>
              <a:gd name="connsiteX11" fmla="*/ 40350 w 43200"/>
              <a:gd name="connsiteY11" fmla="*/ 18030 h 43200"/>
              <a:gd name="connsiteX12" fmla="*/ 38324 w 43200"/>
              <a:gd name="connsiteY12" fmla="*/ 5426 h 43200"/>
              <a:gd name="connsiteX13" fmla="*/ 38400 w 43200"/>
              <a:gd name="connsiteY13" fmla="*/ 6690 h 43200"/>
              <a:gd name="connsiteX14" fmla="*/ 29078 w 43200"/>
              <a:gd name="connsiteY14" fmla="*/ 3952 h 43200"/>
              <a:gd name="connsiteX15" fmla="*/ 29820 w 43200"/>
              <a:gd name="connsiteY15" fmla="*/ 2340 h 43200"/>
              <a:gd name="connsiteX16" fmla="*/ 22141 w 43200"/>
              <a:gd name="connsiteY16" fmla="*/ 4720 h 43200"/>
              <a:gd name="connsiteX17" fmla="*/ 22500 w 43200"/>
              <a:gd name="connsiteY17" fmla="*/ 3330 h 43200"/>
              <a:gd name="connsiteX18" fmla="*/ 14000 w 43200"/>
              <a:gd name="connsiteY18" fmla="*/ 5192 h 43200"/>
              <a:gd name="connsiteX19" fmla="*/ 15300 w 43200"/>
              <a:gd name="connsiteY19" fmla="*/ 6540 h 43200"/>
              <a:gd name="connsiteX20" fmla="*/ 4127 w 43200"/>
              <a:gd name="connsiteY20" fmla="*/ 15789 h 43200"/>
              <a:gd name="connsiteX21" fmla="*/ 3900 w 43200"/>
              <a:gd name="connsiteY21" fmla="*/ 14370 h 43200"/>
              <a:gd name="connsiteX0" fmla="*/ 3936 w 43256"/>
              <a:gd name="connsiteY0" fmla="*/ 14229 h 43219"/>
              <a:gd name="connsiteX1" fmla="*/ 5659 w 43256"/>
              <a:gd name="connsiteY1" fmla="*/ 2581 h 43219"/>
              <a:gd name="connsiteX2" fmla="*/ 14041 w 43256"/>
              <a:gd name="connsiteY2" fmla="*/ 5061 h 43219"/>
              <a:gd name="connsiteX3" fmla="*/ 22492 w 43256"/>
              <a:gd name="connsiteY3" fmla="*/ 3291 h 43219"/>
              <a:gd name="connsiteX4" fmla="*/ 25785 w 43256"/>
              <a:gd name="connsiteY4" fmla="*/ 59 h 43219"/>
              <a:gd name="connsiteX5" fmla="*/ 29869 w 43256"/>
              <a:gd name="connsiteY5" fmla="*/ 2340 h 43219"/>
              <a:gd name="connsiteX6" fmla="*/ 35499 w 43256"/>
              <a:gd name="connsiteY6" fmla="*/ 549 h 43219"/>
              <a:gd name="connsiteX7" fmla="*/ 38354 w 43256"/>
              <a:gd name="connsiteY7" fmla="*/ 5435 h 43219"/>
              <a:gd name="connsiteX8" fmla="*/ 42018 w 43256"/>
              <a:gd name="connsiteY8" fmla="*/ 10177 h 43219"/>
              <a:gd name="connsiteX9" fmla="*/ 41854 w 43256"/>
              <a:gd name="connsiteY9" fmla="*/ 15319 h 43219"/>
              <a:gd name="connsiteX10" fmla="*/ 43052 w 43256"/>
              <a:gd name="connsiteY10" fmla="*/ 23181 h 43219"/>
              <a:gd name="connsiteX11" fmla="*/ 37440 w 43256"/>
              <a:gd name="connsiteY11" fmla="*/ 30063 h 43219"/>
              <a:gd name="connsiteX12" fmla="*/ 35431 w 43256"/>
              <a:gd name="connsiteY12" fmla="*/ 35960 h 43219"/>
              <a:gd name="connsiteX13" fmla="*/ 28591 w 43256"/>
              <a:gd name="connsiteY13" fmla="*/ 36674 h 43219"/>
              <a:gd name="connsiteX14" fmla="*/ 23703 w 43256"/>
              <a:gd name="connsiteY14" fmla="*/ 42965 h 43219"/>
              <a:gd name="connsiteX15" fmla="*/ 16516 w 43256"/>
              <a:gd name="connsiteY15" fmla="*/ 39125 h 43219"/>
              <a:gd name="connsiteX16" fmla="*/ 5840 w 43256"/>
              <a:gd name="connsiteY16" fmla="*/ 35331 h 43219"/>
              <a:gd name="connsiteX17" fmla="*/ 1146 w 43256"/>
              <a:gd name="connsiteY17" fmla="*/ 31109 h 43219"/>
              <a:gd name="connsiteX18" fmla="*/ 2149 w 43256"/>
              <a:gd name="connsiteY18" fmla="*/ 25410 h 43219"/>
              <a:gd name="connsiteX19" fmla="*/ 31 w 43256"/>
              <a:gd name="connsiteY19" fmla="*/ 19563 h 43219"/>
              <a:gd name="connsiteX20" fmla="*/ 3899 w 43256"/>
              <a:gd name="connsiteY20" fmla="*/ 14366 h 43219"/>
              <a:gd name="connsiteX21" fmla="*/ 3936 w 43256"/>
              <a:gd name="connsiteY21" fmla="*/ 14229 h 43219"/>
              <a:gd name="connsiteX0" fmla="*/ 4729 w 43256"/>
              <a:gd name="connsiteY0" fmla="*/ 26036 h 43219"/>
              <a:gd name="connsiteX1" fmla="*/ 2196 w 43256"/>
              <a:gd name="connsiteY1" fmla="*/ 25239 h 43219"/>
              <a:gd name="connsiteX2" fmla="*/ 6964 w 43256"/>
              <a:gd name="connsiteY2" fmla="*/ 34758 h 43219"/>
              <a:gd name="connsiteX3" fmla="*/ 5856 w 43256"/>
              <a:gd name="connsiteY3" fmla="*/ 35139 h 43219"/>
              <a:gd name="connsiteX4" fmla="*/ 16514 w 43256"/>
              <a:gd name="connsiteY4" fmla="*/ 38949 h 43219"/>
              <a:gd name="connsiteX5" fmla="*/ 15846 w 43256"/>
              <a:gd name="connsiteY5" fmla="*/ 37209 h 43219"/>
              <a:gd name="connsiteX6" fmla="*/ 28863 w 43256"/>
              <a:gd name="connsiteY6" fmla="*/ 34610 h 43219"/>
              <a:gd name="connsiteX7" fmla="*/ 28596 w 43256"/>
              <a:gd name="connsiteY7" fmla="*/ 36519 h 43219"/>
              <a:gd name="connsiteX8" fmla="*/ 34165 w 43256"/>
              <a:gd name="connsiteY8" fmla="*/ 22813 h 43219"/>
              <a:gd name="connsiteX9" fmla="*/ 37416 w 43256"/>
              <a:gd name="connsiteY9" fmla="*/ 29949 h 43219"/>
              <a:gd name="connsiteX10" fmla="*/ 41834 w 43256"/>
              <a:gd name="connsiteY10" fmla="*/ 15213 h 43219"/>
              <a:gd name="connsiteX11" fmla="*/ 40386 w 43256"/>
              <a:gd name="connsiteY11" fmla="*/ 17889 h 43219"/>
              <a:gd name="connsiteX12" fmla="*/ 38360 w 43256"/>
              <a:gd name="connsiteY12" fmla="*/ 5285 h 43219"/>
              <a:gd name="connsiteX13" fmla="*/ 38436 w 43256"/>
              <a:gd name="connsiteY13" fmla="*/ 6549 h 43219"/>
              <a:gd name="connsiteX14" fmla="*/ 29114 w 43256"/>
              <a:gd name="connsiteY14" fmla="*/ 3811 h 43219"/>
              <a:gd name="connsiteX15" fmla="*/ 29856 w 43256"/>
              <a:gd name="connsiteY15" fmla="*/ 2199 h 43219"/>
              <a:gd name="connsiteX16" fmla="*/ 22177 w 43256"/>
              <a:gd name="connsiteY16" fmla="*/ 4579 h 43219"/>
              <a:gd name="connsiteX17" fmla="*/ 22536 w 43256"/>
              <a:gd name="connsiteY17" fmla="*/ 3189 h 43219"/>
              <a:gd name="connsiteX18" fmla="*/ 14036 w 43256"/>
              <a:gd name="connsiteY18" fmla="*/ 5051 h 43219"/>
              <a:gd name="connsiteX19" fmla="*/ 15336 w 43256"/>
              <a:gd name="connsiteY19" fmla="*/ 6399 h 43219"/>
              <a:gd name="connsiteX20" fmla="*/ 4163 w 43256"/>
              <a:gd name="connsiteY20" fmla="*/ 15648 h 43219"/>
              <a:gd name="connsiteX21" fmla="*/ 3936 w 43256"/>
              <a:gd name="connsiteY21" fmla="*/ 14229 h 43219"/>
              <a:gd name="connsiteX0" fmla="*/ 3936 w 43256"/>
              <a:gd name="connsiteY0" fmla="*/ 15046 h 44036"/>
              <a:gd name="connsiteX1" fmla="*/ 5659 w 43256"/>
              <a:gd name="connsiteY1" fmla="*/ 3398 h 44036"/>
              <a:gd name="connsiteX2" fmla="*/ 11155 w 43256"/>
              <a:gd name="connsiteY2" fmla="*/ 78 h 44036"/>
              <a:gd name="connsiteX3" fmla="*/ 14041 w 43256"/>
              <a:gd name="connsiteY3" fmla="*/ 5878 h 44036"/>
              <a:gd name="connsiteX4" fmla="*/ 22492 w 43256"/>
              <a:gd name="connsiteY4" fmla="*/ 4108 h 44036"/>
              <a:gd name="connsiteX5" fmla="*/ 25785 w 43256"/>
              <a:gd name="connsiteY5" fmla="*/ 876 h 44036"/>
              <a:gd name="connsiteX6" fmla="*/ 29869 w 43256"/>
              <a:gd name="connsiteY6" fmla="*/ 3157 h 44036"/>
              <a:gd name="connsiteX7" fmla="*/ 35499 w 43256"/>
              <a:gd name="connsiteY7" fmla="*/ 1366 h 44036"/>
              <a:gd name="connsiteX8" fmla="*/ 38354 w 43256"/>
              <a:gd name="connsiteY8" fmla="*/ 6252 h 44036"/>
              <a:gd name="connsiteX9" fmla="*/ 42018 w 43256"/>
              <a:gd name="connsiteY9" fmla="*/ 10994 h 44036"/>
              <a:gd name="connsiteX10" fmla="*/ 41854 w 43256"/>
              <a:gd name="connsiteY10" fmla="*/ 16136 h 44036"/>
              <a:gd name="connsiteX11" fmla="*/ 43052 w 43256"/>
              <a:gd name="connsiteY11" fmla="*/ 23998 h 44036"/>
              <a:gd name="connsiteX12" fmla="*/ 37440 w 43256"/>
              <a:gd name="connsiteY12" fmla="*/ 30880 h 44036"/>
              <a:gd name="connsiteX13" fmla="*/ 35431 w 43256"/>
              <a:gd name="connsiteY13" fmla="*/ 36777 h 44036"/>
              <a:gd name="connsiteX14" fmla="*/ 28591 w 43256"/>
              <a:gd name="connsiteY14" fmla="*/ 37491 h 44036"/>
              <a:gd name="connsiteX15" fmla="*/ 23703 w 43256"/>
              <a:gd name="connsiteY15" fmla="*/ 43782 h 44036"/>
              <a:gd name="connsiteX16" fmla="*/ 16516 w 43256"/>
              <a:gd name="connsiteY16" fmla="*/ 39942 h 44036"/>
              <a:gd name="connsiteX17" fmla="*/ 5840 w 43256"/>
              <a:gd name="connsiteY17" fmla="*/ 36148 h 44036"/>
              <a:gd name="connsiteX18" fmla="*/ 1146 w 43256"/>
              <a:gd name="connsiteY18" fmla="*/ 31926 h 44036"/>
              <a:gd name="connsiteX19" fmla="*/ 2149 w 43256"/>
              <a:gd name="connsiteY19" fmla="*/ 26227 h 44036"/>
              <a:gd name="connsiteX20" fmla="*/ 31 w 43256"/>
              <a:gd name="connsiteY20" fmla="*/ 20380 h 44036"/>
              <a:gd name="connsiteX21" fmla="*/ 3899 w 43256"/>
              <a:gd name="connsiteY21" fmla="*/ 15183 h 44036"/>
              <a:gd name="connsiteX22" fmla="*/ 3936 w 43256"/>
              <a:gd name="connsiteY22" fmla="*/ 15046 h 44036"/>
              <a:gd name="connsiteX0" fmla="*/ 4729 w 43256"/>
              <a:gd name="connsiteY0" fmla="*/ 26853 h 44036"/>
              <a:gd name="connsiteX1" fmla="*/ 2196 w 43256"/>
              <a:gd name="connsiteY1" fmla="*/ 26056 h 44036"/>
              <a:gd name="connsiteX2" fmla="*/ 6964 w 43256"/>
              <a:gd name="connsiteY2" fmla="*/ 35575 h 44036"/>
              <a:gd name="connsiteX3" fmla="*/ 5856 w 43256"/>
              <a:gd name="connsiteY3" fmla="*/ 35956 h 44036"/>
              <a:gd name="connsiteX4" fmla="*/ 16514 w 43256"/>
              <a:gd name="connsiteY4" fmla="*/ 39766 h 44036"/>
              <a:gd name="connsiteX5" fmla="*/ 15846 w 43256"/>
              <a:gd name="connsiteY5" fmla="*/ 38026 h 44036"/>
              <a:gd name="connsiteX6" fmla="*/ 28863 w 43256"/>
              <a:gd name="connsiteY6" fmla="*/ 35427 h 44036"/>
              <a:gd name="connsiteX7" fmla="*/ 28596 w 43256"/>
              <a:gd name="connsiteY7" fmla="*/ 37336 h 44036"/>
              <a:gd name="connsiteX8" fmla="*/ 34165 w 43256"/>
              <a:gd name="connsiteY8" fmla="*/ 23630 h 44036"/>
              <a:gd name="connsiteX9" fmla="*/ 37416 w 43256"/>
              <a:gd name="connsiteY9" fmla="*/ 30766 h 44036"/>
              <a:gd name="connsiteX10" fmla="*/ 41834 w 43256"/>
              <a:gd name="connsiteY10" fmla="*/ 16030 h 44036"/>
              <a:gd name="connsiteX11" fmla="*/ 40386 w 43256"/>
              <a:gd name="connsiteY11" fmla="*/ 18706 h 44036"/>
              <a:gd name="connsiteX12" fmla="*/ 38360 w 43256"/>
              <a:gd name="connsiteY12" fmla="*/ 6102 h 44036"/>
              <a:gd name="connsiteX13" fmla="*/ 38436 w 43256"/>
              <a:gd name="connsiteY13" fmla="*/ 7366 h 44036"/>
              <a:gd name="connsiteX14" fmla="*/ 29114 w 43256"/>
              <a:gd name="connsiteY14" fmla="*/ 4628 h 44036"/>
              <a:gd name="connsiteX15" fmla="*/ 29856 w 43256"/>
              <a:gd name="connsiteY15" fmla="*/ 3016 h 44036"/>
              <a:gd name="connsiteX16" fmla="*/ 22177 w 43256"/>
              <a:gd name="connsiteY16" fmla="*/ 5396 h 44036"/>
              <a:gd name="connsiteX17" fmla="*/ 22536 w 43256"/>
              <a:gd name="connsiteY17" fmla="*/ 4006 h 44036"/>
              <a:gd name="connsiteX18" fmla="*/ 14036 w 43256"/>
              <a:gd name="connsiteY18" fmla="*/ 5868 h 44036"/>
              <a:gd name="connsiteX19" fmla="*/ 15336 w 43256"/>
              <a:gd name="connsiteY19" fmla="*/ 7216 h 44036"/>
              <a:gd name="connsiteX20" fmla="*/ 4163 w 43256"/>
              <a:gd name="connsiteY20" fmla="*/ 16465 h 44036"/>
              <a:gd name="connsiteX21" fmla="*/ 3936 w 43256"/>
              <a:gd name="connsiteY21" fmla="*/ 15046 h 44036"/>
              <a:gd name="connsiteX0" fmla="*/ 3936 w 43256"/>
              <a:gd name="connsiteY0" fmla="*/ 17566 h 46556"/>
              <a:gd name="connsiteX1" fmla="*/ 5659 w 43256"/>
              <a:gd name="connsiteY1" fmla="*/ 5918 h 46556"/>
              <a:gd name="connsiteX2" fmla="*/ 11155 w 43256"/>
              <a:gd name="connsiteY2" fmla="*/ 2598 h 46556"/>
              <a:gd name="connsiteX3" fmla="*/ 14041 w 43256"/>
              <a:gd name="connsiteY3" fmla="*/ 8398 h 46556"/>
              <a:gd name="connsiteX4" fmla="*/ 18812 w 43256"/>
              <a:gd name="connsiteY4" fmla="*/ 8 h 46556"/>
              <a:gd name="connsiteX5" fmla="*/ 22492 w 43256"/>
              <a:gd name="connsiteY5" fmla="*/ 6628 h 46556"/>
              <a:gd name="connsiteX6" fmla="*/ 25785 w 43256"/>
              <a:gd name="connsiteY6" fmla="*/ 3396 h 46556"/>
              <a:gd name="connsiteX7" fmla="*/ 29869 w 43256"/>
              <a:gd name="connsiteY7" fmla="*/ 5677 h 46556"/>
              <a:gd name="connsiteX8" fmla="*/ 35499 w 43256"/>
              <a:gd name="connsiteY8" fmla="*/ 3886 h 46556"/>
              <a:gd name="connsiteX9" fmla="*/ 38354 w 43256"/>
              <a:gd name="connsiteY9" fmla="*/ 8772 h 46556"/>
              <a:gd name="connsiteX10" fmla="*/ 42018 w 43256"/>
              <a:gd name="connsiteY10" fmla="*/ 13514 h 46556"/>
              <a:gd name="connsiteX11" fmla="*/ 41854 w 43256"/>
              <a:gd name="connsiteY11" fmla="*/ 18656 h 46556"/>
              <a:gd name="connsiteX12" fmla="*/ 43052 w 43256"/>
              <a:gd name="connsiteY12" fmla="*/ 26518 h 46556"/>
              <a:gd name="connsiteX13" fmla="*/ 37440 w 43256"/>
              <a:gd name="connsiteY13" fmla="*/ 33400 h 46556"/>
              <a:gd name="connsiteX14" fmla="*/ 35431 w 43256"/>
              <a:gd name="connsiteY14" fmla="*/ 39297 h 46556"/>
              <a:gd name="connsiteX15" fmla="*/ 28591 w 43256"/>
              <a:gd name="connsiteY15" fmla="*/ 40011 h 46556"/>
              <a:gd name="connsiteX16" fmla="*/ 23703 w 43256"/>
              <a:gd name="connsiteY16" fmla="*/ 46302 h 46556"/>
              <a:gd name="connsiteX17" fmla="*/ 16516 w 43256"/>
              <a:gd name="connsiteY17" fmla="*/ 42462 h 46556"/>
              <a:gd name="connsiteX18" fmla="*/ 5840 w 43256"/>
              <a:gd name="connsiteY18" fmla="*/ 38668 h 46556"/>
              <a:gd name="connsiteX19" fmla="*/ 1146 w 43256"/>
              <a:gd name="connsiteY19" fmla="*/ 34446 h 46556"/>
              <a:gd name="connsiteX20" fmla="*/ 2149 w 43256"/>
              <a:gd name="connsiteY20" fmla="*/ 28747 h 46556"/>
              <a:gd name="connsiteX21" fmla="*/ 31 w 43256"/>
              <a:gd name="connsiteY21" fmla="*/ 22900 h 46556"/>
              <a:gd name="connsiteX22" fmla="*/ 3899 w 43256"/>
              <a:gd name="connsiteY22" fmla="*/ 17703 h 46556"/>
              <a:gd name="connsiteX23" fmla="*/ 3936 w 43256"/>
              <a:gd name="connsiteY23" fmla="*/ 17566 h 46556"/>
              <a:gd name="connsiteX0" fmla="*/ 4729 w 43256"/>
              <a:gd name="connsiteY0" fmla="*/ 29373 h 46556"/>
              <a:gd name="connsiteX1" fmla="*/ 2196 w 43256"/>
              <a:gd name="connsiteY1" fmla="*/ 28576 h 46556"/>
              <a:gd name="connsiteX2" fmla="*/ 6964 w 43256"/>
              <a:gd name="connsiteY2" fmla="*/ 38095 h 46556"/>
              <a:gd name="connsiteX3" fmla="*/ 5856 w 43256"/>
              <a:gd name="connsiteY3" fmla="*/ 38476 h 46556"/>
              <a:gd name="connsiteX4" fmla="*/ 16514 w 43256"/>
              <a:gd name="connsiteY4" fmla="*/ 42286 h 46556"/>
              <a:gd name="connsiteX5" fmla="*/ 15846 w 43256"/>
              <a:gd name="connsiteY5" fmla="*/ 40546 h 46556"/>
              <a:gd name="connsiteX6" fmla="*/ 28863 w 43256"/>
              <a:gd name="connsiteY6" fmla="*/ 37947 h 46556"/>
              <a:gd name="connsiteX7" fmla="*/ 28596 w 43256"/>
              <a:gd name="connsiteY7" fmla="*/ 39856 h 46556"/>
              <a:gd name="connsiteX8" fmla="*/ 34165 w 43256"/>
              <a:gd name="connsiteY8" fmla="*/ 26150 h 46556"/>
              <a:gd name="connsiteX9" fmla="*/ 37416 w 43256"/>
              <a:gd name="connsiteY9" fmla="*/ 33286 h 46556"/>
              <a:gd name="connsiteX10" fmla="*/ 41834 w 43256"/>
              <a:gd name="connsiteY10" fmla="*/ 18550 h 46556"/>
              <a:gd name="connsiteX11" fmla="*/ 40386 w 43256"/>
              <a:gd name="connsiteY11" fmla="*/ 21226 h 46556"/>
              <a:gd name="connsiteX12" fmla="*/ 38360 w 43256"/>
              <a:gd name="connsiteY12" fmla="*/ 8622 h 46556"/>
              <a:gd name="connsiteX13" fmla="*/ 38436 w 43256"/>
              <a:gd name="connsiteY13" fmla="*/ 9886 h 46556"/>
              <a:gd name="connsiteX14" fmla="*/ 29114 w 43256"/>
              <a:gd name="connsiteY14" fmla="*/ 7148 h 46556"/>
              <a:gd name="connsiteX15" fmla="*/ 29856 w 43256"/>
              <a:gd name="connsiteY15" fmla="*/ 5536 h 46556"/>
              <a:gd name="connsiteX16" fmla="*/ 22177 w 43256"/>
              <a:gd name="connsiteY16" fmla="*/ 7916 h 46556"/>
              <a:gd name="connsiteX17" fmla="*/ 22536 w 43256"/>
              <a:gd name="connsiteY17" fmla="*/ 6526 h 46556"/>
              <a:gd name="connsiteX18" fmla="*/ 14036 w 43256"/>
              <a:gd name="connsiteY18" fmla="*/ 8388 h 46556"/>
              <a:gd name="connsiteX19" fmla="*/ 15336 w 43256"/>
              <a:gd name="connsiteY19" fmla="*/ 9736 h 46556"/>
              <a:gd name="connsiteX20" fmla="*/ 4163 w 43256"/>
              <a:gd name="connsiteY20" fmla="*/ 18985 h 46556"/>
              <a:gd name="connsiteX21" fmla="*/ 3936 w 43256"/>
              <a:gd name="connsiteY21" fmla="*/ 17566 h 46556"/>
              <a:gd name="connsiteX0" fmla="*/ 3936 w 43256"/>
              <a:gd name="connsiteY0" fmla="*/ 17559 h 46549"/>
              <a:gd name="connsiteX1" fmla="*/ 5659 w 43256"/>
              <a:gd name="connsiteY1" fmla="*/ 5911 h 46549"/>
              <a:gd name="connsiteX2" fmla="*/ 11155 w 43256"/>
              <a:gd name="connsiteY2" fmla="*/ 2591 h 46549"/>
              <a:gd name="connsiteX3" fmla="*/ 14041 w 43256"/>
              <a:gd name="connsiteY3" fmla="*/ 8391 h 46549"/>
              <a:gd name="connsiteX4" fmla="*/ 14741 w 43256"/>
              <a:gd name="connsiteY4" fmla="*/ 3388 h 46549"/>
              <a:gd name="connsiteX5" fmla="*/ 18812 w 43256"/>
              <a:gd name="connsiteY5" fmla="*/ 1 h 46549"/>
              <a:gd name="connsiteX6" fmla="*/ 22492 w 43256"/>
              <a:gd name="connsiteY6" fmla="*/ 6621 h 46549"/>
              <a:gd name="connsiteX7" fmla="*/ 25785 w 43256"/>
              <a:gd name="connsiteY7" fmla="*/ 3389 h 46549"/>
              <a:gd name="connsiteX8" fmla="*/ 29869 w 43256"/>
              <a:gd name="connsiteY8" fmla="*/ 5670 h 46549"/>
              <a:gd name="connsiteX9" fmla="*/ 35499 w 43256"/>
              <a:gd name="connsiteY9" fmla="*/ 3879 h 46549"/>
              <a:gd name="connsiteX10" fmla="*/ 38354 w 43256"/>
              <a:gd name="connsiteY10" fmla="*/ 8765 h 46549"/>
              <a:gd name="connsiteX11" fmla="*/ 42018 w 43256"/>
              <a:gd name="connsiteY11" fmla="*/ 13507 h 46549"/>
              <a:gd name="connsiteX12" fmla="*/ 41854 w 43256"/>
              <a:gd name="connsiteY12" fmla="*/ 18649 h 46549"/>
              <a:gd name="connsiteX13" fmla="*/ 43052 w 43256"/>
              <a:gd name="connsiteY13" fmla="*/ 26511 h 46549"/>
              <a:gd name="connsiteX14" fmla="*/ 37440 w 43256"/>
              <a:gd name="connsiteY14" fmla="*/ 33393 h 46549"/>
              <a:gd name="connsiteX15" fmla="*/ 35431 w 43256"/>
              <a:gd name="connsiteY15" fmla="*/ 39290 h 46549"/>
              <a:gd name="connsiteX16" fmla="*/ 28591 w 43256"/>
              <a:gd name="connsiteY16" fmla="*/ 40004 h 46549"/>
              <a:gd name="connsiteX17" fmla="*/ 23703 w 43256"/>
              <a:gd name="connsiteY17" fmla="*/ 46295 h 46549"/>
              <a:gd name="connsiteX18" fmla="*/ 16516 w 43256"/>
              <a:gd name="connsiteY18" fmla="*/ 42455 h 46549"/>
              <a:gd name="connsiteX19" fmla="*/ 5840 w 43256"/>
              <a:gd name="connsiteY19" fmla="*/ 38661 h 46549"/>
              <a:gd name="connsiteX20" fmla="*/ 1146 w 43256"/>
              <a:gd name="connsiteY20" fmla="*/ 34439 h 46549"/>
              <a:gd name="connsiteX21" fmla="*/ 2149 w 43256"/>
              <a:gd name="connsiteY21" fmla="*/ 28740 h 46549"/>
              <a:gd name="connsiteX22" fmla="*/ 31 w 43256"/>
              <a:gd name="connsiteY22" fmla="*/ 22893 h 46549"/>
              <a:gd name="connsiteX23" fmla="*/ 3899 w 43256"/>
              <a:gd name="connsiteY23" fmla="*/ 17696 h 46549"/>
              <a:gd name="connsiteX24" fmla="*/ 3936 w 43256"/>
              <a:gd name="connsiteY24" fmla="*/ 17559 h 46549"/>
              <a:gd name="connsiteX0" fmla="*/ 4729 w 43256"/>
              <a:gd name="connsiteY0" fmla="*/ 29366 h 46549"/>
              <a:gd name="connsiteX1" fmla="*/ 2196 w 43256"/>
              <a:gd name="connsiteY1" fmla="*/ 28569 h 46549"/>
              <a:gd name="connsiteX2" fmla="*/ 6964 w 43256"/>
              <a:gd name="connsiteY2" fmla="*/ 38088 h 46549"/>
              <a:gd name="connsiteX3" fmla="*/ 5856 w 43256"/>
              <a:gd name="connsiteY3" fmla="*/ 38469 h 46549"/>
              <a:gd name="connsiteX4" fmla="*/ 16514 w 43256"/>
              <a:gd name="connsiteY4" fmla="*/ 42279 h 46549"/>
              <a:gd name="connsiteX5" fmla="*/ 15846 w 43256"/>
              <a:gd name="connsiteY5" fmla="*/ 40539 h 46549"/>
              <a:gd name="connsiteX6" fmla="*/ 28863 w 43256"/>
              <a:gd name="connsiteY6" fmla="*/ 37940 h 46549"/>
              <a:gd name="connsiteX7" fmla="*/ 28596 w 43256"/>
              <a:gd name="connsiteY7" fmla="*/ 39849 h 46549"/>
              <a:gd name="connsiteX8" fmla="*/ 34165 w 43256"/>
              <a:gd name="connsiteY8" fmla="*/ 26143 h 46549"/>
              <a:gd name="connsiteX9" fmla="*/ 37416 w 43256"/>
              <a:gd name="connsiteY9" fmla="*/ 33279 h 46549"/>
              <a:gd name="connsiteX10" fmla="*/ 41834 w 43256"/>
              <a:gd name="connsiteY10" fmla="*/ 18543 h 46549"/>
              <a:gd name="connsiteX11" fmla="*/ 40386 w 43256"/>
              <a:gd name="connsiteY11" fmla="*/ 21219 h 46549"/>
              <a:gd name="connsiteX12" fmla="*/ 38360 w 43256"/>
              <a:gd name="connsiteY12" fmla="*/ 8615 h 46549"/>
              <a:gd name="connsiteX13" fmla="*/ 38436 w 43256"/>
              <a:gd name="connsiteY13" fmla="*/ 9879 h 46549"/>
              <a:gd name="connsiteX14" fmla="*/ 29114 w 43256"/>
              <a:gd name="connsiteY14" fmla="*/ 7141 h 46549"/>
              <a:gd name="connsiteX15" fmla="*/ 29856 w 43256"/>
              <a:gd name="connsiteY15" fmla="*/ 5529 h 46549"/>
              <a:gd name="connsiteX16" fmla="*/ 22177 w 43256"/>
              <a:gd name="connsiteY16" fmla="*/ 7909 h 46549"/>
              <a:gd name="connsiteX17" fmla="*/ 22536 w 43256"/>
              <a:gd name="connsiteY17" fmla="*/ 6519 h 46549"/>
              <a:gd name="connsiteX18" fmla="*/ 14036 w 43256"/>
              <a:gd name="connsiteY18" fmla="*/ 8381 h 46549"/>
              <a:gd name="connsiteX19" fmla="*/ 15336 w 43256"/>
              <a:gd name="connsiteY19" fmla="*/ 9729 h 46549"/>
              <a:gd name="connsiteX20" fmla="*/ 4163 w 43256"/>
              <a:gd name="connsiteY20" fmla="*/ 18978 h 46549"/>
              <a:gd name="connsiteX21" fmla="*/ 3936 w 43256"/>
              <a:gd name="connsiteY21" fmla="*/ 17559 h 46549"/>
              <a:gd name="connsiteX0" fmla="*/ 3936 w 43256"/>
              <a:gd name="connsiteY0" fmla="*/ 20357 h 49347"/>
              <a:gd name="connsiteX1" fmla="*/ 5659 w 43256"/>
              <a:gd name="connsiteY1" fmla="*/ 8709 h 49347"/>
              <a:gd name="connsiteX2" fmla="*/ 11155 w 43256"/>
              <a:gd name="connsiteY2" fmla="*/ 5389 h 49347"/>
              <a:gd name="connsiteX3" fmla="*/ 14041 w 43256"/>
              <a:gd name="connsiteY3" fmla="*/ 11189 h 49347"/>
              <a:gd name="connsiteX4" fmla="*/ 14741 w 43256"/>
              <a:gd name="connsiteY4" fmla="*/ 6186 h 49347"/>
              <a:gd name="connsiteX5" fmla="*/ 18812 w 43256"/>
              <a:gd name="connsiteY5" fmla="*/ 2799 h 49347"/>
              <a:gd name="connsiteX6" fmla="*/ 22492 w 43256"/>
              <a:gd name="connsiteY6" fmla="*/ 9419 h 49347"/>
              <a:gd name="connsiteX7" fmla="*/ 28402 w 43256"/>
              <a:gd name="connsiteY7" fmla="*/ 9 h 49347"/>
              <a:gd name="connsiteX8" fmla="*/ 29869 w 43256"/>
              <a:gd name="connsiteY8" fmla="*/ 8468 h 49347"/>
              <a:gd name="connsiteX9" fmla="*/ 35499 w 43256"/>
              <a:gd name="connsiteY9" fmla="*/ 6677 h 49347"/>
              <a:gd name="connsiteX10" fmla="*/ 38354 w 43256"/>
              <a:gd name="connsiteY10" fmla="*/ 11563 h 49347"/>
              <a:gd name="connsiteX11" fmla="*/ 42018 w 43256"/>
              <a:gd name="connsiteY11" fmla="*/ 16305 h 49347"/>
              <a:gd name="connsiteX12" fmla="*/ 41854 w 43256"/>
              <a:gd name="connsiteY12" fmla="*/ 21447 h 49347"/>
              <a:gd name="connsiteX13" fmla="*/ 43052 w 43256"/>
              <a:gd name="connsiteY13" fmla="*/ 29309 h 49347"/>
              <a:gd name="connsiteX14" fmla="*/ 37440 w 43256"/>
              <a:gd name="connsiteY14" fmla="*/ 36191 h 49347"/>
              <a:gd name="connsiteX15" fmla="*/ 35431 w 43256"/>
              <a:gd name="connsiteY15" fmla="*/ 42088 h 49347"/>
              <a:gd name="connsiteX16" fmla="*/ 28591 w 43256"/>
              <a:gd name="connsiteY16" fmla="*/ 42802 h 49347"/>
              <a:gd name="connsiteX17" fmla="*/ 23703 w 43256"/>
              <a:gd name="connsiteY17" fmla="*/ 49093 h 49347"/>
              <a:gd name="connsiteX18" fmla="*/ 16516 w 43256"/>
              <a:gd name="connsiteY18" fmla="*/ 45253 h 49347"/>
              <a:gd name="connsiteX19" fmla="*/ 5840 w 43256"/>
              <a:gd name="connsiteY19" fmla="*/ 41459 h 49347"/>
              <a:gd name="connsiteX20" fmla="*/ 1146 w 43256"/>
              <a:gd name="connsiteY20" fmla="*/ 37237 h 49347"/>
              <a:gd name="connsiteX21" fmla="*/ 2149 w 43256"/>
              <a:gd name="connsiteY21" fmla="*/ 31538 h 49347"/>
              <a:gd name="connsiteX22" fmla="*/ 31 w 43256"/>
              <a:gd name="connsiteY22" fmla="*/ 25691 h 49347"/>
              <a:gd name="connsiteX23" fmla="*/ 3899 w 43256"/>
              <a:gd name="connsiteY23" fmla="*/ 20494 h 49347"/>
              <a:gd name="connsiteX24" fmla="*/ 3936 w 43256"/>
              <a:gd name="connsiteY24" fmla="*/ 20357 h 49347"/>
              <a:gd name="connsiteX0" fmla="*/ 4729 w 43256"/>
              <a:gd name="connsiteY0" fmla="*/ 32164 h 49347"/>
              <a:gd name="connsiteX1" fmla="*/ 2196 w 43256"/>
              <a:gd name="connsiteY1" fmla="*/ 31367 h 49347"/>
              <a:gd name="connsiteX2" fmla="*/ 6964 w 43256"/>
              <a:gd name="connsiteY2" fmla="*/ 40886 h 49347"/>
              <a:gd name="connsiteX3" fmla="*/ 5856 w 43256"/>
              <a:gd name="connsiteY3" fmla="*/ 41267 h 49347"/>
              <a:gd name="connsiteX4" fmla="*/ 16514 w 43256"/>
              <a:gd name="connsiteY4" fmla="*/ 45077 h 49347"/>
              <a:gd name="connsiteX5" fmla="*/ 15846 w 43256"/>
              <a:gd name="connsiteY5" fmla="*/ 43337 h 49347"/>
              <a:gd name="connsiteX6" fmla="*/ 28863 w 43256"/>
              <a:gd name="connsiteY6" fmla="*/ 40738 h 49347"/>
              <a:gd name="connsiteX7" fmla="*/ 28596 w 43256"/>
              <a:gd name="connsiteY7" fmla="*/ 42647 h 49347"/>
              <a:gd name="connsiteX8" fmla="*/ 34165 w 43256"/>
              <a:gd name="connsiteY8" fmla="*/ 28941 h 49347"/>
              <a:gd name="connsiteX9" fmla="*/ 37416 w 43256"/>
              <a:gd name="connsiteY9" fmla="*/ 36077 h 49347"/>
              <a:gd name="connsiteX10" fmla="*/ 41834 w 43256"/>
              <a:gd name="connsiteY10" fmla="*/ 21341 h 49347"/>
              <a:gd name="connsiteX11" fmla="*/ 40386 w 43256"/>
              <a:gd name="connsiteY11" fmla="*/ 24017 h 49347"/>
              <a:gd name="connsiteX12" fmla="*/ 38360 w 43256"/>
              <a:gd name="connsiteY12" fmla="*/ 11413 h 49347"/>
              <a:gd name="connsiteX13" fmla="*/ 38436 w 43256"/>
              <a:gd name="connsiteY13" fmla="*/ 12677 h 49347"/>
              <a:gd name="connsiteX14" fmla="*/ 29114 w 43256"/>
              <a:gd name="connsiteY14" fmla="*/ 9939 h 49347"/>
              <a:gd name="connsiteX15" fmla="*/ 29856 w 43256"/>
              <a:gd name="connsiteY15" fmla="*/ 8327 h 49347"/>
              <a:gd name="connsiteX16" fmla="*/ 22177 w 43256"/>
              <a:gd name="connsiteY16" fmla="*/ 10707 h 49347"/>
              <a:gd name="connsiteX17" fmla="*/ 22536 w 43256"/>
              <a:gd name="connsiteY17" fmla="*/ 9317 h 49347"/>
              <a:gd name="connsiteX18" fmla="*/ 14036 w 43256"/>
              <a:gd name="connsiteY18" fmla="*/ 11179 h 49347"/>
              <a:gd name="connsiteX19" fmla="*/ 15336 w 43256"/>
              <a:gd name="connsiteY19" fmla="*/ 12527 h 49347"/>
              <a:gd name="connsiteX20" fmla="*/ 4163 w 43256"/>
              <a:gd name="connsiteY20" fmla="*/ 21776 h 49347"/>
              <a:gd name="connsiteX21" fmla="*/ 3936 w 43256"/>
              <a:gd name="connsiteY21" fmla="*/ 20357 h 49347"/>
              <a:gd name="connsiteX0" fmla="*/ 3936 w 43256"/>
              <a:gd name="connsiteY0" fmla="*/ 20357 h 49347"/>
              <a:gd name="connsiteX1" fmla="*/ 5659 w 43256"/>
              <a:gd name="connsiteY1" fmla="*/ 8709 h 49347"/>
              <a:gd name="connsiteX2" fmla="*/ 11155 w 43256"/>
              <a:gd name="connsiteY2" fmla="*/ 5389 h 49347"/>
              <a:gd name="connsiteX3" fmla="*/ 14041 w 43256"/>
              <a:gd name="connsiteY3" fmla="*/ 11189 h 49347"/>
              <a:gd name="connsiteX4" fmla="*/ 14741 w 43256"/>
              <a:gd name="connsiteY4" fmla="*/ 6186 h 49347"/>
              <a:gd name="connsiteX5" fmla="*/ 18812 w 43256"/>
              <a:gd name="connsiteY5" fmla="*/ 2799 h 49347"/>
              <a:gd name="connsiteX6" fmla="*/ 22492 w 43256"/>
              <a:gd name="connsiteY6" fmla="*/ 9419 h 49347"/>
              <a:gd name="connsiteX7" fmla="*/ 28402 w 43256"/>
              <a:gd name="connsiteY7" fmla="*/ 9 h 49347"/>
              <a:gd name="connsiteX8" fmla="*/ 29869 w 43256"/>
              <a:gd name="connsiteY8" fmla="*/ 8468 h 49347"/>
              <a:gd name="connsiteX9" fmla="*/ 39957 w 43256"/>
              <a:gd name="connsiteY9" fmla="*/ 1097 h 49347"/>
              <a:gd name="connsiteX10" fmla="*/ 38354 w 43256"/>
              <a:gd name="connsiteY10" fmla="*/ 11563 h 49347"/>
              <a:gd name="connsiteX11" fmla="*/ 42018 w 43256"/>
              <a:gd name="connsiteY11" fmla="*/ 16305 h 49347"/>
              <a:gd name="connsiteX12" fmla="*/ 41854 w 43256"/>
              <a:gd name="connsiteY12" fmla="*/ 21447 h 49347"/>
              <a:gd name="connsiteX13" fmla="*/ 43052 w 43256"/>
              <a:gd name="connsiteY13" fmla="*/ 29309 h 49347"/>
              <a:gd name="connsiteX14" fmla="*/ 37440 w 43256"/>
              <a:gd name="connsiteY14" fmla="*/ 36191 h 49347"/>
              <a:gd name="connsiteX15" fmla="*/ 35431 w 43256"/>
              <a:gd name="connsiteY15" fmla="*/ 42088 h 49347"/>
              <a:gd name="connsiteX16" fmla="*/ 28591 w 43256"/>
              <a:gd name="connsiteY16" fmla="*/ 42802 h 49347"/>
              <a:gd name="connsiteX17" fmla="*/ 23703 w 43256"/>
              <a:gd name="connsiteY17" fmla="*/ 49093 h 49347"/>
              <a:gd name="connsiteX18" fmla="*/ 16516 w 43256"/>
              <a:gd name="connsiteY18" fmla="*/ 45253 h 49347"/>
              <a:gd name="connsiteX19" fmla="*/ 5840 w 43256"/>
              <a:gd name="connsiteY19" fmla="*/ 41459 h 49347"/>
              <a:gd name="connsiteX20" fmla="*/ 1146 w 43256"/>
              <a:gd name="connsiteY20" fmla="*/ 37237 h 49347"/>
              <a:gd name="connsiteX21" fmla="*/ 2149 w 43256"/>
              <a:gd name="connsiteY21" fmla="*/ 31538 h 49347"/>
              <a:gd name="connsiteX22" fmla="*/ 31 w 43256"/>
              <a:gd name="connsiteY22" fmla="*/ 25691 h 49347"/>
              <a:gd name="connsiteX23" fmla="*/ 3899 w 43256"/>
              <a:gd name="connsiteY23" fmla="*/ 20494 h 49347"/>
              <a:gd name="connsiteX24" fmla="*/ 3936 w 43256"/>
              <a:gd name="connsiteY24" fmla="*/ 20357 h 49347"/>
              <a:gd name="connsiteX0" fmla="*/ 4729 w 43256"/>
              <a:gd name="connsiteY0" fmla="*/ 32164 h 49347"/>
              <a:gd name="connsiteX1" fmla="*/ 2196 w 43256"/>
              <a:gd name="connsiteY1" fmla="*/ 31367 h 49347"/>
              <a:gd name="connsiteX2" fmla="*/ 6964 w 43256"/>
              <a:gd name="connsiteY2" fmla="*/ 40886 h 49347"/>
              <a:gd name="connsiteX3" fmla="*/ 5856 w 43256"/>
              <a:gd name="connsiteY3" fmla="*/ 41267 h 49347"/>
              <a:gd name="connsiteX4" fmla="*/ 16514 w 43256"/>
              <a:gd name="connsiteY4" fmla="*/ 45077 h 49347"/>
              <a:gd name="connsiteX5" fmla="*/ 15846 w 43256"/>
              <a:gd name="connsiteY5" fmla="*/ 43337 h 49347"/>
              <a:gd name="connsiteX6" fmla="*/ 28863 w 43256"/>
              <a:gd name="connsiteY6" fmla="*/ 40738 h 49347"/>
              <a:gd name="connsiteX7" fmla="*/ 28596 w 43256"/>
              <a:gd name="connsiteY7" fmla="*/ 42647 h 49347"/>
              <a:gd name="connsiteX8" fmla="*/ 34165 w 43256"/>
              <a:gd name="connsiteY8" fmla="*/ 28941 h 49347"/>
              <a:gd name="connsiteX9" fmla="*/ 37416 w 43256"/>
              <a:gd name="connsiteY9" fmla="*/ 36077 h 49347"/>
              <a:gd name="connsiteX10" fmla="*/ 41834 w 43256"/>
              <a:gd name="connsiteY10" fmla="*/ 21341 h 49347"/>
              <a:gd name="connsiteX11" fmla="*/ 40386 w 43256"/>
              <a:gd name="connsiteY11" fmla="*/ 24017 h 49347"/>
              <a:gd name="connsiteX12" fmla="*/ 38360 w 43256"/>
              <a:gd name="connsiteY12" fmla="*/ 11413 h 49347"/>
              <a:gd name="connsiteX13" fmla="*/ 38436 w 43256"/>
              <a:gd name="connsiteY13" fmla="*/ 12677 h 49347"/>
              <a:gd name="connsiteX14" fmla="*/ 29114 w 43256"/>
              <a:gd name="connsiteY14" fmla="*/ 9939 h 49347"/>
              <a:gd name="connsiteX15" fmla="*/ 29856 w 43256"/>
              <a:gd name="connsiteY15" fmla="*/ 8327 h 49347"/>
              <a:gd name="connsiteX16" fmla="*/ 22177 w 43256"/>
              <a:gd name="connsiteY16" fmla="*/ 10707 h 49347"/>
              <a:gd name="connsiteX17" fmla="*/ 22536 w 43256"/>
              <a:gd name="connsiteY17" fmla="*/ 9317 h 49347"/>
              <a:gd name="connsiteX18" fmla="*/ 14036 w 43256"/>
              <a:gd name="connsiteY18" fmla="*/ 11179 h 49347"/>
              <a:gd name="connsiteX19" fmla="*/ 15336 w 43256"/>
              <a:gd name="connsiteY19" fmla="*/ 12527 h 49347"/>
              <a:gd name="connsiteX20" fmla="*/ 4163 w 43256"/>
              <a:gd name="connsiteY20" fmla="*/ 21776 h 49347"/>
              <a:gd name="connsiteX21" fmla="*/ 3936 w 43256"/>
              <a:gd name="connsiteY21" fmla="*/ 20357 h 49347"/>
              <a:gd name="connsiteX0" fmla="*/ 3936 w 43256"/>
              <a:gd name="connsiteY0" fmla="*/ 21942 h 50932"/>
              <a:gd name="connsiteX1" fmla="*/ 5659 w 43256"/>
              <a:gd name="connsiteY1" fmla="*/ 10294 h 50932"/>
              <a:gd name="connsiteX2" fmla="*/ 11155 w 43256"/>
              <a:gd name="connsiteY2" fmla="*/ 6974 h 50932"/>
              <a:gd name="connsiteX3" fmla="*/ 14041 w 43256"/>
              <a:gd name="connsiteY3" fmla="*/ 12774 h 50932"/>
              <a:gd name="connsiteX4" fmla="*/ 14741 w 43256"/>
              <a:gd name="connsiteY4" fmla="*/ 7771 h 50932"/>
              <a:gd name="connsiteX5" fmla="*/ 18424 w 43256"/>
              <a:gd name="connsiteY5" fmla="*/ 0 h 50932"/>
              <a:gd name="connsiteX6" fmla="*/ 22492 w 43256"/>
              <a:gd name="connsiteY6" fmla="*/ 11004 h 50932"/>
              <a:gd name="connsiteX7" fmla="*/ 28402 w 43256"/>
              <a:gd name="connsiteY7" fmla="*/ 1594 h 50932"/>
              <a:gd name="connsiteX8" fmla="*/ 29869 w 43256"/>
              <a:gd name="connsiteY8" fmla="*/ 10053 h 50932"/>
              <a:gd name="connsiteX9" fmla="*/ 39957 w 43256"/>
              <a:gd name="connsiteY9" fmla="*/ 2682 h 50932"/>
              <a:gd name="connsiteX10" fmla="*/ 38354 w 43256"/>
              <a:gd name="connsiteY10" fmla="*/ 13148 h 50932"/>
              <a:gd name="connsiteX11" fmla="*/ 42018 w 43256"/>
              <a:gd name="connsiteY11" fmla="*/ 17890 h 50932"/>
              <a:gd name="connsiteX12" fmla="*/ 41854 w 43256"/>
              <a:gd name="connsiteY12" fmla="*/ 23032 h 50932"/>
              <a:gd name="connsiteX13" fmla="*/ 43052 w 43256"/>
              <a:gd name="connsiteY13" fmla="*/ 30894 h 50932"/>
              <a:gd name="connsiteX14" fmla="*/ 37440 w 43256"/>
              <a:gd name="connsiteY14" fmla="*/ 37776 h 50932"/>
              <a:gd name="connsiteX15" fmla="*/ 35431 w 43256"/>
              <a:gd name="connsiteY15" fmla="*/ 43673 h 50932"/>
              <a:gd name="connsiteX16" fmla="*/ 28591 w 43256"/>
              <a:gd name="connsiteY16" fmla="*/ 44387 h 50932"/>
              <a:gd name="connsiteX17" fmla="*/ 23703 w 43256"/>
              <a:gd name="connsiteY17" fmla="*/ 50678 h 50932"/>
              <a:gd name="connsiteX18" fmla="*/ 16516 w 43256"/>
              <a:gd name="connsiteY18" fmla="*/ 46838 h 50932"/>
              <a:gd name="connsiteX19" fmla="*/ 5840 w 43256"/>
              <a:gd name="connsiteY19" fmla="*/ 43044 h 50932"/>
              <a:gd name="connsiteX20" fmla="*/ 1146 w 43256"/>
              <a:gd name="connsiteY20" fmla="*/ 38822 h 50932"/>
              <a:gd name="connsiteX21" fmla="*/ 2149 w 43256"/>
              <a:gd name="connsiteY21" fmla="*/ 33123 h 50932"/>
              <a:gd name="connsiteX22" fmla="*/ 31 w 43256"/>
              <a:gd name="connsiteY22" fmla="*/ 27276 h 50932"/>
              <a:gd name="connsiteX23" fmla="*/ 3899 w 43256"/>
              <a:gd name="connsiteY23" fmla="*/ 22079 h 50932"/>
              <a:gd name="connsiteX24" fmla="*/ 3936 w 43256"/>
              <a:gd name="connsiteY24" fmla="*/ 21942 h 50932"/>
              <a:gd name="connsiteX0" fmla="*/ 4729 w 43256"/>
              <a:gd name="connsiteY0" fmla="*/ 33749 h 50932"/>
              <a:gd name="connsiteX1" fmla="*/ 2196 w 43256"/>
              <a:gd name="connsiteY1" fmla="*/ 32952 h 50932"/>
              <a:gd name="connsiteX2" fmla="*/ 6964 w 43256"/>
              <a:gd name="connsiteY2" fmla="*/ 42471 h 50932"/>
              <a:gd name="connsiteX3" fmla="*/ 5856 w 43256"/>
              <a:gd name="connsiteY3" fmla="*/ 42852 h 50932"/>
              <a:gd name="connsiteX4" fmla="*/ 16514 w 43256"/>
              <a:gd name="connsiteY4" fmla="*/ 46662 h 50932"/>
              <a:gd name="connsiteX5" fmla="*/ 15846 w 43256"/>
              <a:gd name="connsiteY5" fmla="*/ 44922 h 50932"/>
              <a:gd name="connsiteX6" fmla="*/ 28863 w 43256"/>
              <a:gd name="connsiteY6" fmla="*/ 42323 h 50932"/>
              <a:gd name="connsiteX7" fmla="*/ 28596 w 43256"/>
              <a:gd name="connsiteY7" fmla="*/ 44232 h 50932"/>
              <a:gd name="connsiteX8" fmla="*/ 34165 w 43256"/>
              <a:gd name="connsiteY8" fmla="*/ 30526 h 50932"/>
              <a:gd name="connsiteX9" fmla="*/ 37416 w 43256"/>
              <a:gd name="connsiteY9" fmla="*/ 37662 h 50932"/>
              <a:gd name="connsiteX10" fmla="*/ 41834 w 43256"/>
              <a:gd name="connsiteY10" fmla="*/ 22926 h 50932"/>
              <a:gd name="connsiteX11" fmla="*/ 40386 w 43256"/>
              <a:gd name="connsiteY11" fmla="*/ 25602 h 50932"/>
              <a:gd name="connsiteX12" fmla="*/ 38360 w 43256"/>
              <a:gd name="connsiteY12" fmla="*/ 12998 h 50932"/>
              <a:gd name="connsiteX13" fmla="*/ 38436 w 43256"/>
              <a:gd name="connsiteY13" fmla="*/ 14262 h 50932"/>
              <a:gd name="connsiteX14" fmla="*/ 29114 w 43256"/>
              <a:gd name="connsiteY14" fmla="*/ 11524 h 50932"/>
              <a:gd name="connsiteX15" fmla="*/ 29856 w 43256"/>
              <a:gd name="connsiteY15" fmla="*/ 9912 h 50932"/>
              <a:gd name="connsiteX16" fmla="*/ 22177 w 43256"/>
              <a:gd name="connsiteY16" fmla="*/ 12292 h 50932"/>
              <a:gd name="connsiteX17" fmla="*/ 22536 w 43256"/>
              <a:gd name="connsiteY17" fmla="*/ 10902 h 50932"/>
              <a:gd name="connsiteX18" fmla="*/ 14036 w 43256"/>
              <a:gd name="connsiteY18" fmla="*/ 12764 h 50932"/>
              <a:gd name="connsiteX19" fmla="*/ 15336 w 43256"/>
              <a:gd name="connsiteY19" fmla="*/ 14112 h 50932"/>
              <a:gd name="connsiteX20" fmla="*/ 4163 w 43256"/>
              <a:gd name="connsiteY20" fmla="*/ 23361 h 50932"/>
              <a:gd name="connsiteX21" fmla="*/ 3936 w 43256"/>
              <a:gd name="connsiteY21" fmla="*/ 21942 h 50932"/>
              <a:gd name="connsiteX0" fmla="*/ 3936 w 43256"/>
              <a:gd name="connsiteY0" fmla="*/ 25986 h 54976"/>
              <a:gd name="connsiteX1" fmla="*/ 5659 w 43256"/>
              <a:gd name="connsiteY1" fmla="*/ 14338 h 54976"/>
              <a:gd name="connsiteX2" fmla="*/ 11155 w 43256"/>
              <a:gd name="connsiteY2" fmla="*/ 11018 h 54976"/>
              <a:gd name="connsiteX3" fmla="*/ 14041 w 43256"/>
              <a:gd name="connsiteY3" fmla="*/ 16818 h 54976"/>
              <a:gd name="connsiteX4" fmla="*/ 14741 w 43256"/>
              <a:gd name="connsiteY4" fmla="*/ 11815 h 54976"/>
              <a:gd name="connsiteX5" fmla="*/ 18424 w 43256"/>
              <a:gd name="connsiteY5" fmla="*/ 4044 h 54976"/>
              <a:gd name="connsiteX6" fmla="*/ 22492 w 43256"/>
              <a:gd name="connsiteY6" fmla="*/ 15048 h 54976"/>
              <a:gd name="connsiteX7" fmla="*/ 28402 w 43256"/>
              <a:gd name="connsiteY7" fmla="*/ 5638 h 54976"/>
              <a:gd name="connsiteX8" fmla="*/ 29869 w 43256"/>
              <a:gd name="connsiteY8" fmla="*/ 14097 h 54976"/>
              <a:gd name="connsiteX9" fmla="*/ 39957 w 43256"/>
              <a:gd name="connsiteY9" fmla="*/ 6726 h 54976"/>
              <a:gd name="connsiteX10" fmla="*/ 38354 w 43256"/>
              <a:gd name="connsiteY10" fmla="*/ 17192 h 54976"/>
              <a:gd name="connsiteX11" fmla="*/ 42018 w 43256"/>
              <a:gd name="connsiteY11" fmla="*/ 21934 h 54976"/>
              <a:gd name="connsiteX12" fmla="*/ 41854 w 43256"/>
              <a:gd name="connsiteY12" fmla="*/ 27076 h 54976"/>
              <a:gd name="connsiteX13" fmla="*/ 43052 w 43256"/>
              <a:gd name="connsiteY13" fmla="*/ 34938 h 54976"/>
              <a:gd name="connsiteX14" fmla="*/ 37440 w 43256"/>
              <a:gd name="connsiteY14" fmla="*/ 41820 h 54976"/>
              <a:gd name="connsiteX15" fmla="*/ 35431 w 43256"/>
              <a:gd name="connsiteY15" fmla="*/ 47717 h 54976"/>
              <a:gd name="connsiteX16" fmla="*/ 28591 w 43256"/>
              <a:gd name="connsiteY16" fmla="*/ 48431 h 54976"/>
              <a:gd name="connsiteX17" fmla="*/ 23703 w 43256"/>
              <a:gd name="connsiteY17" fmla="*/ 54722 h 54976"/>
              <a:gd name="connsiteX18" fmla="*/ 16516 w 43256"/>
              <a:gd name="connsiteY18" fmla="*/ 50882 h 54976"/>
              <a:gd name="connsiteX19" fmla="*/ 5840 w 43256"/>
              <a:gd name="connsiteY19" fmla="*/ 47088 h 54976"/>
              <a:gd name="connsiteX20" fmla="*/ 1146 w 43256"/>
              <a:gd name="connsiteY20" fmla="*/ 42866 h 54976"/>
              <a:gd name="connsiteX21" fmla="*/ 2149 w 43256"/>
              <a:gd name="connsiteY21" fmla="*/ 37167 h 54976"/>
              <a:gd name="connsiteX22" fmla="*/ 31 w 43256"/>
              <a:gd name="connsiteY22" fmla="*/ 31320 h 54976"/>
              <a:gd name="connsiteX23" fmla="*/ 3899 w 43256"/>
              <a:gd name="connsiteY23" fmla="*/ 26123 h 54976"/>
              <a:gd name="connsiteX24" fmla="*/ 3936 w 43256"/>
              <a:gd name="connsiteY24" fmla="*/ 25986 h 54976"/>
              <a:gd name="connsiteX0" fmla="*/ 4729 w 43256"/>
              <a:gd name="connsiteY0" fmla="*/ 37793 h 54976"/>
              <a:gd name="connsiteX1" fmla="*/ 2196 w 43256"/>
              <a:gd name="connsiteY1" fmla="*/ 36996 h 54976"/>
              <a:gd name="connsiteX2" fmla="*/ 6964 w 43256"/>
              <a:gd name="connsiteY2" fmla="*/ 46515 h 54976"/>
              <a:gd name="connsiteX3" fmla="*/ 5856 w 43256"/>
              <a:gd name="connsiteY3" fmla="*/ 46896 h 54976"/>
              <a:gd name="connsiteX4" fmla="*/ 16514 w 43256"/>
              <a:gd name="connsiteY4" fmla="*/ 50706 h 54976"/>
              <a:gd name="connsiteX5" fmla="*/ 15846 w 43256"/>
              <a:gd name="connsiteY5" fmla="*/ 48966 h 54976"/>
              <a:gd name="connsiteX6" fmla="*/ 28863 w 43256"/>
              <a:gd name="connsiteY6" fmla="*/ 46367 h 54976"/>
              <a:gd name="connsiteX7" fmla="*/ 28596 w 43256"/>
              <a:gd name="connsiteY7" fmla="*/ 48276 h 54976"/>
              <a:gd name="connsiteX8" fmla="*/ 34165 w 43256"/>
              <a:gd name="connsiteY8" fmla="*/ 34570 h 54976"/>
              <a:gd name="connsiteX9" fmla="*/ 37416 w 43256"/>
              <a:gd name="connsiteY9" fmla="*/ 41706 h 54976"/>
              <a:gd name="connsiteX10" fmla="*/ 41834 w 43256"/>
              <a:gd name="connsiteY10" fmla="*/ 26970 h 54976"/>
              <a:gd name="connsiteX11" fmla="*/ 40386 w 43256"/>
              <a:gd name="connsiteY11" fmla="*/ 29646 h 54976"/>
              <a:gd name="connsiteX12" fmla="*/ 38360 w 43256"/>
              <a:gd name="connsiteY12" fmla="*/ 17042 h 54976"/>
              <a:gd name="connsiteX13" fmla="*/ 38436 w 43256"/>
              <a:gd name="connsiteY13" fmla="*/ 18306 h 54976"/>
              <a:gd name="connsiteX14" fmla="*/ 29114 w 43256"/>
              <a:gd name="connsiteY14" fmla="*/ 15568 h 54976"/>
              <a:gd name="connsiteX15" fmla="*/ 29856 w 43256"/>
              <a:gd name="connsiteY15" fmla="*/ 13956 h 54976"/>
              <a:gd name="connsiteX16" fmla="*/ 22177 w 43256"/>
              <a:gd name="connsiteY16" fmla="*/ 16336 h 54976"/>
              <a:gd name="connsiteX17" fmla="*/ 24378 w 43256"/>
              <a:gd name="connsiteY17" fmla="*/ 0 h 54976"/>
              <a:gd name="connsiteX18" fmla="*/ 14036 w 43256"/>
              <a:gd name="connsiteY18" fmla="*/ 16808 h 54976"/>
              <a:gd name="connsiteX19" fmla="*/ 15336 w 43256"/>
              <a:gd name="connsiteY19" fmla="*/ 18156 h 54976"/>
              <a:gd name="connsiteX20" fmla="*/ 4163 w 43256"/>
              <a:gd name="connsiteY20" fmla="*/ 27405 h 54976"/>
              <a:gd name="connsiteX21" fmla="*/ 3936 w 43256"/>
              <a:gd name="connsiteY21" fmla="*/ 25986 h 54976"/>
              <a:gd name="connsiteX0" fmla="*/ 3936 w 43256"/>
              <a:gd name="connsiteY0" fmla="*/ 25986 h 54976"/>
              <a:gd name="connsiteX1" fmla="*/ 5659 w 43256"/>
              <a:gd name="connsiteY1" fmla="*/ 14338 h 54976"/>
              <a:gd name="connsiteX2" fmla="*/ 11155 w 43256"/>
              <a:gd name="connsiteY2" fmla="*/ 11018 h 54976"/>
              <a:gd name="connsiteX3" fmla="*/ 14041 w 43256"/>
              <a:gd name="connsiteY3" fmla="*/ 16818 h 54976"/>
              <a:gd name="connsiteX4" fmla="*/ 14741 w 43256"/>
              <a:gd name="connsiteY4" fmla="*/ 11815 h 54976"/>
              <a:gd name="connsiteX5" fmla="*/ 18424 w 43256"/>
              <a:gd name="connsiteY5" fmla="*/ 4044 h 54976"/>
              <a:gd name="connsiteX6" fmla="*/ 22492 w 43256"/>
              <a:gd name="connsiteY6" fmla="*/ 15048 h 54976"/>
              <a:gd name="connsiteX7" fmla="*/ 28402 w 43256"/>
              <a:gd name="connsiteY7" fmla="*/ 5638 h 54976"/>
              <a:gd name="connsiteX8" fmla="*/ 29869 w 43256"/>
              <a:gd name="connsiteY8" fmla="*/ 14097 h 54976"/>
              <a:gd name="connsiteX9" fmla="*/ 39957 w 43256"/>
              <a:gd name="connsiteY9" fmla="*/ 6726 h 54976"/>
              <a:gd name="connsiteX10" fmla="*/ 38354 w 43256"/>
              <a:gd name="connsiteY10" fmla="*/ 17192 h 54976"/>
              <a:gd name="connsiteX11" fmla="*/ 42018 w 43256"/>
              <a:gd name="connsiteY11" fmla="*/ 21934 h 54976"/>
              <a:gd name="connsiteX12" fmla="*/ 41854 w 43256"/>
              <a:gd name="connsiteY12" fmla="*/ 27076 h 54976"/>
              <a:gd name="connsiteX13" fmla="*/ 43052 w 43256"/>
              <a:gd name="connsiteY13" fmla="*/ 34938 h 54976"/>
              <a:gd name="connsiteX14" fmla="*/ 37440 w 43256"/>
              <a:gd name="connsiteY14" fmla="*/ 41820 h 54976"/>
              <a:gd name="connsiteX15" fmla="*/ 35431 w 43256"/>
              <a:gd name="connsiteY15" fmla="*/ 47717 h 54976"/>
              <a:gd name="connsiteX16" fmla="*/ 28591 w 43256"/>
              <a:gd name="connsiteY16" fmla="*/ 48431 h 54976"/>
              <a:gd name="connsiteX17" fmla="*/ 23703 w 43256"/>
              <a:gd name="connsiteY17" fmla="*/ 54722 h 54976"/>
              <a:gd name="connsiteX18" fmla="*/ 16516 w 43256"/>
              <a:gd name="connsiteY18" fmla="*/ 50882 h 54976"/>
              <a:gd name="connsiteX19" fmla="*/ 5840 w 43256"/>
              <a:gd name="connsiteY19" fmla="*/ 47088 h 54976"/>
              <a:gd name="connsiteX20" fmla="*/ 1146 w 43256"/>
              <a:gd name="connsiteY20" fmla="*/ 42866 h 54976"/>
              <a:gd name="connsiteX21" fmla="*/ 2149 w 43256"/>
              <a:gd name="connsiteY21" fmla="*/ 37167 h 54976"/>
              <a:gd name="connsiteX22" fmla="*/ 31 w 43256"/>
              <a:gd name="connsiteY22" fmla="*/ 31320 h 54976"/>
              <a:gd name="connsiteX23" fmla="*/ 3899 w 43256"/>
              <a:gd name="connsiteY23" fmla="*/ 26123 h 54976"/>
              <a:gd name="connsiteX24" fmla="*/ 3936 w 43256"/>
              <a:gd name="connsiteY24" fmla="*/ 25986 h 54976"/>
              <a:gd name="connsiteX0" fmla="*/ 4729 w 43256"/>
              <a:gd name="connsiteY0" fmla="*/ 37793 h 54976"/>
              <a:gd name="connsiteX1" fmla="*/ 2196 w 43256"/>
              <a:gd name="connsiteY1" fmla="*/ 36996 h 54976"/>
              <a:gd name="connsiteX2" fmla="*/ 6964 w 43256"/>
              <a:gd name="connsiteY2" fmla="*/ 46515 h 54976"/>
              <a:gd name="connsiteX3" fmla="*/ 5856 w 43256"/>
              <a:gd name="connsiteY3" fmla="*/ 46896 h 54976"/>
              <a:gd name="connsiteX4" fmla="*/ 16514 w 43256"/>
              <a:gd name="connsiteY4" fmla="*/ 50706 h 54976"/>
              <a:gd name="connsiteX5" fmla="*/ 15846 w 43256"/>
              <a:gd name="connsiteY5" fmla="*/ 48966 h 54976"/>
              <a:gd name="connsiteX6" fmla="*/ 28863 w 43256"/>
              <a:gd name="connsiteY6" fmla="*/ 46367 h 54976"/>
              <a:gd name="connsiteX7" fmla="*/ 28596 w 43256"/>
              <a:gd name="connsiteY7" fmla="*/ 48276 h 54976"/>
              <a:gd name="connsiteX8" fmla="*/ 34165 w 43256"/>
              <a:gd name="connsiteY8" fmla="*/ 34570 h 54976"/>
              <a:gd name="connsiteX9" fmla="*/ 37416 w 43256"/>
              <a:gd name="connsiteY9" fmla="*/ 41706 h 54976"/>
              <a:gd name="connsiteX10" fmla="*/ 41834 w 43256"/>
              <a:gd name="connsiteY10" fmla="*/ 26970 h 54976"/>
              <a:gd name="connsiteX11" fmla="*/ 40386 w 43256"/>
              <a:gd name="connsiteY11" fmla="*/ 29646 h 54976"/>
              <a:gd name="connsiteX12" fmla="*/ 38360 w 43256"/>
              <a:gd name="connsiteY12" fmla="*/ 17042 h 54976"/>
              <a:gd name="connsiteX13" fmla="*/ 38436 w 43256"/>
              <a:gd name="connsiteY13" fmla="*/ 18306 h 54976"/>
              <a:gd name="connsiteX14" fmla="*/ 29114 w 43256"/>
              <a:gd name="connsiteY14" fmla="*/ 15568 h 54976"/>
              <a:gd name="connsiteX15" fmla="*/ 29856 w 43256"/>
              <a:gd name="connsiteY15" fmla="*/ 13956 h 54976"/>
              <a:gd name="connsiteX16" fmla="*/ 21014 w 43256"/>
              <a:gd name="connsiteY16" fmla="*/ 3981 h 54976"/>
              <a:gd name="connsiteX17" fmla="*/ 24378 w 43256"/>
              <a:gd name="connsiteY17" fmla="*/ 0 h 54976"/>
              <a:gd name="connsiteX18" fmla="*/ 14036 w 43256"/>
              <a:gd name="connsiteY18" fmla="*/ 16808 h 54976"/>
              <a:gd name="connsiteX19" fmla="*/ 15336 w 43256"/>
              <a:gd name="connsiteY19" fmla="*/ 18156 h 54976"/>
              <a:gd name="connsiteX20" fmla="*/ 4163 w 43256"/>
              <a:gd name="connsiteY20" fmla="*/ 27405 h 54976"/>
              <a:gd name="connsiteX21" fmla="*/ 3936 w 43256"/>
              <a:gd name="connsiteY21" fmla="*/ 25986 h 54976"/>
              <a:gd name="connsiteX0" fmla="*/ 3936 w 43256"/>
              <a:gd name="connsiteY0" fmla="*/ 25986 h 54976"/>
              <a:gd name="connsiteX1" fmla="*/ 5659 w 43256"/>
              <a:gd name="connsiteY1" fmla="*/ 14338 h 54976"/>
              <a:gd name="connsiteX2" fmla="*/ 11155 w 43256"/>
              <a:gd name="connsiteY2" fmla="*/ 11018 h 54976"/>
              <a:gd name="connsiteX3" fmla="*/ 14041 w 43256"/>
              <a:gd name="connsiteY3" fmla="*/ 16818 h 54976"/>
              <a:gd name="connsiteX4" fmla="*/ 14741 w 43256"/>
              <a:gd name="connsiteY4" fmla="*/ 11815 h 54976"/>
              <a:gd name="connsiteX5" fmla="*/ 18424 w 43256"/>
              <a:gd name="connsiteY5" fmla="*/ 4044 h 54976"/>
              <a:gd name="connsiteX6" fmla="*/ 22783 w 43256"/>
              <a:gd name="connsiteY6" fmla="*/ 5284 h 54976"/>
              <a:gd name="connsiteX7" fmla="*/ 28402 w 43256"/>
              <a:gd name="connsiteY7" fmla="*/ 5638 h 54976"/>
              <a:gd name="connsiteX8" fmla="*/ 29869 w 43256"/>
              <a:gd name="connsiteY8" fmla="*/ 14097 h 54976"/>
              <a:gd name="connsiteX9" fmla="*/ 39957 w 43256"/>
              <a:gd name="connsiteY9" fmla="*/ 6726 h 54976"/>
              <a:gd name="connsiteX10" fmla="*/ 38354 w 43256"/>
              <a:gd name="connsiteY10" fmla="*/ 17192 h 54976"/>
              <a:gd name="connsiteX11" fmla="*/ 42018 w 43256"/>
              <a:gd name="connsiteY11" fmla="*/ 21934 h 54976"/>
              <a:gd name="connsiteX12" fmla="*/ 41854 w 43256"/>
              <a:gd name="connsiteY12" fmla="*/ 27076 h 54976"/>
              <a:gd name="connsiteX13" fmla="*/ 43052 w 43256"/>
              <a:gd name="connsiteY13" fmla="*/ 34938 h 54976"/>
              <a:gd name="connsiteX14" fmla="*/ 37440 w 43256"/>
              <a:gd name="connsiteY14" fmla="*/ 41820 h 54976"/>
              <a:gd name="connsiteX15" fmla="*/ 35431 w 43256"/>
              <a:gd name="connsiteY15" fmla="*/ 47717 h 54976"/>
              <a:gd name="connsiteX16" fmla="*/ 28591 w 43256"/>
              <a:gd name="connsiteY16" fmla="*/ 48431 h 54976"/>
              <a:gd name="connsiteX17" fmla="*/ 23703 w 43256"/>
              <a:gd name="connsiteY17" fmla="*/ 54722 h 54976"/>
              <a:gd name="connsiteX18" fmla="*/ 16516 w 43256"/>
              <a:gd name="connsiteY18" fmla="*/ 50882 h 54976"/>
              <a:gd name="connsiteX19" fmla="*/ 5840 w 43256"/>
              <a:gd name="connsiteY19" fmla="*/ 47088 h 54976"/>
              <a:gd name="connsiteX20" fmla="*/ 1146 w 43256"/>
              <a:gd name="connsiteY20" fmla="*/ 42866 h 54976"/>
              <a:gd name="connsiteX21" fmla="*/ 2149 w 43256"/>
              <a:gd name="connsiteY21" fmla="*/ 37167 h 54976"/>
              <a:gd name="connsiteX22" fmla="*/ 31 w 43256"/>
              <a:gd name="connsiteY22" fmla="*/ 31320 h 54976"/>
              <a:gd name="connsiteX23" fmla="*/ 3899 w 43256"/>
              <a:gd name="connsiteY23" fmla="*/ 26123 h 54976"/>
              <a:gd name="connsiteX24" fmla="*/ 3936 w 43256"/>
              <a:gd name="connsiteY24" fmla="*/ 25986 h 54976"/>
              <a:gd name="connsiteX0" fmla="*/ 4729 w 43256"/>
              <a:gd name="connsiteY0" fmla="*/ 37793 h 54976"/>
              <a:gd name="connsiteX1" fmla="*/ 2196 w 43256"/>
              <a:gd name="connsiteY1" fmla="*/ 36996 h 54976"/>
              <a:gd name="connsiteX2" fmla="*/ 6964 w 43256"/>
              <a:gd name="connsiteY2" fmla="*/ 46515 h 54976"/>
              <a:gd name="connsiteX3" fmla="*/ 5856 w 43256"/>
              <a:gd name="connsiteY3" fmla="*/ 46896 h 54976"/>
              <a:gd name="connsiteX4" fmla="*/ 16514 w 43256"/>
              <a:gd name="connsiteY4" fmla="*/ 50706 h 54976"/>
              <a:gd name="connsiteX5" fmla="*/ 15846 w 43256"/>
              <a:gd name="connsiteY5" fmla="*/ 48966 h 54976"/>
              <a:gd name="connsiteX6" fmla="*/ 28863 w 43256"/>
              <a:gd name="connsiteY6" fmla="*/ 46367 h 54976"/>
              <a:gd name="connsiteX7" fmla="*/ 28596 w 43256"/>
              <a:gd name="connsiteY7" fmla="*/ 48276 h 54976"/>
              <a:gd name="connsiteX8" fmla="*/ 34165 w 43256"/>
              <a:gd name="connsiteY8" fmla="*/ 34570 h 54976"/>
              <a:gd name="connsiteX9" fmla="*/ 37416 w 43256"/>
              <a:gd name="connsiteY9" fmla="*/ 41706 h 54976"/>
              <a:gd name="connsiteX10" fmla="*/ 41834 w 43256"/>
              <a:gd name="connsiteY10" fmla="*/ 26970 h 54976"/>
              <a:gd name="connsiteX11" fmla="*/ 40386 w 43256"/>
              <a:gd name="connsiteY11" fmla="*/ 29646 h 54976"/>
              <a:gd name="connsiteX12" fmla="*/ 38360 w 43256"/>
              <a:gd name="connsiteY12" fmla="*/ 17042 h 54976"/>
              <a:gd name="connsiteX13" fmla="*/ 38436 w 43256"/>
              <a:gd name="connsiteY13" fmla="*/ 18306 h 54976"/>
              <a:gd name="connsiteX14" fmla="*/ 29114 w 43256"/>
              <a:gd name="connsiteY14" fmla="*/ 15568 h 54976"/>
              <a:gd name="connsiteX15" fmla="*/ 29856 w 43256"/>
              <a:gd name="connsiteY15" fmla="*/ 13956 h 54976"/>
              <a:gd name="connsiteX16" fmla="*/ 21014 w 43256"/>
              <a:gd name="connsiteY16" fmla="*/ 3981 h 54976"/>
              <a:gd name="connsiteX17" fmla="*/ 24378 w 43256"/>
              <a:gd name="connsiteY17" fmla="*/ 0 h 54976"/>
              <a:gd name="connsiteX18" fmla="*/ 14036 w 43256"/>
              <a:gd name="connsiteY18" fmla="*/ 16808 h 54976"/>
              <a:gd name="connsiteX19" fmla="*/ 15336 w 43256"/>
              <a:gd name="connsiteY19" fmla="*/ 18156 h 54976"/>
              <a:gd name="connsiteX20" fmla="*/ 4163 w 43256"/>
              <a:gd name="connsiteY20" fmla="*/ 27405 h 54976"/>
              <a:gd name="connsiteX21" fmla="*/ 3936 w 43256"/>
              <a:gd name="connsiteY21" fmla="*/ 25986 h 54976"/>
              <a:gd name="connsiteX0" fmla="*/ 3936 w 43256"/>
              <a:gd name="connsiteY0" fmla="*/ 26367 h 55357"/>
              <a:gd name="connsiteX1" fmla="*/ 5659 w 43256"/>
              <a:gd name="connsiteY1" fmla="*/ 14719 h 55357"/>
              <a:gd name="connsiteX2" fmla="*/ 11155 w 43256"/>
              <a:gd name="connsiteY2" fmla="*/ 11399 h 55357"/>
              <a:gd name="connsiteX3" fmla="*/ 14041 w 43256"/>
              <a:gd name="connsiteY3" fmla="*/ 17199 h 55357"/>
              <a:gd name="connsiteX4" fmla="*/ 14741 w 43256"/>
              <a:gd name="connsiteY4" fmla="*/ 12196 h 55357"/>
              <a:gd name="connsiteX5" fmla="*/ 18424 w 43256"/>
              <a:gd name="connsiteY5" fmla="*/ 4425 h 55357"/>
              <a:gd name="connsiteX6" fmla="*/ 22783 w 43256"/>
              <a:gd name="connsiteY6" fmla="*/ 5665 h 55357"/>
              <a:gd name="connsiteX7" fmla="*/ 28402 w 43256"/>
              <a:gd name="connsiteY7" fmla="*/ 6019 h 55357"/>
              <a:gd name="connsiteX8" fmla="*/ 29869 w 43256"/>
              <a:gd name="connsiteY8" fmla="*/ 14478 h 55357"/>
              <a:gd name="connsiteX9" fmla="*/ 39957 w 43256"/>
              <a:gd name="connsiteY9" fmla="*/ 7107 h 55357"/>
              <a:gd name="connsiteX10" fmla="*/ 38354 w 43256"/>
              <a:gd name="connsiteY10" fmla="*/ 17573 h 55357"/>
              <a:gd name="connsiteX11" fmla="*/ 42018 w 43256"/>
              <a:gd name="connsiteY11" fmla="*/ 22315 h 55357"/>
              <a:gd name="connsiteX12" fmla="*/ 41854 w 43256"/>
              <a:gd name="connsiteY12" fmla="*/ 27457 h 55357"/>
              <a:gd name="connsiteX13" fmla="*/ 43052 w 43256"/>
              <a:gd name="connsiteY13" fmla="*/ 35319 h 55357"/>
              <a:gd name="connsiteX14" fmla="*/ 37440 w 43256"/>
              <a:gd name="connsiteY14" fmla="*/ 42201 h 55357"/>
              <a:gd name="connsiteX15" fmla="*/ 35431 w 43256"/>
              <a:gd name="connsiteY15" fmla="*/ 48098 h 55357"/>
              <a:gd name="connsiteX16" fmla="*/ 28591 w 43256"/>
              <a:gd name="connsiteY16" fmla="*/ 48812 h 55357"/>
              <a:gd name="connsiteX17" fmla="*/ 23703 w 43256"/>
              <a:gd name="connsiteY17" fmla="*/ 55103 h 55357"/>
              <a:gd name="connsiteX18" fmla="*/ 16516 w 43256"/>
              <a:gd name="connsiteY18" fmla="*/ 51263 h 55357"/>
              <a:gd name="connsiteX19" fmla="*/ 5840 w 43256"/>
              <a:gd name="connsiteY19" fmla="*/ 47469 h 55357"/>
              <a:gd name="connsiteX20" fmla="*/ 1146 w 43256"/>
              <a:gd name="connsiteY20" fmla="*/ 43247 h 55357"/>
              <a:gd name="connsiteX21" fmla="*/ 2149 w 43256"/>
              <a:gd name="connsiteY21" fmla="*/ 37548 h 55357"/>
              <a:gd name="connsiteX22" fmla="*/ 31 w 43256"/>
              <a:gd name="connsiteY22" fmla="*/ 31701 h 55357"/>
              <a:gd name="connsiteX23" fmla="*/ 3899 w 43256"/>
              <a:gd name="connsiteY23" fmla="*/ 26504 h 55357"/>
              <a:gd name="connsiteX24" fmla="*/ 3936 w 43256"/>
              <a:gd name="connsiteY24" fmla="*/ 26367 h 55357"/>
              <a:gd name="connsiteX0" fmla="*/ 4729 w 43256"/>
              <a:gd name="connsiteY0" fmla="*/ 38174 h 55357"/>
              <a:gd name="connsiteX1" fmla="*/ 2196 w 43256"/>
              <a:gd name="connsiteY1" fmla="*/ 37377 h 55357"/>
              <a:gd name="connsiteX2" fmla="*/ 6964 w 43256"/>
              <a:gd name="connsiteY2" fmla="*/ 46896 h 55357"/>
              <a:gd name="connsiteX3" fmla="*/ 5856 w 43256"/>
              <a:gd name="connsiteY3" fmla="*/ 47277 h 55357"/>
              <a:gd name="connsiteX4" fmla="*/ 16514 w 43256"/>
              <a:gd name="connsiteY4" fmla="*/ 51087 h 55357"/>
              <a:gd name="connsiteX5" fmla="*/ 15846 w 43256"/>
              <a:gd name="connsiteY5" fmla="*/ 49347 h 55357"/>
              <a:gd name="connsiteX6" fmla="*/ 28863 w 43256"/>
              <a:gd name="connsiteY6" fmla="*/ 46748 h 55357"/>
              <a:gd name="connsiteX7" fmla="*/ 28596 w 43256"/>
              <a:gd name="connsiteY7" fmla="*/ 48657 h 55357"/>
              <a:gd name="connsiteX8" fmla="*/ 34165 w 43256"/>
              <a:gd name="connsiteY8" fmla="*/ 34951 h 55357"/>
              <a:gd name="connsiteX9" fmla="*/ 37416 w 43256"/>
              <a:gd name="connsiteY9" fmla="*/ 42087 h 55357"/>
              <a:gd name="connsiteX10" fmla="*/ 41834 w 43256"/>
              <a:gd name="connsiteY10" fmla="*/ 27351 h 55357"/>
              <a:gd name="connsiteX11" fmla="*/ 40386 w 43256"/>
              <a:gd name="connsiteY11" fmla="*/ 30027 h 55357"/>
              <a:gd name="connsiteX12" fmla="*/ 38360 w 43256"/>
              <a:gd name="connsiteY12" fmla="*/ 17423 h 55357"/>
              <a:gd name="connsiteX13" fmla="*/ 38436 w 43256"/>
              <a:gd name="connsiteY13" fmla="*/ 18687 h 55357"/>
              <a:gd name="connsiteX14" fmla="*/ 29114 w 43256"/>
              <a:gd name="connsiteY14" fmla="*/ 15949 h 55357"/>
              <a:gd name="connsiteX15" fmla="*/ 29856 w 43256"/>
              <a:gd name="connsiteY15" fmla="*/ 14337 h 55357"/>
              <a:gd name="connsiteX16" fmla="*/ 21014 w 43256"/>
              <a:gd name="connsiteY16" fmla="*/ 4362 h 55357"/>
              <a:gd name="connsiteX17" fmla="*/ 23525 w 43256"/>
              <a:gd name="connsiteY17" fmla="*/ 9965 h 55357"/>
              <a:gd name="connsiteX18" fmla="*/ 24378 w 43256"/>
              <a:gd name="connsiteY18" fmla="*/ 381 h 55357"/>
              <a:gd name="connsiteX19" fmla="*/ 14036 w 43256"/>
              <a:gd name="connsiteY19" fmla="*/ 17189 h 55357"/>
              <a:gd name="connsiteX20" fmla="*/ 15336 w 43256"/>
              <a:gd name="connsiteY20" fmla="*/ 18537 h 55357"/>
              <a:gd name="connsiteX21" fmla="*/ 4163 w 43256"/>
              <a:gd name="connsiteY21" fmla="*/ 27786 h 55357"/>
              <a:gd name="connsiteX22" fmla="*/ 3936 w 43256"/>
              <a:gd name="connsiteY22" fmla="*/ 26367 h 55357"/>
              <a:gd name="connsiteX0" fmla="*/ 3936 w 43256"/>
              <a:gd name="connsiteY0" fmla="*/ 22351 h 51341"/>
              <a:gd name="connsiteX1" fmla="*/ 5659 w 43256"/>
              <a:gd name="connsiteY1" fmla="*/ 10703 h 51341"/>
              <a:gd name="connsiteX2" fmla="*/ 11155 w 43256"/>
              <a:gd name="connsiteY2" fmla="*/ 7383 h 51341"/>
              <a:gd name="connsiteX3" fmla="*/ 14041 w 43256"/>
              <a:gd name="connsiteY3" fmla="*/ 13183 h 51341"/>
              <a:gd name="connsiteX4" fmla="*/ 14741 w 43256"/>
              <a:gd name="connsiteY4" fmla="*/ 8180 h 51341"/>
              <a:gd name="connsiteX5" fmla="*/ 18424 w 43256"/>
              <a:gd name="connsiteY5" fmla="*/ 409 h 51341"/>
              <a:gd name="connsiteX6" fmla="*/ 22783 w 43256"/>
              <a:gd name="connsiteY6" fmla="*/ 1649 h 51341"/>
              <a:gd name="connsiteX7" fmla="*/ 28402 w 43256"/>
              <a:gd name="connsiteY7" fmla="*/ 2003 h 51341"/>
              <a:gd name="connsiteX8" fmla="*/ 29869 w 43256"/>
              <a:gd name="connsiteY8" fmla="*/ 10462 h 51341"/>
              <a:gd name="connsiteX9" fmla="*/ 39957 w 43256"/>
              <a:gd name="connsiteY9" fmla="*/ 3091 h 51341"/>
              <a:gd name="connsiteX10" fmla="*/ 38354 w 43256"/>
              <a:gd name="connsiteY10" fmla="*/ 13557 h 51341"/>
              <a:gd name="connsiteX11" fmla="*/ 42018 w 43256"/>
              <a:gd name="connsiteY11" fmla="*/ 18299 h 51341"/>
              <a:gd name="connsiteX12" fmla="*/ 41854 w 43256"/>
              <a:gd name="connsiteY12" fmla="*/ 23441 h 51341"/>
              <a:gd name="connsiteX13" fmla="*/ 43052 w 43256"/>
              <a:gd name="connsiteY13" fmla="*/ 31303 h 51341"/>
              <a:gd name="connsiteX14" fmla="*/ 37440 w 43256"/>
              <a:gd name="connsiteY14" fmla="*/ 38185 h 51341"/>
              <a:gd name="connsiteX15" fmla="*/ 35431 w 43256"/>
              <a:gd name="connsiteY15" fmla="*/ 44082 h 51341"/>
              <a:gd name="connsiteX16" fmla="*/ 28591 w 43256"/>
              <a:gd name="connsiteY16" fmla="*/ 44796 h 51341"/>
              <a:gd name="connsiteX17" fmla="*/ 23703 w 43256"/>
              <a:gd name="connsiteY17" fmla="*/ 51087 h 51341"/>
              <a:gd name="connsiteX18" fmla="*/ 16516 w 43256"/>
              <a:gd name="connsiteY18" fmla="*/ 47247 h 51341"/>
              <a:gd name="connsiteX19" fmla="*/ 5840 w 43256"/>
              <a:gd name="connsiteY19" fmla="*/ 43453 h 51341"/>
              <a:gd name="connsiteX20" fmla="*/ 1146 w 43256"/>
              <a:gd name="connsiteY20" fmla="*/ 39231 h 51341"/>
              <a:gd name="connsiteX21" fmla="*/ 2149 w 43256"/>
              <a:gd name="connsiteY21" fmla="*/ 33532 h 51341"/>
              <a:gd name="connsiteX22" fmla="*/ 31 w 43256"/>
              <a:gd name="connsiteY22" fmla="*/ 27685 h 51341"/>
              <a:gd name="connsiteX23" fmla="*/ 3899 w 43256"/>
              <a:gd name="connsiteY23" fmla="*/ 22488 h 51341"/>
              <a:gd name="connsiteX24" fmla="*/ 3936 w 43256"/>
              <a:gd name="connsiteY24" fmla="*/ 22351 h 51341"/>
              <a:gd name="connsiteX0" fmla="*/ 4729 w 43256"/>
              <a:gd name="connsiteY0" fmla="*/ 34158 h 51341"/>
              <a:gd name="connsiteX1" fmla="*/ 2196 w 43256"/>
              <a:gd name="connsiteY1" fmla="*/ 33361 h 51341"/>
              <a:gd name="connsiteX2" fmla="*/ 6964 w 43256"/>
              <a:gd name="connsiteY2" fmla="*/ 42880 h 51341"/>
              <a:gd name="connsiteX3" fmla="*/ 5856 w 43256"/>
              <a:gd name="connsiteY3" fmla="*/ 43261 h 51341"/>
              <a:gd name="connsiteX4" fmla="*/ 16514 w 43256"/>
              <a:gd name="connsiteY4" fmla="*/ 47071 h 51341"/>
              <a:gd name="connsiteX5" fmla="*/ 15846 w 43256"/>
              <a:gd name="connsiteY5" fmla="*/ 45331 h 51341"/>
              <a:gd name="connsiteX6" fmla="*/ 28863 w 43256"/>
              <a:gd name="connsiteY6" fmla="*/ 42732 h 51341"/>
              <a:gd name="connsiteX7" fmla="*/ 28596 w 43256"/>
              <a:gd name="connsiteY7" fmla="*/ 44641 h 51341"/>
              <a:gd name="connsiteX8" fmla="*/ 34165 w 43256"/>
              <a:gd name="connsiteY8" fmla="*/ 30935 h 51341"/>
              <a:gd name="connsiteX9" fmla="*/ 37416 w 43256"/>
              <a:gd name="connsiteY9" fmla="*/ 38071 h 51341"/>
              <a:gd name="connsiteX10" fmla="*/ 41834 w 43256"/>
              <a:gd name="connsiteY10" fmla="*/ 23335 h 51341"/>
              <a:gd name="connsiteX11" fmla="*/ 40386 w 43256"/>
              <a:gd name="connsiteY11" fmla="*/ 26011 h 51341"/>
              <a:gd name="connsiteX12" fmla="*/ 38360 w 43256"/>
              <a:gd name="connsiteY12" fmla="*/ 13407 h 51341"/>
              <a:gd name="connsiteX13" fmla="*/ 38436 w 43256"/>
              <a:gd name="connsiteY13" fmla="*/ 14671 h 51341"/>
              <a:gd name="connsiteX14" fmla="*/ 29114 w 43256"/>
              <a:gd name="connsiteY14" fmla="*/ 11933 h 51341"/>
              <a:gd name="connsiteX15" fmla="*/ 29856 w 43256"/>
              <a:gd name="connsiteY15" fmla="*/ 10321 h 51341"/>
              <a:gd name="connsiteX16" fmla="*/ 21014 w 43256"/>
              <a:gd name="connsiteY16" fmla="*/ 346 h 51341"/>
              <a:gd name="connsiteX17" fmla="*/ 23525 w 43256"/>
              <a:gd name="connsiteY17" fmla="*/ 5949 h 51341"/>
              <a:gd name="connsiteX18" fmla="*/ 24669 w 43256"/>
              <a:gd name="connsiteY18" fmla="*/ 2343 h 51341"/>
              <a:gd name="connsiteX19" fmla="*/ 14036 w 43256"/>
              <a:gd name="connsiteY19" fmla="*/ 13173 h 51341"/>
              <a:gd name="connsiteX20" fmla="*/ 15336 w 43256"/>
              <a:gd name="connsiteY20" fmla="*/ 14521 h 51341"/>
              <a:gd name="connsiteX21" fmla="*/ 4163 w 43256"/>
              <a:gd name="connsiteY21" fmla="*/ 23770 h 51341"/>
              <a:gd name="connsiteX22" fmla="*/ 3936 w 43256"/>
              <a:gd name="connsiteY22" fmla="*/ 22351 h 51341"/>
              <a:gd name="connsiteX0" fmla="*/ 3936 w 43256"/>
              <a:gd name="connsiteY0" fmla="*/ 22351 h 51341"/>
              <a:gd name="connsiteX1" fmla="*/ 5659 w 43256"/>
              <a:gd name="connsiteY1" fmla="*/ 10703 h 51341"/>
              <a:gd name="connsiteX2" fmla="*/ 11155 w 43256"/>
              <a:gd name="connsiteY2" fmla="*/ 7383 h 51341"/>
              <a:gd name="connsiteX3" fmla="*/ 14041 w 43256"/>
              <a:gd name="connsiteY3" fmla="*/ 13183 h 51341"/>
              <a:gd name="connsiteX4" fmla="*/ 14741 w 43256"/>
              <a:gd name="connsiteY4" fmla="*/ 8180 h 51341"/>
              <a:gd name="connsiteX5" fmla="*/ 18424 w 43256"/>
              <a:gd name="connsiteY5" fmla="*/ 409 h 51341"/>
              <a:gd name="connsiteX6" fmla="*/ 22783 w 43256"/>
              <a:gd name="connsiteY6" fmla="*/ 1649 h 51341"/>
              <a:gd name="connsiteX7" fmla="*/ 28402 w 43256"/>
              <a:gd name="connsiteY7" fmla="*/ 2003 h 51341"/>
              <a:gd name="connsiteX8" fmla="*/ 29869 w 43256"/>
              <a:gd name="connsiteY8" fmla="*/ 10462 h 51341"/>
              <a:gd name="connsiteX9" fmla="*/ 38406 w 43256"/>
              <a:gd name="connsiteY9" fmla="*/ 6080 h 51341"/>
              <a:gd name="connsiteX10" fmla="*/ 38354 w 43256"/>
              <a:gd name="connsiteY10" fmla="*/ 13557 h 51341"/>
              <a:gd name="connsiteX11" fmla="*/ 42018 w 43256"/>
              <a:gd name="connsiteY11" fmla="*/ 18299 h 51341"/>
              <a:gd name="connsiteX12" fmla="*/ 41854 w 43256"/>
              <a:gd name="connsiteY12" fmla="*/ 23441 h 51341"/>
              <a:gd name="connsiteX13" fmla="*/ 43052 w 43256"/>
              <a:gd name="connsiteY13" fmla="*/ 31303 h 51341"/>
              <a:gd name="connsiteX14" fmla="*/ 37440 w 43256"/>
              <a:gd name="connsiteY14" fmla="*/ 38185 h 51341"/>
              <a:gd name="connsiteX15" fmla="*/ 35431 w 43256"/>
              <a:gd name="connsiteY15" fmla="*/ 44082 h 51341"/>
              <a:gd name="connsiteX16" fmla="*/ 28591 w 43256"/>
              <a:gd name="connsiteY16" fmla="*/ 44796 h 51341"/>
              <a:gd name="connsiteX17" fmla="*/ 23703 w 43256"/>
              <a:gd name="connsiteY17" fmla="*/ 51087 h 51341"/>
              <a:gd name="connsiteX18" fmla="*/ 16516 w 43256"/>
              <a:gd name="connsiteY18" fmla="*/ 47247 h 51341"/>
              <a:gd name="connsiteX19" fmla="*/ 5840 w 43256"/>
              <a:gd name="connsiteY19" fmla="*/ 43453 h 51341"/>
              <a:gd name="connsiteX20" fmla="*/ 1146 w 43256"/>
              <a:gd name="connsiteY20" fmla="*/ 39231 h 51341"/>
              <a:gd name="connsiteX21" fmla="*/ 2149 w 43256"/>
              <a:gd name="connsiteY21" fmla="*/ 33532 h 51341"/>
              <a:gd name="connsiteX22" fmla="*/ 31 w 43256"/>
              <a:gd name="connsiteY22" fmla="*/ 27685 h 51341"/>
              <a:gd name="connsiteX23" fmla="*/ 3899 w 43256"/>
              <a:gd name="connsiteY23" fmla="*/ 22488 h 51341"/>
              <a:gd name="connsiteX24" fmla="*/ 3936 w 43256"/>
              <a:gd name="connsiteY24" fmla="*/ 22351 h 51341"/>
              <a:gd name="connsiteX0" fmla="*/ 4729 w 43256"/>
              <a:gd name="connsiteY0" fmla="*/ 34158 h 51341"/>
              <a:gd name="connsiteX1" fmla="*/ 2196 w 43256"/>
              <a:gd name="connsiteY1" fmla="*/ 33361 h 51341"/>
              <a:gd name="connsiteX2" fmla="*/ 6964 w 43256"/>
              <a:gd name="connsiteY2" fmla="*/ 42880 h 51341"/>
              <a:gd name="connsiteX3" fmla="*/ 5856 w 43256"/>
              <a:gd name="connsiteY3" fmla="*/ 43261 h 51341"/>
              <a:gd name="connsiteX4" fmla="*/ 16514 w 43256"/>
              <a:gd name="connsiteY4" fmla="*/ 47071 h 51341"/>
              <a:gd name="connsiteX5" fmla="*/ 15846 w 43256"/>
              <a:gd name="connsiteY5" fmla="*/ 45331 h 51341"/>
              <a:gd name="connsiteX6" fmla="*/ 28863 w 43256"/>
              <a:gd name="connsiteY6" fmla="*/ 42732 h 51341"/>
              <a:gd name="connsiteX7" fmla="*/ 28596 w 43256"/>
              <a:gd name="connsiteY7" fmla="*/ 44641 h 51341"/>
              <a:gd name="connsiteX8" fmla="*/ 34165 w 43256"/>
              <a:gd name="connsiteY8" fmla="*/ 30935 h 51341"/>
              <a:gd name="connsiteX9" fmla="*/ 37416 w 43256"/>
              <a:gd name="connsiteY9" fmla="*/ 38071 h 51341"/>
              <a:gd name="connsiteX10" fmla="*/ 41834 w 43256"/>
              <a:gd name="connsiteY10" fmla="*/ 23335 h 51341"/>
              <a:gd name="connsiteX11" fmla="*/ 40386 w 43256"/>
              <a:gd name="connsiteY11" fmla="*/ 26011 h 51341"/>
              <a:gd name="connsiteX12" fmla="*/ 38360 w 43256"/>
              <a:gd name="connsiteY12" fmla="*/ 13407 h 51341"/>
              <a:gd name="connsiteX13" fmla="*/ 38436 w 43256"/>
              <a:gd name="connsiteY13" fmla="*/ 14671 h 51341"/>
              <a:gd name="connsiteX14" fmla="*/ 29114 w 43256"/>
              <a:gd name="connsiteY14" fmla="*/ 11933 h 51341"/>
              <a:gd name="connsiteX15" fmla="*/ 29856 w 43256"/>
              <a:gd name="connsiteY15" fmla="*/ 10321 h 51341"/>
              <a:gd name="connsiteX16" fmla="*/ 21014 w 43256"/>
              <a:gd name="connsiteY16" fmla="*/ 346 h 51341"/>
              <a:gd name="connsiteX17" fmla="*/ 23525 w 43256"/>
              <a:gd name="connsiteY17" fmla="*/ 5949 h 51341"/>
              <a:gd name="connsiteX18" fmla="*/ 24669 w 43256"/>
              <a:gd name="connsiteY18" fmla="*/ 2343 h 51341"/>
              <a:gd name="connsiteX19" fmla="*/ 14036 w 43256"/>
              <a:gd name="connsiteY19" fmla="*/ 13173 h 51341"/>
              <a:gd name="connsiteX20" fmla="*/ 15336 w 43256"/>
              <a:gd name="connsiteY20" fmla="*/ 14521 h 51341"/>
              <a:gd name="connsiteX21" fmla="*/ 4163 w 43256"/>
              <a:gd name="connsiteY21" fmla="*/ 23770 h 51341"/>
              <a:gd name="connsiteX22" fmla="*/ 3936 w 43256"/>
              <a:gd name="connsiteY22" fmla="*/ 22351 h 51341"/>
              <a:gd name="connsiteX0" fmla="*/ 3936 w 43256"/>
              <a:gd name="connsiteY0" fmla="*/ 22351 h 51341"/>
              <a:gd name="connsiteX1" fmla="*/ 5659 w 43256"/>
              <a:gd name="connsiteY1" fmla="*/ 10703 h 51341"/>
              <a:gd name="connsiteX2" fmla="*/ 11155 w 43256"/>
              <a:gd name="connsiteY2" fmla="*/ 7383 h 51341"/>
              <a:gd name="connsiteX3" fmla="*/ 14041 w 43256"/>
              <a:gd name="connsiteY3" fmla="*/ 13183 h 51341"/>
              <a:gd name="connsiteX4" fmla="*/ 14741 w 43256"/>
              <a:gd name="connsiteY4" fmla="*/ 8180 h 51341"/>
              <a:gd name="connsiteX5" fmla="*/ 18424 w 43256"/>
              <a:gd name="connsiteY5" fmla="*/ 409 h 51341"/>
              <a:gd name="connsiteX6" fmla="*/ 22783 w 43256"/>
              <a:gd name="connsiteY6" fmla="*/ 1649 h 51341"/>
              <a:gd name="connsiteX7" fmla="*/ 28402 w 43256"/>
              <a:gd name="connsiteY7" fmla="*/ 2003 h 51341"/>
              <a:gd name="connsiteX8" fmla="*/ 29869 w 43256"/>
              <a:gd name="connsiteY8" fmla="*/ 10462 h 51341"/>
              <a:gd name="connsiteX9" fmla="*/ 35014 w 43256"/>
              <a:gd name="connsiteY9" fmla="*/ 7674 h 51341"/>
              <a:gd name="connsiteX10" fmla="*/ 38354 w 43256"/>
              <a:gd name="connsiteY10" fmla="*/ 13557 h 51341"/>
              <a:gd name="connsiteX11" fmla="*/ 42018 w 43256"/>
              <a:gd name="connsiteY11" fmla="*/ 18299 h 51341"/>
              <a:gd name="connsiteX12" fmla="*/ 41854 w 43256"/>
              <a:gd name="connsiteY12" fmla="*/ 23441 h 51341"/>
              <a:gd name="connsiteX13" fmla="*/ 43052 w 43256"/>
              <a:gd name="connsiteY13" fmla="*/ 31303 h 51341"/>
              <a:gd name="connsiteX14" fmla="*/ 37440 w 43256"/>
              <a:gd name="connsiteY14" fmla="*/ 38185 h 51341"/>
              <a:gd name="connsiteX15" fmla="*/ 35431 w 43256"/>
              <a:gd name="connsiteY15" fmla="*/ 44082 h 51341"/>
              <a:gd name="connsiteX16" fmla="*/ 28591 w 43256"/>
              <a:gd name="connsiteY16" fmla="*/ 44796 h 51341"/>
              <a:gd name="connsiteX17" fmla="*/ 23703 w 43256"/>
              <a:gd name="connsiteY17" fmla="*/ 51087 h 51341"/>
              <a:gd name="connsiteX18" fmla="*/ 16516 w 43256"/>
              <a:gd name="connsiteY18" fmla="*/ 47247 h 51341"/>
              <a:gd name="connsiteX19" fmla="*/ 5840 w 43256"/>
              <a:gd name="connsiteY19" fmla="*/ 43453 h 51341"/>
              <a:gd name="connsiteX20" fmla="*/ 1146 w 43256"/>
              <a:gd name="connsiteY20" fmla="*/ 39231 h 51341"/>
              <a:gd name="connsiteX21" fmla="*/ 2149 w 43256"/>
              <a:gd name="connsiteY21" fmla="*/ 33532 h 51341"/>
              <a:gd name="connsiteX22" fmla="*/ 31 w 43256"/>
              <a:gd name="connsiteY22" fmla="*/ 27685 h 51341"/>
              <a:gd name="connsiteX23" fmla="*/ 3899 w 43256"/>
              <a:gd name="connsiteY23" fmla="*/ 22488 h 51341"/>
              <a:gd name="connsiteX24" fmla="*/ 3936 w 43256"/>
              <a:gd name="connsiteY24" fmla="*/ 22351 h 51341"/>
              <a:gd name="connsiteX0" fmla="*/ 4729 w 43256"/>
              <a:gd name="connsiteY0" fmla="*/ 34158 h 51341"/>
              <a:gd name="connsiteX1" fmla="*/ 2196 w 43256"/>
              <a:gd name="connsiteY1" fmla="*/ 33361 h 51341"/>
              <a:gd name="connsiteX2" fmla="*/ 6964 w 43256"/>
              <a:gd name="connsiteY2" fmla="*/ 42880 h 51341"/>
              <a:gd name="connsiteX3" fmla="*/ 5856 w 43256"/>
              <a:gd name="connsiteY3" fmla="*/ 43261 h 51341"/>
              <a:gd name="connsiteX4" fmla="*/ 16514 w 43256"/>
              <a:gd name="connsiteY4" fmla="*/ 47071 h 51341"/>
              <a:gd name="connsiteX5" fmla="*/ 15846 w 43256"/>
              <a:gd name="connsiteY5" fmla="*/ 45331 h 51341"/>
              <a:gd name="connsiteX6" fmla="*/ 28863 w 43256"/>
              <a:gd name="connsiteY6" fmla="*/ 42732 h 51341"/>
              <a:gd name="connsiteX7" fmla="*/ 28596 w 43256"/>
              <a:gd name="connsiteY7" fmla="*/ 44641 h 51341"/>
              <a:gd name="connsiteX8" fmla="*/ 34165 w 43256"/>
              <a:gd name="connsiteY8" fmla="*/ 30935 h 51341"/>
              <a:gd name="connsiteX9" fmla="*/ 37416 w 43256"/>
              <a:gd name="connsiteY9" fmla="*/ 38071 h 51341"/>
              <a:gd name="connsiteX10" fmla="*/ 41834 w 43256"/>
              <a:gd name="connsiteY10" fmla="*/ 23335 h 51341"/>
              <a:gd name="connsiteX11" fmla="*/ 40386 w 43256"/>
              <a:gd name="connsiteY11" fmla="*/ 26011 h 51341"/>
              <a:gd name="connsiteX12" fmla="*/ 38360 w 43256"/>
              <a:gd name="connsiteY12" fmla="*/ 13407 h 51341"/>
              <a:gd name="connsiteX13" fmla="*/ 38436 w 43256"/>
              <a:gd name="connsiteY13" fmla="*/ 14671 h 51341"/>
              <a:gd name="connsiteX14" fmla="*/ 29114 w 43256"/>
              <a:gd name="connsiteY14" fmla="*/ 11933 h 51341"/>
              <a:gd name="connsiteX15" fmla="*/ 29856 w 43256"/>
              <a:gd name="connsiteY15" fmla="*/ 10321 h 51341"/>
              <a:gd name="connsiteX16" fmla="*/ 21014 w 43256"/>
              <a:gd name="connsiteY16" fmla="*/ 346 h 51341"/>
              <a:gd name="connsiteX17" fmla="*/ 23525 w 43256"/>
              <a:gd name="connsiteY17" fmla="*/ 5949 h 51341"/>
              <a:gd name="connsiteX18" fmla="*/ 24669 w 43256"/>
              <a:gd name="connsiteY18" fmla="*/ 2343 h 51341"/>
              <a:gd name="connsiteX19" fmla="*/ 14036 w 43256"/>
              <a:gd name="connsiteY19" fmla="*/ 13173 h 51341"/>
              <a:gd name="connsiteX20" fmla="*/ 15336 w 43256"/>
              <a:gd name="connsiteY20" fmla="*/ 14521 h 51341"/>
              <a:gd name="connsiteX21" fmla="*/ 4163 w 43256"/>
              <a:gd name="connsiteY21" fmla="*/ 23770 h 51341"/>
              <a:gd name="connsiteX22" fmla="*/ 3936 w 43256"/>
              <a:gd name="connsiteY22" fmla="*/ 22351 h 51341"/>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5014 w 43256"/>
              <a:gd name="connsiteY9" fmla="*/ 8133 h 51800"/>
              <a:gd name="connsiteX10" fmla="*/ 38354 w 43256"/>
              <a:gd name="connsiteY10" fmla="*/ 14016 h 51800"/>
              <a:gd name="connsiteX11" fmla="*/ 42018 w 43256"/>
              <a:gd name="connsiteY11" fmla="*/ 18758 h 51800"/>
              <a:gd name="connsiteX12" fmla="*/ 41854 w 43256"/>
              <a:gd name="connsiteY12" fmla="*/ 23900 h 51800"/>
              <a:gd name="connsiteX13" fmla="*/ 43052 w 43256"/>
              <a:gd name="connsiteY13" fmla="*/ 31762 h 51800"/>
              <a:gd name="connsiteX14" fmla="*/ 37440 w 43256"/>
              <a:gd name="connsiteY14" fmla="*/ 38644 h 51800"/>
              <a:gd name="connsiteX15" fmla="*/ 35431 w 43256"/>
              <a:gd name="connsiteY15" fmla="*/ 44541 h 51800"/>
              <a:gd name="connsiteX16" fmla="*/ 28591 w 43256"/>
              <a:gd name="connsiteY16" fmla="*/ 45255 h 51800"/>
              <a:gd name="connsiteX17" fmla="*/ 23703 w 43256"/>
              <a:gd name="connsiteY17" fmla="*/ 51546 h 51800"/>
              <a:gd name="connsiteX18" fmla="*/ 16516 w 43256"/>
              <a:gd name="connsiteY18" fmla="*/ 47706 h 51800"/>
              <a:gd name="connsiteX19" fmla="*/ 5840 w 43256"/>
              <a:gd name="connsiteY19" fmla="*/ 43912 h 51800"/>
              <a:gd name="connsiteX20" fmla="*/ 1146 w 43256"/>
              <a:gd name="connsiteY20" fmla="*/ 39690 h 51800"/>
              <a:gd name="connsiteX21" fmla="*/ 2149 w 43256"/>
              <a:gd name="connsiteY21" fmla="*/ 33991 h 51800"/>
              <a:gd name="connsiteX22" fmla="*/ 31 w 43256"/>
              <a:gd name="connsiteY22" fmla="*/ 28144 h 51800"/>
              <a:gd name="connsiteX23" fmla="*/ 3899 w 43256"/>
              <a:gd name="connsiteY23" fmla="*/ 22947 h 51800"/>
              <a:gd name="connsiteX24" fmla="*/ 3936 w 43256"/>
              <a:gd name="connsiteY24"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29856 w 43256"/>
              <a:gd name="connsiteY15" fmla="*/ 10780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2684 w 43256"/>
              <a:gd name="connsiteY9" fmla="*/ 4266 h 51800"/>
              <a:gd name="connsiteX10" fmla="*/ 35014 w 43256"/>
              <a:gd name="connsiteY10" fmla="*/ 8133 h 51800"/>
              <a:gd name="connsiteX11" fmla="*/ 38354 w 43256"/>
              <a:gd name="connsiteY11" fmla="*/ 14016 h 51800"/>
              <a:gd name="connsiteX12" fmla="*/ 42018 w 43256"/>
              <a:gd name="connsiteY12" fmla="*/ 18758 h 51800"/>
              <a:gd name="connsiteX13" fmla="*/ 41854 w 43256"/>
              <a:gd name="connsiteY13" fmla="*/ 23900 h 51800"/>
              <a:gd name="connsiteX14" fmla="*/ 43052 w 43256"/>
              <a:gd name="connsiteY14" fmla="*/ 31762 h 51800"/>
              <a:gd name="connsiteX15" fmla="*/ 37440 w 43256"/>
              <a:gd name="connsiteY15" fmla="*/ 38644 h 51800"/>
              <a:gd name="connsiteX16" fmla="*/ 35431 w 43256"/>
              <a:gd name="connsiteY16" fmla="*/ 44541 h 51800"/>
              <a:gd name="connsiteX17" fmla="*/ 28591 w 43256"/>
              <a:gd name="connsiteY17" fmla="*/ 45255 h 51800"/>
              <a:gd name="connsiteX18" fmla="*/ 23703 w 43256"/>
              <a:gd name="connsiteY18" fmla="*/ 51546 h 51800"/>
              <a:gd name="connsiteX19" fmla="*/ 16516 w 43256"/>
              <a:gd name="connsiteY19" fmla="*/ 47706 h 51800"/>
              <a:gd name="connsiteX20" fmla="*/ 5840 w 43256"/>
              <a:gd name="connsiteY20" fmla="*/ 43912 h 51800"/>
              <a:gd name="connsiteX21" fmla="*/ 1146 w 43256"/>
              <a:gd name="connsiteY21" fmla="*/ 39690 h 51800"/>
              <a:gd name="connsiteX22" fmla="*/ 2149 w 43256"/>
              <a:gd name="connsiteY22" fmla="*/ 33991 h 51800"/>
              <a:gd name="connsiteX23" fmla="*/ 31 w 43256"/>
              <a:gd name="connsiteY23" fmla="*/ 28144 h 51800"/>
              <a:gd name="connsiteX24" fmla="*/ 3899 w 43256"/>
              <a:gd name="connsiteY24" fmla="*/ 22947 h 51800"/>
              <a:gd name="connsiteX25" fmla="*/ 3936 w 43256"/>
              <a:gd name="connsiteY25"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29856 w 43256"/>
              <a:gd name="connsiteY15" fmla="*/ 10780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2684 w 43256"/>
              <a:gd name="connsiteY9" fmla="*/ 4266 h 51800"/>
              <a:gd name="connsiteX10" fmla="*/ 35014 w 43256"/>
              <a:gd name="connsiteY10" fmla="*/ 8133 h 51800"/>
              <a:gd name="connsiteX11" fmla="*/ 38354 w 43256"/>
              <a:gd name="connsiteY11" fmla="*/ 14016 h 51800"/>
              <a:gd name="connsiteX12" fmla="*/ 42018 w 43256"/>
              <a:gd name="connsiteY12" fmla="*/ 18758 h 51800"/>
              <a:gd name="connsiteX13" fmla="*/ 41854 w 43256"/>
              <a:gd name="connsiteY13" fmla="*/ 23900 h 51800"/>
              <a:gd name="connsiteX14" fmla="*/ 43052 w 43256"/>
              <a:gd name="connsiteY14" fmla="*/ 31762 h 51800"/>
              <a:gd name="connsiteX15" fmla="*/ 37440 w 43256"/>
              <a:gd name="connsiteY15" fmla="*/ 38644 h 51800"/>
              <a:gd name="connsiteX16" fmla="*/ 35431 w 43256"/>
              <a:gd name="connsiteY16" fmla="*/ 44541 h 51800"/>
              <a:gd name="connsiteX17" fmla="*/ 28591 w 43256"/>
              <a:gd name="connsiteY17" fmla="*/ 45255 h 51800"/>
              <a:gd name="connsiteX18" fmla="*/ 23703 w 43256"/>
              <a:gd name="connsiteY18" fmla="*/ 51546 h 51800"/>
              <a:gd name="connsiteX19" fmla="*/ 16516 w 43256"/>
              <a:gd name="connsiteY19" fmla="*/ 47706 h 51800"/>
              <a:gd name="connsiteX20" fmla="*/ 5840 w 43256"/>
              <a:gd name="connsiteY20" fmla="*/ 43912 h 51800"/>
              <a:gd name="connsiteX21" fmla="*/ 1146 w 43256"/>
              <a:gd name="connsiteY21" fmla="*/ 39690 h 51800"/>
              <a:gd name="connsiteX22" fmla="*/ 2149 w 43256"/>
              <a:gd name="connsiteY22" fmla="*/ 33991 h 51800"/>
              <a:gd name="connsiteX23" fmla="*/ 31 w 43256"/>
              <a:gd name="connsiteY23" fmla="*/ 28144 h 51800"/>
              <a:gd name="connsiteX24" fmla="*/ 3899 w 43256"/>
              <a:gd name="connsiteY24" fmla="*/ 22947 h 51800"/>
              <a:gd name="connsiteX25" fmla="*/ 3936 w 43256"/>
              <a:gd name="connsiteY25"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31455 w 43256"/>
              <a:gd name="connsiteY15" fmla="*/ 3457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5014 w 43256"/>
              <a:gd name="connsiteY9" fmla="*/ 8133 h 51800"/>
              <a:gd name="connsiteX10" fmla="*/ 38354 w 43256"/>
              <a:gd name="connsiteY10" fmla="*/ 14016 h 51800"/>
              <a:gd name="connsiteX11" fmla="*/ 42018 w 43256"/>
              <a:gd name="connsiteY11" fmla="*/ 18758 h 51800"/>
              <a:gd name="connsiteX12" fmla="*/ 41854 w 43256"/>
              <a:gd name="connsiteY12" fmla="*/ 23900 h 51800"/>
              <a:gd name="connsiteX13" fmla="*/ 43052 w 43256"/>
              <a:gd name="connsiteY13" fmla="*/ 31762 h 51800"/>
              <a:gd name="connsiteX14" fmla="*/ 37440 w 43256"/>
              <a:gd name="connsiteY14" fmla="*/ 38644 h 51800"/>
              <a:gd name="connsiteX15" fmla="*/ 35431 w 43256"/>
              <a:gd name="connsiteY15" fmla="*/ 44541 h 51800"/>
              <a:gd name="connsiteX16" fmla="*/ 28591 w 43256"/>
              <a:gd name="connsiteY16" fmla="*/ 45255 h 51800"/>
              <a:gd name="connsiteX17" fmla="*/ 23703 w 43256"/>
              <a:gd name="connsiteY17" fmla="*/ 51546 h 51800"/>
              <a:gd name="connsiteX18" fmla="*/ 16516 w 43256"/>
              <a:gd name="connsiteY18" fmla="*/ 47706 h 51800"/>
              <a:gd name="connsiteX19" fmla="*/ 5840 w 43256"/>
              <a:gd name="connsiteY19" fmla="*/ 43912 h 51800"/>
              <a:gd name="connsiteX20" fmla="*/ 1146 w 43256"/>
              <a:gd name="connsiteY20" fmla="*/ 39690 h 51800"/>
              <a:gd name="connsiteX21" fmla="*/ 2149 w 43256"/>
              <a:gd name="connsiteY21" fmla="*/ 33991 h 51800"/>
              <a:gd name="connsiteX22" fmla="*/ 31 w 43256"/>
              <a:gd name="connsiteY22" fmla="*/ 28144 h 51800"/>
              <a:gd name="connsiteX23" fmla="*/ 3899 w 43256"/>
              <a:gd name="connsiteY23" fmla="*/ 22947 h 51800"/>
              <a:gd name="connsiteX24" fmla="*/ 3936 w 43256"/>
              <a:gd name="connsiteY24"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31455 w 43256"/>
              <a:gd name="connsiteY15" fmla="*/ 3457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6613 w 43256"/>
              <a:gd name="connsiteY9" fmla="*/ 4546 h 51800"/>
              <a:gd name="connsiteX10" fmla="*/ 38354 w 43256"/>
              <a:gd name="connsiteY10" fmla="*/ 14016 h 51800"/>
              <a:gd name="connsiteX11" fmla="*/ 42018 w 43256"/>
              <a:gd name="connsiteY11" fmla="*/ 18758 h 51800"/>
              <a:gd name="connsiteX12" fmla="*/ 41854 w 43256"/>
              <a:gd name="connsiteY12" fmla="*/ 23900 h 51800"/>
              <a:gd name="connsiteX13" fmla="*/ 43052 w 43256"/>
              <a:gd name="connsiteY13" fmla="*/ 31762 h 51800"/>
              <a:gd name="connsiteX14" fmla="*/ 37440 w 43256"/>
              <a:gd name="connsiteY14" fmla="*/ 38644 h 51800"/>
              <a:gd name="connsiteX15" fmla="*/ 35431 w 43256"/>
              <a:gd name="connsiteY15" fmla="*/ 44541 h 51800"/>
              <a:gd name="connsiteX16" fmla="*/ 28591 w 43256"/>
              <a:gd name="connsiteY16" fmla="*/ 45255 h 51800"/>
              <a:gd name="connsiteX17" fmla="*/ 23703 w 43256"/>
              <a:gd name="connsiteY17" fmla="*/ 51546 h 51800"/>
              <a:gd name="connsiteX18" fmla="*/ 16516 w 43256"/>
              <a:gd name="connsiteY18" fmla="*/ 47706 h 51800"/>
              <a:gd name="connsiteX19" fmla="*/ 5840 w 43256"/>
              <a:gd name="connsiteY19" fmla="*/ 43912 h 51800"/>
              <a:gd name="connsiteX20" fmla="*/ 1146 w 43256"/>
              <a:gd name="connsiteY20" fmla="*/ 39690 h 51800"/>
              <a:gd name="connsiteX21" fmla="*/ 2149 w 43256"/>
              <a:gd name="connsiteY21" fmla="*/ 33991 h 51800"/>
              <a:gd name="connsiteX22" fmla="*/ 31 w 43256"/>
              <a:gd name="connsiteY22" fmla="*/ 28144 h 51800"/>
              <a:gd name="connsiteX23" fmla="*/ 3899 w 43256"/>
              <a:gd name="connsiteY23" fmla="*/ 22947 h 51800"/>
              <a:gd name="connsiteX24" fmla="*/ 3936 w 43256"/>
              <a:gd name="connsiteY24"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31455 w 43256"/>
              <a:gd name="connsiteY15" fmla="*/ 3457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2810 h 51800"/>
              <a:gd name="connsiteX1" fmla="*/ 5659 w 43256"/>
              <a:gd name="connsiteY1" fmla="*/ 11162 h 51800"/>
              <a:gd name="connsiteX2" fmla="*/ 11155 w 43256"/>
              <a:gd name="connsiteY2" fmla="*/ 7842 h 51800"/>
              <a:gd name="connsiteX3" fmla="*/ 14041 w 43256"/>
              <a:gd name="connsiteY3" fmla="*/ 13642 h 51800"/>
              <a:gd name="connsiteX4" fmla="*/ 14741 w 43256"/>
              <a:gd name="connsiteY4" fmla="*/ 8639 h 51800"/>
              <a:gd name="connsiteX5" fmla="*/ 18424 w 43256"/>
              <a:gd name="connsiteY5" fmla="*/ 868 h 51800"/>
              <a:gd name="connsiteX6" fmla="*/ 22783 w 43256"/>
              <a:gd name="connsiteY6" fmla="*/ 2108 h 51800"/>
              <a:gd name="connsiteX7" fmla="*/ 29371 w 43256"/>
              <a:gd name="connsiteY7" fmla="*/ 669 h 51800"/>
              <a:gd name="connsiteX8" fmla="*/ 29869 w 43256"/>
              <a:gd name="connsiteY8" fmla="*/ 10921 h 51800"/>
              <a:gd name="connsiteX9" fmla="*/ 32394 w 43256"/>
              <a:gd name="connsiteY9" fmla="*/ 2749 h 51800"/>
              <a:gd name="connsiteX10" fmla="*/ 36613 w 43256"/>
              <a:gd name="connsiteY10" fmla="*/ 4546 h 51800"/>
              <a:gd name="connsiteX11" fmla="*/ 38354 w 43256"/>
              <a:gd name="connsiteY11" fmla="*/ 14016 h 51800"/>
              <a:gd name="connsiteX12" fmla="*/ 42018 w 43256"/>
              <a:gd name="connsiteY12" fmla="*/ 18758 h 51800"/>
              <a:gd name="connsiteX13" fmla="*/ 41854 w 43256"/>
              <a:gd name="connsiteY13" fmla="*/ 23900 h 51800"/>
              <a:gd name="connsiteX14" fmla="*/ 43052 w 43256"/>
              <a:gd name="connsiteY14" fmla="*/ 31762 h 51800"/>
              <a:gd name="connsiteX15" fmla="*/ 37440 w 43256"/>
              <a:gd name="connsiteY15" fmla="*/ 38644 h 51800"/>
              <a:gd name="connsiteX16" fmla="*/ 35431 w 43256"/>
              <a:gd name="connsiteY16" fmla="*/ 44541 h 51800"/>
              <a:gd name="connsiteX17" fmla="*/ 28591 w 43256"/>
              <a:gd name="connsiteY17" fmla="*/ 45255 h 51800"/>
              <a:gd name="connsiteX18" fmla="*/ 23703 w 43256"/>
              <a:gd name="connsiteY18" fmla="*/ 51546 h 51800"/>
              <a:gd name="connsiteX19" fmla="*/ 16516 w 43256"/>
              <a:gd name="connsiteY19" fmla="*/ 47706 h 51800"/>
              <a:gd name="connsiteX20" fmla="*/ 5840 w 43256"/>
              <a:gd name="connsiteY20" fmla="*/ 43912 h 51800"/>
              <a:gd name="connsiteX21" fmla="*/ 1146 w 43256"/>
              <a:gd name="connsiteY21" fmla="*/ 39690 h 51800"/>
              <a:gd name="connsiteX22" fmla="*/ 2149 w 43256"/>
              <a:gd name="connsiteY22" fmla="*/ 33991 h 51800"/>
              <a:gd name="connsiteX23" fmla="*/ 31 w 43256"/>
              <a:gd name="connsiteY23" fmla="*/ 28144 h 51800"/>
              <a:gd name="connsiteX24" fmla="*/ 3899 w 43256"/>
              <a:gd name="connsiteY24" fmla="*/ 22947 h 51800"/>
              <a:gd name="connsiteX25" fmla="*/ 3936 w 43256"/>
              <a:gd name="connsiteY25" fmla="*/ 22810 h 51800"/>
              <a:gd name="connsiteX0" fmla="*/ 4729 w 43256"/>
              <a:gd name="connsiteY0" fmla="*/ 34617 h 51800"/>
              <a:gd name="connsiteX1" fmla="*/ 2196 w 43256"/>
              <a:gd name="connsiteY1" fmla="*/ 33820 h 51800"/>
              <a:gd name="connsiteX2" fmla="*/ 6964 w 43256"/>
              <a:gd name="connsiteY2" fmla="*/ 43339 h 51800"/>
              <a:gd name="connsiteX3" fmla="*/ 5856 w 43256"/>
              <a:gd name="connsiteY3" fmla="*/ 43720 h 51800"/>
              <a:gd name="connsiteX4" fmla="*/ 16514 w 43256"/>
              <a:gd name="connsiteY4" fmla="*/ 47530 h 51800"/>
              <a:gd name="connsiteX5" fmla="*/ 15846 w 43256"/>
              <a:gd name="connsiteY5" fmla="*/ 45790 h 51800"/>
              <a:gd name="connsiteX6" fmla="*/ 28863 w 43256"/>
              <a:gd name="connsiteY6" fmla="*/ 43191 h 51800"/>
              <a:gd name="connsiteX7" fmla="*/ 28596 w 43256"/>
              <a:gd name="connsiteY7" fmla="*/ 45100 h 51800"/>
              <a:gd name="connsiteX8" fmla="*/ 34165 w 43256"/>
              <a:gd name="connsiteY8" fmla="*/ 31394 h 51800"/>
              <a:gd name="connsiteX9" fmla="*/ 37416 w 43256"/>
              <a:gd name="connsiteY9" fmla="*/ 38530 h 51800"/>
              <a:gd name="connsiteX10" fmla="*/ 41834 w 43256"/>
              <a:gd name="connsiteY10" fmla="*/ 23794 h 51800"/>
              <a:gd name="connsiteX11" fmla="*/ 40386 w 43256"/>
              <a:gd name="connsiteY11" fmla="*/ 26470 h 51800"/>
              <a:gd name="connsiteX12" fmla="*/ 38360 w 43256"/>
              <a:gd name="connsiteY12" fmla="*/ 13866 h 51800"/>
              <a:gd name="connsiteX13" fmla="*/ 38436 w 43256"/>
              <a:gd name="connsiteY13" fmla="*/ 15130 h 51800"/>
              <a:gd name="connsiteX14" fmla="*/ 29114 w 43256"/>
              <a:gd name="connsiteY14" fmla="*/ 12392 h 51800"/>
              <a:gd name="connsiteX15" fmla="*/ 31455 w 43256"/>
              <a:gd name="connsiteY15" fmla="*/ 3457 h 51800"/>
              <a:gd name="connsiteX16" fmla="*/ 21014 w 43256"/>
              <a:gd name="connsiteY16" fmla="*/ 805 h 51800"/>
              <a:gd name="connsiteX17" fmla="*/ 23525 w 43256"/>
              <a:gd name="connsiteY17" fmla="*/ 6408 h 51800"/>
              <a:gd name="connsiteX18" fmla="*/ 24669 w 43256"/>
              <a:gd name="connsiteY18" fmla="*/ 2802 h 51800"/>
              <a:gd name="connsiteX19" fmla="*/ 14036 w 43256"/>
              <a:gd name="connsiteY19" fmla="*/ 13632 h 51800"/>
              <a:gd name="connsiteX20" fmla="*/ 15336 w 43256"/>
              <a:gd name="connsiteY20" fmla="*/ 14980 h 51800"/>
              <a:gd name="connsiteX21" fmla="*/ 4163 w 43256"/>
              <a:gd name="connsiteY21" fmla="*/ 24229 h 51800"/>
              <a:gd name="connsiteX22" fmla="*/ 3936 w 43256"/>
              <a:gd name="connsiteY22" fmla="*/ 22810 h 51800"/>
              <a:gd name="connsiteX0" fmla="*/ 3936 w 43256"/>
              <a:gd name="connsiteY0" fmla="*/ 24204 h 53194"/>
              <a:gd name="connsiteX1" fmla="*/ 5659 w 43256"/>
              <a:gd name="connsiteY1" fmla="*/ 12556 h 53194"/>
              <a:gd name="connsiteX2" fmla="*/ 11155 w 43256"/>
              <a:gd name="connsiteY2" fmla="*/ 9236 h 53194"/>
              <a:gd name="connsiteX3" fmla="*/ 14041 w 43256"/>
              <a:gd name="connsiteY3" fmla="*/ 15036 h 53194"/>
              <a:gd name="connsiteX4" fmla="*/ 14741 w 43256"/>
              <a:gd name="connsiteY4" fmla="*/ 10033 h 53194"/>
              <a:gd name="connsiteX5" fmla="*/ 18424 w 43256"/>
              <a:gd name="connsiteY5" fmla="*/ 2262 h 53194"/>
              <a:gd name="connsiteX6" fmla="*/ 22783 w 43256"/>
              <a:gd name="connsiteY6" fmla="*/ 3502 h 53194"/>
              <a:gd name="connsiteX7" fmla="*/ 29371 w 43256"/>
              <a:gd name="connsiteY7" fmla="*/ 2063 h 53194"/>
              <a:gd name="connsiteX8" fmla="*/ 32030 w 43256"/>
              <a:gd name="connsiteY8" fmla="*/ 556 h 53194"/>
              <a:gd name="connsiteX9" fmla="*/ 29869 w 43256"/>
              <a:gd name="connsiteY9" fmla="*/ 12315 h 53194"/>
              <a:gd name="connsiteX10" fmla="*/ 32394 w 43256"/>
              <a:gd name="connsiteY10" fmla="*/ 4143 h 53194"/>
              <a:gd name="connsiteX11" fmla="*/ 36613 w 43256"/>
              <a:gd name="connsiteY11" fmla="*/ 5940 h 53194"/>
              <a:gd name="connsiteX12" fmla="*/ 38354 w 43256"/>
              <a:gd name="connsiteY12" fmla="*/ 15410 h 53194"/>
              <a:gd name="connsiteX13" fmla="*/ 42018 w 43256"/>
              <a:gd name="connsiteY13" fmla="*/ 20152 h 53194"/>
              <a:gd name="connsiteX14" fmla="*/ 41854 w 43256"/>
              <a:gd name="connsiteY14" fmla="*/ 25294 h 53194"/>
              <a:gd name="connsiteX15" fmla="*/ 43052 w 43256"/>
              <a:gd name="connsiteY15" fmla="*/ 33156 h 53194"/>
              <a:gd name="connsiteX16" fmla="*/ 37440 w 43256"/>
              <a:gd name="connsiteY16" fmla="*/ 40038 h 53194"/>
              <a:gd name="connsiteX17" fmla="*/ 35431 w 43256"/>
              <a:gd name="connsiteY17" fmla="*/ 45935 h 53194"/>
              <a:gd name="connsiteX18" fmla="*/ 28591 w 43256"/>
              <a:gd name="connsiteY18" fmla="*/ 46649 h 53194"/>
              <a:gd name="connsiteX19" fmla="*/ 23703 w 43256"/>
              <a:gd name="connsiteY19" fmla="*/ 52940 h 53194"/>
              <a:gd name="connsiteX20" fmla="*/ 16516 w 43256"/>
              <a:gd name="connsiteY20" fmla="*/ 49100 h 53194"/>
              <a:gd name="connsiteX21" fmla="*/ 5840 w 43256"/>
              <a:gd name="connsiteY21" fmla="*/ 45306 h 53194"/>
              <a:gd name="connsiteX22" fmla="*/ 1146 w 43256"/>
              <a:gd name="connsiteY22" fmla="*/ 41084 h 53194"/>
              <a:gd name="connsiteX23" fmla="*/ 2149 w 43256"/>
              <a:gd name="connsiteY23" fmla="*/ 35385 h 53194"/>
              <a:gd name="connsiteX24" fmla="*/ 31 w 43256"/>
              <a:gd name="connsiteY24" fmla="*/ 29538 h 53194"/>
              <a:gd name="connsiteX25" fmla="*/ 3899 w 43256"/>
              <a:gd name="connsiteY25" fmla="*/ 24341 h 53194"/>
              <a:gd name="connsiteX26" fmla="*/ 3936 w 43256"/>
              <a:gd name="connsiteY26" fmla="*/ 24204 h 53194"/>
              <a:gd name="connsiteX0" fmla="*/ 4729 w 43256"/>
              <a:gd name="connsiteY0" fmla="*/ 36011 h 53194"/>
              <a:gd name="connsiteX1" fmla="*/ 2196 w 43256"/>
              <a:gd name="connsiteY1" fmla="*/ 35214 h 53194"/>
              <a:gd name="connsiteX2" fmla="*/ 6964 w 43256"/>
              <a:gd name="connsiteY2" fmla="*/ 44733 h 53194"/>
              <a:gd name="connsiteX3" fmla="*/ 5856 w 43256"/>
              <a:gd name="connsiteY3" fmla="*/ 45114 h 53194"/>
              <a:gd name="connsiteX4" fmla="*/ 16514 w 43256"/>
              <a:gd name="connsiteY4" fmla="*/ 48924 h 53194"/>
              <a:gd name="connsiteX5" fmla="*/ 15846 w 43256"/>
              <a:gd name="connsiteY5" fmla="*/ 47184 h 53194"/>
              <a:gd name="connsiteX6" fmla="*/ 28863 w 43256"/>
              <a:gd name="connsiteY6" fmla="*/ 44585 h 53194"/>
              <a:gd name="connsiteX7" fmla="*/ 28596 w 43256"/>
              <a:gd name="connsiteY7" fmla="*/ 46494 h 53194"/>
              <a:gd name="connsiteX8" fmla="*/ 34165 w 43256"/>
              <a:gd name="connsiteY8" fmla="*/ 32788 h 53194"/>
              <a:gd name="connsiteX9" fmla="*/ 37416 w 43256"/>
              <a:gd name="connsiteY9" fmla="*/ 39924 h 53194"/>
              <a:gd name="connsiteX10" fmla="*/ 41834 w 43256"/>
              <a:gd name="connsiteY10" fmla="*/ 25188 h 53194"/>
              <a:gd name="connsiteX11" fmla="*/ 40386 w 43256"/>
              <a:gd name="connsiteY11" fmla="*/ 27864 h 53194"/>
              <a:gd name="connsiteX12" fmla="*/ 38360 w 43256"/>
              <a:gd name="connsiteY12" fmla="*/ 15260 h 53194"/>
              <a:gd name="connsiteX13" fmla="*/ 38436 w 43256"/>
              <a:gd name="connsiteY13" fmla="*/ 16524 h 53194"/>
              <a:gd name="connsiteX14" fmla="*/ 29114 w 43256"/>
              <a:gd name="connsiteY14" fmla="*/ 13786 h 53194"/>
              <a:gd name="connsiteX15" fmla="*/ 31455 w 43256"/>
              <a:gd name="connsiteY15" fmla="*/ 4851 h 53194"/>
              <a:gd name="connsiteX16" fmla="*/ 21014 w 43256"/>
              <a:gd name="connsiteY16" fmla="*/ 2199 h 53194"/>
              <a:gd name="connsiteX17" fmla="*/ 23525 w 43256"/>
              <a:gd name="connsiteY17" fmla="*/ 7802 h 53194"/>
              <a:gd name="connsiteX18" fmla="*/ 24669 w 43256"/>
              <a:gd name="connsiteY18" fmla="*/ 4196 h 53194"/>
              <a:gd name="connsiteX19" fmla="*/ 14036 w 43256"/>
              <a:gd name="connsiteY19" fmla="*/ 15026 h 53194"/>
              <a:gd name="connsiteX20" fmla="*/ 15336 w 43256"/>
              <a:gd name="connsiteY20" fmla="*/ 16374 h 53194"/>
              <a:gd name="connsiteX21" fmla="*/ 4163 w 43256"/>
              <a:gd name="connsiteY21" fmla="*/ 25623 h 53194"/>
              <a:gd name="connsiteX22" fmla="*/ 3936 w 43256"/>
              <a:gd name="connsiteY22" fmla="*/ 24204 h 53194"/>
              <a:gd name="connsiteX0" fmla="*/ 3936 w 43256"/>
              <a:gd name="connsiteY0" fmla="*/ 24204 h 53194"/>
              <a:gd name="connsiteX1" fmla="*/ 5659 w 43256"/>
              <a:gd name="connsiteY1" fmla="*/ 12556 h 53194"/>
              <a:gd name="connsiteX2" fmla="*/ 11155 w 43256"/>
              <a:gd name="connsiteY2" fmla="*/ 9236 h 53194"/>
              <a:gd name="connsiteX3" fmla="*/ 14041 w 43256"/>
              <a:gd name="connsiteY3" fmla="*/ 15036 h 53194"/>
              <a:gd name="connsiteX4" fmla="*/ 14741 w 43256"/>
              <a:gd name="connsiteY4" fmla="*/ 10033 h 53194"/>
              <a:gd name="connsiteX5" fmla="*/ 18424 w 43256"/>
              <a:gd name="connsiteY5" fmla="*/ 2262 h 53194"/>
              <a:gd name="connsiteX6" fmla="*/ 22783 w 43256"/>
              <a:gd name="connsiteY6" fmla="*/ 3502 h 53194"/>
              <a:gd name="connsiteX7" fmla="*/ 29371 w 43256"/>
              <a:gd name="connsiteY7" fmla="*/ 2063 h 53194"/>
              <a:gd name="connsiteX8" fmla="*/ 32030 w 43256"/>
              <a:gd name="connsiteY8" fmla="*/ 556 h 53194"/>
              <a:gd name="connsiteX9" fmla="*/ 29869 w 43256"/>
              <a:gd name="connsiteY9" fmla="*/ 12315 h 53194"/>
              <a:gd name="connsiteX10" fmla="*/ 32394 w 43256"/>
              <a:gd name="connsiteY10" fmla="*/ 4143 h 53194"/>
              <a:gd name="connsiteX11" fmla="*/ 36613 w 43256"/>
              <a:gd name="connsiteY11" fmla="*/ 5940 h 53194"/>
              <a:gd name="connsiteX12" fmla="*/ 38354 w 43256"/>
              <a:gd name="connsiteY12" fmla="*/ 15410 h 53194"/>
              <a:gd name="connsiteX13" fmla="*/ 42018 w 43256"/>
              <a:gd name="connsiteY13" fmla="*/ 20152 h 53194"/>
              <a:gd name="connsiteX14" fmla="*/ 41854 w 43256"/>
              <a:gd name="connsiteY14" fmla="*/ 25294 h 53194"/>
              <a:gd name="connsiteX15" fmla="*/ 43052 w 43256"/>
              <a:gd name="connsiteY15" fmla="*/ 33156 h 53194"/>
              <a:gd name="connsiteX16" fmla="*/ 37440 w 43256"/>
              <a:gd name="connsiteY16" fmla="*/ 40038 h 53194"/>
              <a:gd name="connsiteX17" fmla="*/ 35431 w 43256"/>
              <a:gd name="connsiteY17" fmla="*/ 45935 h 53194"/>
              <a:gd name="connsiteX18" fmla="*/ 28591 w 43256"/>
              <a:gd name="connsiteY18" fmla="*/ 46649 h 53194"/>
              <a:gd name="connsiteX19" fmla="*/ 23703 w 43256"/>
              <a:gd name="connsiteY19" fmla="*/ 52940 h 53194"/>
              <a:gd name="connsiteX20" fmla="*/ 16516 w 43256"/>
              <a:gd name="connsiteY20" fmla="*/ 49100 h 53194"/>
              <a:gd name="connsiteX21" fmla="*/ 5840 w 43256"/>
              <a:gd name="connsiteY21" fmla="*/ 45306 h 53194"/>
              <a:gd name="connsiteX22" fmla="*/ 1146 w 43256"/>
              <a:gd name="connsiteY22" fmla="*/ 41084 h 53194"/>
              <a:gd name="connsiteX23" fmla="*/ 2149 w 43256"/>
              <a:gd name="connsiteY23" fmla="*/ 35385 h 53194"/>
              <a:gd name="connsiteX24" fmla="*/ 31 w 43256"/>
              <a:gd name="connsiteY24" fmla="*/ 29538 h 53194"/>
              <a:gd name="connsiteX25" fmla="*/ 3899 w 43256"/>
              <a:gd name="connsiteY25" fmla="*/ 24341 h 53194"/>
              <a:gd name="connsiteX26" fmla="*/ 3936 w 43256"/>
              <a:gd name="connsiteY26" fmla="*/ 24204 h 53194"/>
              <a:gd name="connsiteX0" fmla="*/ 4729 w 43256"/>
              <a:gd name="connsiteY0" fmla="*/ 36011 h 53194"/>
              <a:gd name="connsiteX1" fmla="*/ 2196 w 43256"/>
              <a:gd name="connsiteY1" fmla="*/ 35214 h 53194"/>
              <a:gd name="connsiteX2" fmla="*/ 6964 w 43256"/>
              <a:gd name="connsiteY2" fmla="*/ 44733 h 53194"/>
              <a:gd name="connsiteX3" fmla="*/ 5856 w 43256"/>
              <a:gd name="connsiteY3" fmla="*/ 45114 h 53194"/>
              <a:gd name="connsiteX4" fmla="*/ 16514 w 43256"/>
              <a:gd name="connsiteY4" fmla="*/ 48924 h 53194"/>
              <a:gd name="connsiteX5" fmla="*/ 15846 w 43256"/>
              <a:gd name="connsiteY5" fmla="*/ 47184 h 53194"/>
              <a:gd name="connsiteX6" fmla="*/ 28863 w 43256"/>
              <a:gd name="connsiteY6" fmla="*/ 44585 h 53194"/>
              <a:gd name="connsiteX7" fmla="*/ 28596 w 43256"/>
              <a:gd name="connsiteY7" fmla="*/ 46494 h 53194"/>
              <a:gd name="connsiteX8" fmla="*/ 34165 w 43256"/>
              <a:gd name="connsiteY8" fmla="*/ 32788 h 53194"/>
              <a:gd name="connsiteX9" fmla="*/ 37416 w 43256"/>
              <a:gd name="connsiteY9" fmla="*/ 39924 h 53194"/>
              <a:gd name="connsiteX10" fmla="*/ 41834 w 43256"/>
              <a:gd name="connsiteY10" fmla="*/ 25188 h 53194"/>
              <a:gd name="connsiteX11" fmla="*/ 40386 w 43256"/>
              <a:gd name="connsiteY11" fmla="*/ 27864 h 53194"/>
              <a:gd name="connsiteX12" fmla="*/ 38360 w 43256"/>
              <a:gd name="connsiteY12" fmla="*/ 15260 h 53194"/>
              <a:gd name="connsiteX13" fmla="*/ 38436 w 43256"/>
              <a:gd name="connsiteY13" fmla="*/ 16524 h 53194"/>
              <a:gd name="connsiteX14" fmla="*/ 31222 w 43256"/>
              <a:gd name="connsiteY14" fmla="*/ 7957 h 53194"/>
              <a:gd name="connsiteX15" fmla="*/ 31455 w 43256"/>
              <a:gd name="connsiteY15" fmla="*/ 4851 h 53194"/>
              <a:gd name="connsiteX16" fmla="*/ 21014 w 43256"/>
              <a:gd name="connsiteY16" fmla="*/ 2199 h 53194"/>
              <a:gd name="connsiteX17" fmla="*/ 23525 w 43256"/>
              <a:gd name="connsiteY17" fmla="*/ 7802 h 53194"/>
              <a:gd name="connsiteX18" fmla="*/ 24669 w 43256"/>
              <a:gd name="connsiteY18" fmla="*/ 4196 h 53194"/>
              <a:gd name="connsiteX19" fmla="*/ 14036 w 43256"/>
              <a:gd name="connsiteY19" fmla="*/ 15026 h 53194"/>
              <a:gd name="connsiteX20" fmla="*/ 15336 w 43256"/>
              <a:gd name="connsiteY20" fmla="*/ 16374 h 53194"/>
              <a:gd name="connsiteX21" fmla="*/ 4163 w 43256"/>
              <a:gd name="connsiteY21" fmla="*/ 25623 h 53194"/>
              <a:gd name="connsiteX22" fmla="*/ 3936 w 43256"/>
              <a:gd name="connsiteY22" fmla="*/ 24204 h 53194"/>
              <a:gd name="connsiteX0" fmla="*/ 3936 w 43256"/>
              <a:gd name="connsiteY0" fmla="*/ 24204 h 53194"/>
              <a:gd name="connsiteX1" fmla="*/ 5659 w 43256"/>
              <a:gd name="connsiteY1" fmla="*/ 12556 h 53194"/>
              <a:gd name="connsiteX2" fmla="*/ 11155 w 43256"/>
              <a:gd name="connsiteY2" fmla="*/ 9236 h 53194"/>
              <a:gd name="connsiteX3" fmla="*/ 14041 w 43256"/>
              <a:gd name="connsiteY3" fmla="*/ 15036 h 53194"/>
              <a:gd name="connsiteX4" fmla="*/ 14741 w 43256"/>
              <a:gd name="connsiteY4" fmla="*/ 10033 h 53194"/>
              <a:gd name="connsiteX5" fmla="*/ 18424 w 43256"/>
              <a:gd name="connsiteY5" fmla="*/ 2262 h 53194"/>
              <a:gd name="connsiteX6" fmla="*/ 22783 w 43256"/>
              <a:gd name="connsiteY6" fmla="*/ 3502 h 53194"/>
              <a:gd name="connsiteX7" fmla="*/ 29371 w 43256"/>
              <a:gd name="connsiteY7" fmla="*/ 2063 h 53194"/>
              <a:gd name="connsiteX8" fmla="*/ 32030 w 43256"/>
              <a:gd name="connsiteY8" fmla="*/ 556 h 53194"/>
              <a:gd name="connsiteX9" fmla="*/ 33940 w 43256"/>
              <a:gd name="connsiteY9" fmla="*/ 1255 h 53194"/>
              <a:gd name="connsiteX10" fmla="*/ 32394 w 43256"/>
              <a:gd name="connsiteY10" fmla="*/ 4143 h 53194"/>
              <a:gd name="connsiteX11" fmla="*/ 36613 w 43256"/>
              <a:gd name="connsiteY11" fmla="*/ 5940 h 53194"/>
              <a:gd name="connsiteX12" fmla="*/ 38354 w 43256"/>
              <a:gd name="connsiteY12" fmla="*/ 15410 h 53194"/>
              <a:gd name="connsiteX13" fmla="*/ 42018 w 43256"/>
              <a:gd name="connsiteY13" fmla="*/ 20152 h 53194"/>
              <a:gd name="connsiteX14" fmla="*/ 41854 w 43256"/>
              <a:gd name="connsiteY14" fmla="*/ 25294 h 53194"/>
              <a:gd name="connsiteX15" fmla="*/ 43052 w 43256"/>
              <a:gd name="connsiteY15" fmla="*/ 33156 h 53194"/>
              <a:gd name="connsiteX16" fmla="*/ 37440 w 43256"/>
              <a:gd name="connsiteY16" fmla="*/ 40038 h 53194"/>
              <a:gd name="connsiteX17" fmla="*/ 35431 w 43256"/>
              <a:gd name="connsiteY17" fmla="*/ 45935 h 53194"/>
              <a:gd name="connsiteX18" fmla="*/ 28591 w 43256"/>
              <a:gd name="connsiteY18" fmla="*/ 46649 h 53194"/>
              <a:gd name="connsiteX19" fmla="*/ 23703 w 43256"/>
              <a:gd name="connsiteY19" fmla="*/ 52940 h 53194"/>
              <a:gd name="connsiteX20" fmla="*/ 16516 w 43256"/>
              <a:gd name="connsiteY20" fmla="*/ 49100 h 53194"/>
              <a:gd name="connsiteX21" fmla="*/ 5840 w 43256"/>
              <a:gd name="connsiteY21" fmla="*/ 45306 h 53194"/>
              <a:gd name="connsiteX22" fmla="*/ 1146 w 43256"/>
              <a:gd name="connsiteY22" fmla="*/ 41084 h 53194"/>
              <a:gd name="connsiteX23" fmla="*/ 2149 w 43256"/>
              <a:gd name="connsiteY23" fmla="*/ 35385 h 53194"/>
              <a:gd name="connsiteX24" fmla="*/ 31 w 43256"/>
              <a:gd name="connsiteY24" fmla="*/ 29538 h 53194"/>
              <a:gd name="connsiteX25" fmla="*/ 3899 w 43256"/>
              <a:gd name="connsiteY25" fmla="*/ 24341 h 53194"/>
              <a:gd name="connsiteX26" fmla="*/ 3936 w 43256"/>
              <a:gd name="connsiteY26" fmla="*/ 24204 h 53194"/>
              <a:gd name="connsiteX0" fmla="*/ 4729 w 43256"/>
              <a:gd name="connsiteY0" fmla="*/ 36011 h 53194"/>
              <a:gd name="connsiteX1" fmla="*/ 2196 w 43256"/>
              <a:gd name="connsiteY1" fmla="*/ 35214 h 53194"/>
              <a:gd name="connsiteX2" fmla="*/ 6964 w 43256"/>
              <a:gd name="connsiteY2" fmla="*/ 44733 h 53194"/>
              <a:gd name="connsiteX3" fmla="*/ 5856 w 43256"/>
              <a:gd name="connsiteY3" fmla="*/ 45114 h 53194"/>
              <a:gd name="connsiteX4" fmla="*/ 16514 w 43256"/>
              <a:gd name="connsiteY4" fmla="*/ 48924 h 53194"/>
              <a:gd name="connsiteX5" fmla="*/ 15846 w 43256"/>
              <a:gd name="connsiteY5" fmla="*/ 47184 h 53194"/>
              <a:gd name="connsiteX6" fmla="*/ 28863 w 43256"/>
              <a:gd name="connsiteY6" fmla="*/ 44585 h 53194"/>
              <a:gd name="connsiteX7" fmla="*/ 28596 w 43256"/>
              <a:gd name="connsiteY7" fmla="*/ 46494 h 53194"/>
              <a:gd name="connsiteX8" fmla="*/ 34165 w 43256"/>
              <a:gd name="connsiteY8" fmla="*/ 32788 h 53194"/>
              <a:gd name="connsiteX9" fmla="*/ 37416 w 43256"/>
              <a:gd name="connsiteY9" fmla="*/ 39924 h 53194"/>
              <a:gd name="connsiteX10" fmla="*/ 41834 w 43256"/>
              <a:gd name="connsiteY10" fmla="*/ 25188 h 53194"/>
              <a:gd name="connsiteX11" fmla="*/ 40386 w 43256"/>
              <a:gd name="connsiteY11" fmla="*/ 27864 h 53194"/>
              <a:gd name="connsiteX12" fmla="*/ 38360 w 43256"/>
              <a:gd name="connsiteY12" fmla="*/ 15260 h 53194"/>
              <a:gd name="connsiteX13" fmla="*/ 38436 w 43256"/>
              <a:gd name="connsiteY13" fmla="*/ 16524 h 53194"/>
              <a:gd name="connsiteX14" fmla="*/ 31222 w 43256"/>
              <a:gd name="connsiteY14" fmla="*/ 7957 h 53194"/>
              <a:gd name="connsiteX15" fmla="*/ 31455 w 43256"/>
              <a:gd name="connsiteY15" fmla="*/ 4851 h 53194"/>
              <a:gd name="connsiteX16" fmla="*/ 21014 w 43256"/>
              <a:gd name="connsiteY16" fmla="*/ 2199 h 53194"/>
              <a:gd name="connsiteX17" fmla="*/ 23525 w 43256"/>
              <a:gd name="connsiteY17" fmla="*/ 7802 h 53194"/>
              <a:gd name="connsiteX18" fmla="*/ 24669 w 43256"/>
              <a:gd name="connsiteY18" fmla="*/ 4196 h 53194"/>
              <a:gd name="connsiteX19" fmla="*/ 14036 w 43256"/>
              <a:gd name="connsiteY19" fmla="*/ 15026 h 53194"/>
              <a:gd name="connsiteX20" fmla="*/ 15336 w 43256"/>
              <a:gd name="connsiteY20" fmla="*/ 16374 h 53194"/>
              <a:gd name="connsiteX21" fmla="*/ 4163 w 43256"/>
              <a:gd name="connsiteY21" fmla="*/ 25623 h 53194"/>
              <a:gd name="connsiteX22" fmla="*/ 3936 w 43256"/>
              <a:gd name="connsiteY22" fmla="*/ 24204 h 53194"/>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83 w 43256"/>
              <a:gd name="connsiteY6" fmla="*/ 5199 h 54891"/>
              <a:gd name="connsiteX7" fmla="*/ 26869 w 43256"/>
              <a:gd name="connsiteY7" fmla="*/ 11 h 54891"/>
              <a:gd name="connsiteX8" fmla="*/ 29371 w 43256"/>
              <a:gd name="connsiteY8" fmla="*/ 3760 h 54891"/>
              <a:gd name="connsiteX9" fmla="*/ 32030 w 43256"/>
              <a:gd name="connsiteY9" fmla="*/ 2253 h 54891"/>
              <a:gd name="connsiteX10" fmla="*/ 33940 w 43256"/>
              <a:gd name="connsiteY10" fmla="*/ 2952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3525 w 43256"/>
              <a:gd name="connsiteY17" fmla="*/ 9499 h 54891"/>
              <a:gd name="connsiteX18" fmla="*/ 24669 w 43256"/>
              <a:gd name="connsiteY18" fmla="*/ 5893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3940 w 43256"/>
              <a:gd name="connsiteY10" fmla="*/ 2952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3525 w 43256"/>
              <a:gd name="connsiteY17" fmla="*/ 9499 h 54891"/>
              <a:gd name="connsiteX18" fmla="*/ 24669 w 43256"/>
              <a:gd name="connsiteY18" fmla="*/ 5893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3940 w 43256"/>
              <a:gd name="connsiteY10" fmla="*/ 2952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3525 w 43256"/>
              <a:gd name="connsiteY17" fmla="*/ 9499 h 54891"/>
              <a:gd name="connsiteX18" fmla="*/ 20744 w 43256"/>
              <a:gd name="connsiteY18" fmla="*/ 8284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3940 w 43256"/>
              <a:gd name="connsiteY10" fmla="*/ 2952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0763 w 43256"/>
              <a:gd name="connsiteY17" fmla="*/ 3969 h 54891"/>
              <a:gd name="connsiteX18" fmla="*/ 20744 w 43256"/>
              <a:gd name="connsiteY18" fmla="*/ 8284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3940 w 43256"/>
              <a:gd name="connsiteY10" fmla="*/ 2952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0763 w 43256"/>
              <a:gd name="connsiteY17" fmla="*/ 3969 h 54891"/>
              <a:gd name="connsiteX18" fmla="*/ 19726 w 43256"/>
              <a:gd name="connsiteY18" fmla="*/ 4099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2777 w 43256"/>
              <a:gd name="connsiteY10" fmla="*/ 3550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222 w 43256"/>
              <a:gd name="connsiteY14" fmla="*/ 9654 h 54891"/>
              <a:gd name="connsiteX15" fmla="*/ 31455 w 43256"/>
              <a:gd name="connsiteY15" fmla="*/ 6548 h 54891"/>
              <a:gd name="connsiteX16" fmla="*/ 21014 w 43256"/>
              <a:gd name="connsiteY16" fmla="*/ 3896 h 54891"/>
              <a:gd name="connsiteX17" fmla="*/ 20763 w 43256"/>
              <a:gd name="connsiteY17" fmla="*/ 3969 h 54891"/>
              <a:gd name="connsiteX18" fmla="*/ 19726 w 43256"/>
              <a:gd name="connsiteY18" fmla="*/ 4099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0933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2777 w 43256"/>
              <a:gd name="connsiteY10" fmla="*/ 3550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876 w 43256"/>
              <a:gd name="connsiteY14" fmla="*/ 6964 h 54891"/>
              <a:gd name="connsiteX15" fmla="*/ 31455 w 43256"/>
              <a:gd name="connsiteY15" fmla="*/ 6548 h 54891"/>
              <a:gd name="connsiteX16" fmla="*/ 21014 w 43256"/>
              <a:gd name="connsiteY16" fmla="*/ 3896 h 54891"/>
              <a:gd name="connsiteX17" fmla="*/ 20763 w 43256"/>
              <a:gd name="connsiteY17" fmla="*/ 3969 h 54891"/>
              <a:gd name="connsiteX18" fmla="*/ 19726 w 43256"/>
              <a:gd name="connsiteY18" fmla="*/ 4099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5659 w 43256"/>
              <a:gd name="connsiteY1" fmla="*/ 14253 h 54891"/>
              <a:gd name="connsiteX2" fmla="*/ 11155 w 43256"/>
              <a:gd name="connsiteY2" fmla="*/ 12129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2777 w 43256"/>
              <a:gd name="connsiteY10" fmla="*/ 3550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876 w 43256"/>
              <a:gd name="connsiteY14" fmla="*/ 6964 h 54891"/>
              <a:gd name="connsiteX15" fmla="*/ 31455 w 43256"/>
              <a:gd name="connsiteY15" fmla="*/ 6548 h 54891"/>
              <a:gd name="connsiteX16" fmla="*/ 21014 w 43256"/>
              <a:gd name="connsiteY16" fmla="*/ 3896 h 54891"/>
              <a:gd name="connsiteX17" fmla="*/ 20763 w 43256"/>
              <a:gd name="connsiteY17" fmla="*/ 3969 h 54891"/>
              <a:gd name="connsiteX18" fmla="*/ 19726 w 43256"/>
              <a:gd name="connsiteY18" fmla="*/ 4099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 name="connsiteX0" fmla="*/ 3936 w 43256"/>
              <a:gd name="connsiteY0" fmla="*/ 25901 h 54891"/>
              <a:gd name="connsiteX1" fmla="*/ 6986 w 43256"/>
              <a:gd name="connsiteY1" fmla="*/ 18637 h 54891"/>
              <a:gd name="connsiteX2" fmla="*/ 11155 w 43256"/>
              <a:gd name="connsiteY2" fmla="*/ 12129 h 54891"/>
              <a:gd name="connsiteX3" fmla="*/ 14041 w 43256"/>
              <a:gd name="connsiteY3" fmla="*/ 16733 h 54891"/>
              <a:gd name="connsiteX4" fmla="*/ 14741 w 43256"/>
              <a:gd name="connsiteY4" fmla="*/ 11730 h 54891"/>
              <a:gd name="connsiteX5" fmla="*/ 18424 w 43256"/>
              <a:gd name="connsiteY5" fmla="*/ 3959 h 54891"/>
              <a:gd name="connsiteX6" fmla="*/ 22710 w 43256"/>
              <a:gd name="connsiteY6" fmla="*/ 566 h 54891"/>
              <a:gd name="connsiteX7" fmla="*/ 26869 w 43256"/>
              <a:gd name="connsiteY7" fmla="*/ 11 h 54891"/>
              <a:gd name="connsiteX8" fmla="*/ 29371 w 43256"/>
              <a:gd name="connsiteY8" fmla="*/ 3760 h 54891"/>
              <a:gd name="connsiteX9" fmla="*/ 32030 w 43256"/>
              <a:gd name="connsiteY9" fmla="*/ 2253 h 54891"/>
              <a:gd name="connsiteX10" fmla="*/ 32777 w 43256"/>
              <a:gd name="connsiteY10" fmla="*/ 3550 h 54891"/>
              <a:gd name="connsiteX11" fmla="*/ 32394 w 43256"/>
              <a:gd name="connsiteY11" fmla="*/ 5840 h 54891"/>
              <a:gd name="connsiteX12" fmla="*/ 36613 w 43256"/>
              <a:gd name="connsiteY12" fmla="*/ 7637 h 54891"/>
              <a:gd name="connsiteX13" fmla="*/ 38354 w 43256"/>
              <a:gd name="connsiteY13" fmla="*/ 17107 h 54891"/>
              <a:gd name="connsiteX14" fmla="*/ 42018 w 43256"/>
              <a:gd name="connsiteY14" fmla="*/ 21849 h 54891"/>
              <a:gd name="connsiteX15" fmla="*/ 41854 w 43256"/>
              <a:gd name="connsiteY15" fmla="*/ 26991 h 54891"/>
              <a:gd name="connsiteX16" fmla="*/ 43052 w 43256"/>
              <a:gd name="connsiteY16" fmla="*/ 34853 h 54891"/>
              <a:gd name="connsiteX17" fmla="*/ 37440 w 43256"/>
              <a:gd name="connsiteY17" fmla="*/ 41735 h 54891"/>
              <a:gd name="connsiteX18" fmla="*/ 35431 w 43256"/>
              <a:gd name="connsiteY18" fmla="*/ 47632 h 54891"/>
              <a:gd name="connsiteX19" fmla="*/ 28591 w 43256"/>
              <a:gd name="connsiteY19" fmla="*/ 48346 h 54891"/>
              <a:gd name="connsiteX20" fmla="*/ 23703 w 43256"/>
              <a:gd name="connsiteY20" fmla="*/ 54637 h 54891"/>
              <a:gd name="connsiteX21" fmla="*/ 16516 w 43256"/>
              <a:gd name="connsiteY21" fmla="*/ 50797 h 54891"/>
              <a:gd name="connsiteX22" fmla="*/ 5840 w 43256"/>
              <a:gd name="connsiteY22" fmla="*/ 47003 h 54891"/>
              <a:gd name="connsiteX23" fmla="*/ 1146 w 43256"/>
              <a:gd name="connsiteY23" fmla="*/ 42781 h 54891"/>
              <a:gd name="connsiteX24" fmla="*/ 2149 w 43256"/>
              <a:gd name="connsiteY24" fmla="*/ 37082 h 54891"/>
              <a:gd name="connsiteX25" fmla="*/ 31 w 43256"/>
              <a:gd name="connsiteY25" fmla="*/ 31235 h 54891"/>
              <a:gd name="connsiteX26" fmla="*/ 3899 w 43256"/>
              <a:gd name="connsiteY26" fmla="*/ 26038 h 54891"/>
              <a:gd name="connsiteX27" fmla="*/ 3936 w 43256"/>
              <a:gd name="connsiteY27" fmla="*/ 25901 h 54891"/>
              <a:gd name="connsiteX0" fmla="*/ 4729 w 43256"/>
              <a:gd name="connsiteY0" fmla="*/ 37708 h 54891"/>
              <a:gd name="connsiteX1" fmla="*/ 2196 w 43256"/>
              <a:gd name="connsiteY1" fmla="*/ 36911 h 54891"/>
              <a:gd name="connsiteX2" fmla="*/ 6964 w 43256"/>
              <a:gd name="connsiteY2" fmla="*/ 46430 h 54891"/>
              <a:gd name="connsiteX3" fmla="*/ 5856 w 43256"/>
              <a:gd name="connsiteY3" fmla="*/ 46811 h 54891"/>
              <a:gd name="connsiteX4" fmla="*/ 16514 w 43256"/>
              <a:gd name="connsiteY4" fmla="*/ 50621 h 54891"/>
              <a:gd name="connsiteX5" fmla="*/ 15846 w 43256"/>
              <a:gd name="connsiteY5" fmla="*/ 48881 h 54891"/>
              <a:gd name="connsiteX6" fmla="*/ 28863 w 43256"/>
              <a:gd name="connsiteY6" fmla="*/ 46282 h 54891"/>
              <a:gd name="connsiteX7" fmla="*/ 28596 w 43256"/>
              <a:gd name="connsiteY7" fmla="*/ 48191 h 54891"/>
              <a:gd name="connsiteX8" fmla="*/ 34165 w 43256"/>
              <a:gd name="connsiteY8" fmla="*/ 34485 h 54891"/>
              <a:gd name="connsiteX9" fmla="*/ 37416 w 43256"/>
              <a:gd name="connsiteY9" fmla="*/ 41621 h 54891"/>
              <a:gd name="connsiteX10" fmla="*/ 41834 w 43256"/>
              <a:gd name="connsiteY10" fmla="*/ 26885 h 54891"/>
              <a:gd name="connsiteX11" fmla="*/ 40386 w 43256"/>
              <a:gd name="connsiteY11" fmla="*/ 29561 h 54891"/>
              <a:gd name="connsiteX12" fmla="*/ 38360 w 43256"/>
              <a:gd name="connsiteY12" fmla="*/ 16957 h 54891"/>
              <a:gd name="connsiteX13" fmla="*/ 38436 w 43256"/>
              <a:gd name="connsiteY13" fmla="*/ 18221 h 54891"/>
              <a:gd name="connsiteX14" fmla="*/ 31876 w 43256"/>
              <a:gd name="connsiteY14" fmla="*/ 6964 h 54891"/>
              <a:gd name="connsiteX15" fmla="*/ 31455 w 43256"/>
              <a:gd name="connsiteY15" fmla="*/ 6548 h 54891"/>
              <a:gd name="connsiteX16" fmla="*/ 21014 w 43256"/>
              <a:gd name="connsiteY16" fmla="*/ 3896 h 54891"/>
              <a:gd name="connsiteX17" fmla="*/ 20763 w 43256"/>
              <a:gd name="connsiteY17" fmla="*/ 3969 h 54891"/>
              <a:gd name="connsiteX18" fmla="*/ 19726 w 43256"/>
              <a:gd name="connsiteY18" fmla="*/ 4099 h 54891"/>
              <a:gd name="connsiteX19" fmla="*/ 14036 w 43256"/>
              <a:gd name="connsiteY19" fmla="*/ 16723 h 54891"/>
              <a:gd name="connsiteX20" fmla="*/ 15336 w 43256"/>
              <a:gd name="connsiteY20" fmla="*/ 18071 h 54891"/>
              <a:gd name="connsiteX21" fmla="*/ 4163 w 43256"/>
              <a:gd name="connsiteY21" fmla="*/ 27320 h 54891"/>
              <a:gd name="connsiteX22" fmla="*/ 3936 w 43256"/>
              <a:gd name="connsiteY22" fmla="*/ 25901 h 54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3256" h="54891">
                <a:moveTo>
                  <a:pt x="3936" y="25901"/>
                </a:moveTo>
                <a:cubicBezTo>
                  <a:pt x="3665" y="23188"/>
                  <a:pt x="5783" y="20932"/>
                  <a:pt x="6986" y="18637"/>
                </a:cubicBezTo>
                <a:cubicBezTo>
                  <a:pt x="8189" y="16342"/>
                  <a:pt x="9758" y="11716"/>
                  <a:pt x="11155" y="12129"/>
                </a:cubicBezTo>
                <a:cubicBezTo>
                  <a:pt x="12552" y="12542"/>
                  <a:pt x="13395" y="16002"/>
                  <a:pt x="14041" y="16733"/>
                </a:cubicBezTo>
                <a:cubicBezTo>
                  <a:pt x="14687" y="17464"/>
                  <a:pt x="13946" y="13128"/>
                  <a:pt x="14741" y="11730"/>
                </a:cubicBezTo>
                <a:cubicBezTo>
                  <a:pt x="15536" y="10332"/>
                  <a:pt x="17181" y="4018"/>
                  <a:pt x="18424" y="3959"/>
                </a:cubicBezTo>
                <a:cubicBezTo>
                  <a:pt x="19667" y="3900"/>
                  <a:pt x="21351" y="527"/>
                  <a:pt x="22710" y="566"/>
                </a:cubicBezTo>
                <a:cubicBezTo>
                  <a:pt x="24069" y="605"/>
                  <a:pt x="25771" y="251"/>
                  <a:pt x="26869" y="11"/>
                </a:cubicBezTo>
                <a:cubicBezTo>
                  <a:pt x="27967" y="-229"/>
                  <a:pt x="28511" y="3386"/>
                  <a:pt x="29371" y="3760"/>
                </a:cubicBezTo>
                <a:cubicBezTo>
                  <a:pt x="30231" y="4134"/>
                  <a:pt x="31947" y="544"/>
                  <a:pt x="32030" y="2253"/>
                </a:cubicBezTo>
                <a:cubicBezTo>
                  <a:pt x="32113" y="3962"/>
                  <a:pt x="32341" y="3874"/>
                  <a:pt x="32777" y="3550"/>
                </a:cubicBezTo>
                <a:cubicBezTo>
                  <a:pt x="33213" y="3226"/>
                  <a:pt x="31270" y="6902"/>
                  <a:pt x="32394" y="5840"/>
                </a:cubicBezTo>
                <a:cubicBezTo>
                  <a:pt x="33518" y="4778"/>
                  <a:pt x="35620" y="5759"/>
                  <a:pt x="36613" y="7637"/>
                </a:cubicBezTo>
                <a:cubicBezTo>
                  <a:pt x="37606" y="9515"/>
                  <a:pt x="38066" y="14931"/>
                  <a:pt x="38354" y="17107"/>
                </a:cubicBezTo>
                <a:cubicBezTo>
                  <a:pt x="40082" y="17749"/>
                  <a:pt x="41458" y="19529"/>
                  <a:pt x="42018" y="21849"/>
                </a:cubicBezTo>
                <a:cubicBezTo>
                  <a:pt x="42425" y="23533"/>
                  <a:pt x="42367" y="25362"/>
                  <a:pt x="41854" y="26991"/>
                </a:cubicBezTo>
                <a:cubicBezTo>
                  <a:pt x="43115" y="29225"/>
                  <a:pt x="43556" y="32121"/>
                  <a:pt x="43052" y="34853"/>
                </a:cubicBezTo>
                <a:cubicBezTo>
                  <a:pt x="42382" y="38485"/>
                  <a:pt x="40164" y="41205"/>
                  <a:pt x="37440" y="41735"/>
                </a:cubicBezTo>
                <a:cubicBezTo>
                  <a:pt x="37427" y="44002"/>
                  <a:pt x="36694" y="46152"/>
                  <a:pt x="35431" y="47632"/>
                </a:cubicBezTo>
                <a:cubicBezTo>
                  <a:pt x="33512" y="49881"/>
                  <a:pt x="30740" y="50170"/>
                  <a:pt x="28591" y="48346"/>
                </a:cubicBezTo>
                <a:cubicBezTo>
                  <a:pt x="27896" y="51479"/>
                  <a:pt x="26035" y="53874"/>
                  <a:pt x="23703" y="54637"/>
                </a:cubicBezTo>
                <a:cubicBezTo>
                  <a:pt x="20955" y="55536"/>
                  <a:pt x="18087" y="54004"/>
                  <a:pt x="16516" y="50797"/>
                </a:cubicBezTo>
                <a:cubicBezTo>
                  <a:pt x="12808" y="53841"/>
                  <a:pt x="7992" y="52130"/>
                  <a:pt x="5840" y="47003"/>
                </a:cubicBezTo>
                <a:cubicBezTo>
                  <a:pt x="3726" y="47340"/>
                  <a:pt x="1741" y="45555"/>
                  <a:pt x="1146" y="42781"/>
                </a:cubicBezTo>
                <a:cubicBezTo>
                  <a:pt x="715" y="40774"/>
                  <a:pt x="1096" y="38608"/>
                  <a:pt x="2149" y="37082"/>
                </a:cubicBezTo>
                <a:cubicBezTo>
                  <a:pt x="655" y="35885"/>
                  <a:pt x="-177" y="33588"/>
                  <a:pt x="31" y="31235"/>
                </a:cubicBezTo>
                <a:cubicBezTo>
                  <a:pt x="275" y="28480"/>
                  <a:pt x="1881" y="26322"/>
                  <a:pt x="3899" y="26038"/>
                </a:cubicBezTo>
                <a:cubicBezTo>
                  <a:pt x="3911" y="25992"/>
                  <a:pt x="3924" y="25947"/>
                  <a:pt x="3936" y="25901"/>
                </a:cubicBezTo>
                <a:close/>
              </a:path>
              <a:path w="43256" h="54891" fill="none" extrusionOk="0">
                <a:moveTo>
                  <a:pt x="4729" y="37708"/>
                </a:moveTo>
                <a:cubicBezTo>
                  <a:pt x="3845" y="37802"/>
                  <a:pt x="2961" y="37524"/>
                  <a:pt x="2196" y="36911"/>
                </a:cubicBezTo>
                <a:moveTo>
                  <a:pt x="6964" y="46430"/>
                </a:moveTo>
                <a:cubicBezTo>
                  <a:pt x="6609" y="46623"/>
                  <a:pt x="6236" y="46751"/>
                  <a:pt x="5856" y="46811"/>
                </a:cubicBezTo>
                <a:moveTo>
                  <a:pt x="16514" y="50621"/>
                </a:moveTo>
                <a:cubicBezTo>
                  <a:pt x="16247" y="50075"/>
                  <a:pt x="16023" y="49492"/>
                  <a:pt x="15846" y="48881"/>
                </a:cubicBezTo>
                <a:moveTo>
                  <a:pt x="28863" y="46282"/>
                </a:moveTo>
                <a:cubicBezTo>
                  <a:pt x="28824" y="46929"/>
                  <a:pt x="28734" y="47569"/>
                  <a:pt x="28596" y="48191"/>
                </a:cubicBezTo>
                <a:moveTo>
                  <a:pt x="34165" y="34485"/>
                </a:moveTo>
                <a:cubicBezTo>
                  <a:pt x="36169" y="35813"/>
                  <a:pt x="37434" y="38589"/>
                  <a:pt x="37416" y="41621"/>
                </a:cubicBezTo>
                <a:moveTo>
                  <a:pt x="41834" y="26885"/>
                </a:moveTo>
                <a:cubicBezTo>
                  <a:pt x="41509" y="27917"/>
                  <a:pt x="41014" y="28833"/>
                  <a:pt x="40386" y="29561"/>
                </a:cubicBezTo>
                <a:moveTo>
                  <a:pt x="38360" y="16957"/>
                </a:moveTo>
                <a:cubicBezTo>
                  <a:pt x="38415" y="17374"/>
                  <a:pt x="38441" y="17797"/>
                  <a:pt x="38436" y="18221"/>
                </a:cubicBezTo>
                <a:moveTo>
                  <a:pt x="31876" y="6964"/>
                </a:moveTo>
                <a:cubicBezTo>
                  <a:pt x="32065" y="6381"/>
                  <a:pt x="31151" y="7034"/>
                  <a:pt x="31455" y="6548"/>
                </a:cubicBezTo>
                <a:moveTo>
                  <a:pt x="21014" y="3896"/>
                </a:moveTo>
                <a:cubicBezTo>
                  <a:pt x="19830" y="1773"/>
                  <a:pt x="20202" y="4632"/>
                  <a:pt x="20763" y="3969"/>
                </a:cubicBezTo>
                <a:cubicBezTo>
                  <a:pt x="21324" y="3306"/>
                  <a:pt x="21178" y="1500"/>
                  <a:pt x="19726" y="4099"/>
                </a:cubicBezTo>
                <a:moveTo>
                  <a:pt x="14036" y="16723"/>
                </a:moveTo>
                <a:cubicBezTo>
                  <a:pt x="14508" y="17099"/>
                  <a:pt x="14944" y="17552"/>
                  <a:pt x="15336" y="18071"/>
                </a:cubicBezTo>
                <a:moveTo>
                  <a:pt x="4163" y="27320"/>
                </a:moveTo>
                <a:cubicBezTo>
                  <a:pt x="4060" y="26856"/>
                  <a:pt x="3984" y="26382"/>
                  <a:pt x="3936" y="25901"/>
                </a:cubicBezTo>
              </a:path>
            </a:pathLst>
          </a:custGeom>
          <a:solidFill>
            <a:srgbClr val="2D2D2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 coins arrondis 16">
            <a:extLst>
              <a:ext uri="{FF2B5EF4-FFF2-40B4-BE49-F238E27FC236}">
                <a16:creationId xmlns:a16="http://schemas.microsoft.com/office/drawing/2014/main" id="{63F4B222-CE97-E9E1-24EB-1048B60D4F61}"/>
              </a:ext>
            </a:extLst>
          </p:cNvPr>
          <p:cNvSpPr/>
          <p:nvPr/>
        </p:nvSpPr>
        <p:spPr>
          <a:xfrm>
            <a:off x="6924756" y="1668598"/>
            <a:ext cx="1926771" cy="190917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fr-FR" dirty="0"/>
              <a:t>END PRODUCT</a:t>
            </a:r>
          </a:p>
        </p:txBody>
      </p:sp>
      <p:pic>
        <p:nvPicPr>
          <p:cNvPr id="20" name="Image 19">
            <a:extLst>
              <a:ext uri="{FF2B5EF4-FFF2-40B4-BE49-F238E27FC236}">
                <a16:creationId xmlns:a16="http://schemas.microsoft.com/office/drawing/2014/main" id="{08EB9BAC-79F8-9DF1-8CE3-67A20A0080F4}"/>
              </a:ext>
            </a:extLst>
          </p:cNvPr>
          <p:cNvPicPr>
            <a:picLocks noChangeAspect="1"/>
          </p:cNvPicPr>
          <p:nvPr/>
        </p:nvPicPr>
        <p:blipFill>
          <a:blip r:embed="rId5"/>
          <a:stretch>
            <a:fillRect/>
          </a:stretch>
        </p:blipFill>
        <p:spPr>
          <a:xfrm>
            <a:off x="7580598" y="2196197"/>
            <a:ext cx="516104" cy="1106697"/>
          </a:xfrm>
          <a:prstGeom prst="rect">
            <a:avLst/>
          </a:prstGeom>
        </p:spPr>
      </p:pic>
      <p:sp>
        <p:nvSpPr>
          <p:cNvPr id="21" name="ZoneTexte 20">
            <a:extLst>
              <a:ext uri="{FF2B5EF4-FFF2-40B4-BE49-F238E27FC236}">
                <a16:creationId xmlns:a16="http://schemas.microsoft.com/office/drawing/2014/main" id="{81099E06-3DBC-9949-78E8-80955A642C92}"/>
              </a:ext>
            </a:extLst>
          </p:cNvPr>
          <p:cNvSpPr txBox="1"/>
          <p:nvPr/>
        </p:nvSpPr>
        <p:spPr>
          <a:xfrm>
            <a:off x="235707" y="3677325"/>
            <a:ext cx="1926771" cy="738664"/>
          </a:xfrm>
          <a:prstGeom prst="rect">
            <a:avLst/>
          </a:prstGeom>
          <a:noFill/>
        </p:spPr>
        <p:txBody>
          <a:bodyPr wrap="square" rtlCol="0">
            <a:spAutoFit/>
          </a:bodyPr>
          <a:lstStyle/>
          <a:p>
            <a:r>
              <a:rPr lang="fr-FR" dirty="0"/>
              <a:t>Logs utilisateurs, Streaming temps réel, Métadonnées.</a:t>
            </a:r>
          </a:p>
        </p:txBody>
      </p:sp>
      <p:sp>
        <p:nvSpPr>
          <p:cNvPr id="22" name="ZoneTexte 21">
            <a:extLst>
              <a:ext uri="{FF2B5EF4-FFF2-40B4-BE49-F238E27FC236}">
                <a16:creationId xmlns:a16="http://schemas.microsoft.com/office/drawing/2014/main" id="{DCC46219-6B66-8E9A-F91D-16CA9113E71E}"/>
              </a:ext>
            </a:extLst>
          </p:cNvPr>
          <p:cNvSpPr txBox="1"/>
          <p:nvPr/>
        </p:nvSpPr>
        <p:spPr>
          <a:xfrm>
            <a:off x="2418795" y="3677325"/>
            <a:ext cx="1926771" cy="738664"/>
          </a:xfrm>
          <a:prstGeom prst="rect">
            <a:avLst/>
          </a:prstGeom>
          <a:noFill/>
        </p:spPr>
        <p:txBody>
          <a:bodyPr wrap="square" rtlCol="0">
            <a:spAutoFit/>
          </a:bodyPr>
          <a:lstStyle/>
          <a:p>
            <a:r>
              <a:rPr lang="fr-FR" dirty="0"/>
              <a:t>Données brutes haute volumétrie (Historique).</a:t>
            </a:r>
          </a:p>
        </p:txBody>
      </p:sp>
      <p:sp>
        <p:nvSpPr>
          <p:cNvPr id="23" name="ZoneTexte 22">
            <a:extLst>
              <a:ext uri="{FF2B5EF4-FFF2-40B4-BE49-F238E27FC236}">
                <a16:creationId xmlns:a16="http://schemas.microsoft.com/office/drawing/2014/main" id="{DAC7EFF9-0FFE-036E-CA28-6D9B460E62D3}"/>
              </a:ext>
            </a:extLst>
          </p:cNvPr>
          <p:cNvSpPr txBox="1"/>
          <p:nvPr/>
        </p:nvSpPr>
        <p:spPr>
          <a:xfrm>
            <a:off x="4720622" y="3677325"/>
            <a:ext cx="1926771" cy="738664"/>
          </a:xfrm>
          <a:prstGeom prst="rect">
            <a:avLst/>
          </a:prstGeom>
          <a:noFill/>
        </p:spPr>
        <p:txBody>
          <a:bodyPr wrap="square" rtlCol="0">
            <a:spAutoFit/>
          </a:bodyPr>
          <a:lstStyle/>
          <a:p>
            <a:r>
              <a:rPr lang="fr-FR" dirty="0"/>
              <a:t>Google Cloud Platform, Calcul distribué, Modèles IA.</a:t>
            </a:r>
          </a:p>
        </p:txBody>
      </p:sp>
      <p:sp>
        <p:nvSpPr>
          <p:cNvPr id="25" name="ZoneTexte 24">
            <a:extLst>
              <a:ext uri="{FF2B5EF4-FFF2-40B4-BE49-F238E27FC236}">
                <a16:creationId xmlns:a16="http://schemas.microsoft.com/office/drawing/2014/main" id="{3F6ABF67-E2ED-BF0A-9C26-699EAE2C13C1}"/>
              </a:ext>
            </a:extLst>
          </p:cNvPr>
          <p:cNvSpPr txBox="1"/>
          <p:nvPr/>
        </p:nvSpPr>
        <p:spPr>
          <a:xfrm>
            <a:off x="6875264" y="3677325"/>
            <a:ext cx="1926771" cy="738664"/>
          </a:xfrm>
          <a:prstGeom prst="rect">
            <a:avLst/>
          </a:prstGeom>
          <a:noFill/>
        </p:spPr>
        <p:txBody>
          <a:bodyPr wrap="square" rtlCol="0">
            <a:spAutoFit/>
          </a:bodyPr>
          <a:lstStyle/>
          <a:p>
            <a:r>
              <a:rPr lang="fr-FR" dirty="0"/>
              <a:t>Recommandations personnalisées, Playlists.</a:t>
            </a:r>
          </a:p>
        </p:txBody>
      </p:sp>
      <p:sp>
        <p:nvSpPr>
          <p:cNvPr id="26" name="Flèche : droite 25">
            <a:extLst>
              <a:ext uri="{FF2B5EF4-FFF2-40B4-BE49-F238E27FC236}">
                <a16:creationId xmlns:a16="http://schemas.microsoft.com/office/drawing/2014/main" id="{9EE3E20C-9DA8-FFEE-B5AF-7E62B3BD941A}"/>
              </a:ext>
            </a:extLst>
          </p:cNvPr>
          <p:cNvSpPr/>
          <p:nvPr/>
        </p:nvSpPr>
        <p:spPr>
          <a:xfrm>
            <a:off x="2162478" y="2553605"/>
            <a:ext cx="213309" cy="223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Flèche : droite 26">
            <a:extLst>
              <a:ext uri="{FF2B5EF4-FFF2-40B4-BE49-F238E27FC236}">
                <a16:creationId xmlns:a16="http://schemas.microsoft.com/office/drawing/2014/main" id="{9F4356D0-5E8F-5B85-16AE-060D633787CB}"/>
              </a:ext>
            </a:extLst>
          </p:cNvPr>
          <p:cNvSpPr/>
          <p:nvPr/>
        </p:nvSpPr>
        <p:spPr>
          <a:xfrm>
            <a:off x="4415820" y="2542718"/>
            <a:ext cx="213309" cy="223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Flèche : droite 27">
            <a:extLst>
              <a:ext uri="{FF2B5EF4-FFF2-40B4-BE49-F238E27FC236}">
                <a16:creationId xmlns:a16="http://schemas.microsoft.com/office/drawing/2014/main" id="{BDA76C14-1C50-E9B4-C0E8-99692A572879}"/>
              </a:ext>
            </a:extLst>
          </p:cNvPr>
          <p:cNvSpPr/>
          <p:nvPr/>
        </p:nvSpPr>
        <p:spPr>
          <a:xfrm>
            <a:off x="6669162" y="2542722"/>
            <a:ext cx="213309" cy="2233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514565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pic>
        <p:nvPicPr>
          <p:cNvPr id="3" name="Image 2">
            <a:extLst>
              <a:ext uri="{FF2B5EF4-FFF2-40B4-BE49-F238E27FC236}">
                <a16:creationId xmlns:a16="http://schemas.microsoft.com/office/drawing/2014/main" id="{62EFEDB9-A73B-A8A1-78FD-5E6DB00A9AA8}"/>
              </a:ext>
            </a:extLst>
          </p:cNvPr>
          <p:cNvPicPr>
            <a:picLocks noChangeAspect="1"/>
          </p:cNvPicPr>
          <p:nvPr/>
        </p:nvPicPr>
        <p:blipFill>
          <a:blip r:embed="rId4"/>
          <a:stretch>
            <a:fillRect/>
          </a:stretch>
        </p:blipFill>
        <p:spPr>
          <a:xfrm>
            <a:off x="905392" y="589266"/>
            <a:ext cx="5878488" cy="4463690"/>
          </a:xfrm>
          <a:prstGeom prst="rect">
            <a:avLst/>
          </a:prstGeom>
        </p:spPr>
      </p:pic>
      <p:sp>
        <p:nvSpPr>
          <p:cNvPr id="4" name="Google Shape;95;p17">
            <a:extLst>
              <a:ext uri="{FF2B5EF4-FFF2-40B4-BE49-F238E27FC236}">
                <a16:creationId xmlns:a16="http://schemas.microsoft.com/office/drawing/2014/main" id="{37F14566-5BAF-8517-AA61-C331FC0BEDCD}"/>
              </a:ext>
            </a:extLst>
          </p:cNvPr>
          <p:cNvSpPr txBox="1">
            <a:spLocks/>
          </p:cNvSpPr>
          <p:nvPr/>
        </p:nvSpPr>
        <p:spPr>
          <a:xfrm>
            <a:off x="1098232" y="0"/>
            <a:ext cx="6947536" cy="47537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fr-FR" sz="2000" dirty="0">
                <a:solidFill>
                  <a:schemeClr val="tx1">
                    <a:lumMod val="65000"/>
                    <a:lumOff val="35000"/>
                  </a:schemeClr>
                </a:solidFill>
                <a:latin typeface="Aptos" panose="020B0004020202020204" pitchFamily="34" charset="0"/>
                <a:ea typeface="Inter"/>
                <a:cs typeface="Inter"/>
                <a:sym typeface="Inter"/>
              </a:rPr>
              <a:t>Partie 1 - </a:t>
            </a:r>
            <a:r>
              <a:rPr lang="fr-FR" sz="2000" dirty="0">
                <a:solidFill>
                  <a:schemeClr val="tx1">
                    <a:lumMod val="65000"/>
                    <a:lumOff val="35000"/>
                  </a:schemeClr>
                </a:solidFill>
                <a:latin typeface="Aptos" panose="020B0004020202020204" pitchFamily="34" charset="0"/>
              </a:rPr>
              <a:t>Diagnostic &amp; cadrage </a:t>
            </a:r>
            <a:r>
              <a:rPr lang="fr-FR" sz="2000" b="1" dirty="0">
                <a:solidFill>
                  <a:schemeClr val="tx1">
                    <a:lumMod val="65000"/>
                    <a:lumOff val="35000"/>
                  </a:schemeClr>
                </a:solidFill>
                <a:latin typeface="Aptos" panose="020B0004020202020204" pitchFamily="34" charset="0"/>
              </a:rPr>
              <a:t>: </a:t>
            </a:r>
            <a:r>
              <a:rPr lang="fr" sz="2000" b="1" dirty="0">
                <a:solidFill>
                  <a:schemeClr val="tx1">
                    <a:lumMod val="65000"/>
                    <a:lumOff val="35000"/>
                  </a:schemeClr>
                </a:solidFill>
                <a:latin typeface="Aptos" panose="020B0004020202020204" pitchFamily="34" charset="0"/>
                <a:ea typeface="Inter"/>
                <a:sym typeface="Inter"/>
              </a:rPr>
              <a:t>Les Forces et les Faiblesses</a:t>
            </a:r>
            <a:endParaRPr lang="fr-FR" sz="2000" b="1" dirty="0">
              <a:solidFill>
                <a:schemeClr val="tx1">
                  <a:lumMod val="65000"/>
                  <a:lumOff val="35000"/>
                </a:schemeClr>
              </a:solidFill>
              <a:latin typeface="Aptos" panose="020B0004020202020204" pitchFamily="34" charset="0"/>
              <a:ea typeface="Inter"/>
              <a:cs typeface="Inter"/>
              <a:sym typeface="Inter"/>
            </a:endParaRPr>
          </a:p>
        </p:txBody>
      </p:sp>
    </p:spTree>
    <p:extLst>
      <p:ext uri="{BB962C8B-B14F-4D97-AF65-F5344CB8AC3E}">
        <p14:creationId xmlns:p14="http://schemas.microsoft.com/office/powerpoint/2010/main" val="545472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7" name="Rectangle 3">
            <a:extLst>
              <a:ext uri="{FF2B5EF4-FFF2-40B4-BE49-F238E27FC236}">
                <a16:creationId xmlns:a16="http://schemas.microsoft.com/office/drawing/2014/main" id="{CE6C3C4E-9395-F30F-9935-93854CD62CD5}"/>
              </a:ext>
            </a:extLst>
          </p:cNvPr>
          <p:cNvSpPr>
            <a:spLocks noChangeArrowheads="1"/>
          </p:cNvSpPr>
          <p:nvPr/>
        </p:nvSpPr>
        <p:spPr bwMode="auto">
          <a:xfrm>
            <a:off x="249342" y="1062386"/>
            <a:ext cx="8645315" cy="337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300" b="1" dirty="0">
                <a:solidFill>
                  <a:schemeClr val="tx1">
                    <a:lumMod val="65000"/>
                    <a:lumOff val="35000"/>
                  </a:schemeClr>
                </a:solidFill>
                <a:latin typeface="Aptos" panose="020B0004020202020204" pitchFamily="34" charset="0"/>
                <a:ea typeface="Inter"/>
              </a:rPr>
              <a:t>Data </a:t>
            </a:r>
            <a:r>
              <a:rPr lang="fr-FR" altLang="fr-FR" sz="1300" b="1" dirty="0" err="1">
                <a:solidFill>
                  <a:schemeClr val="tx1">
                    <a:lumMod val="65000"/>
                    <a:lumOff val="35000"/>
                  </a:schemeClr>
                </a:solidFill>
                <a:latin typeface="Aptos" panose="020B0004020202020204" pitchFamily="34" charset="0"/>
                <a:ea typeface="Inter"/>
              </a:rPr>
              <a:t>Governance</a:t>
            </a:r>
            <a:r>
              <a:rPr lang="fr-FR" altLang="fr-FR" sz="1300"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Gouvernance fragmentée limitant l’alignement stratégique et la cohérence des décisions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Quality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Qualité des données critique car directement liée à la performance des recommandations et à l’engagement utilisateur.</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Architecture </a:t>
            </a:r>
            <a:r>
              <a:rPr lang="fr-FR" altLang="fr-FR" sz="1100" dirty="0">
                <a:solidFill>
                  <a:schemeClr val="tx1">
                    <a:lumMod val="65000"/>
                    <a:lumOff val="35000"/>
                  </a:schemeClr>
                </a:solidFill>
                <a:latin typeface="Aptos" panose="020B0004020202020204" pitchFamily="34" charset="0"/>
                <a:ea typeface="Inter"/>
              </a:rPr>
              <a:t>: Architecture puissante mais complexe, pouvant freiner l’industrialisation rapide des cas d’usage.</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b="1"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Compliance &amp; </a:t>
            </a:r>
            <a:r>
              <a:rPr lang="fr-FR" altLang="fr-FR" b="1" dirty="0" err="1">
                <a:solidFill>
                  <a:schemeClr val="tx1">
                    <a:lumMod val="65000"/>
                    <a:lumOff val="35000"/>
                  </a:schemeClr>
                </a:solidFill>
                <a:latin typeface="Aptos" panose="020B0004020202020204" pitchFamily="34" charset="0"/>
                <a:ea typeface="Inter"/>
              </a:rPr>
              <a:t>Privacy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Conformité RGPD/CCPA complexe nécessitant une intégration renforcée du </a:t>
            </a:r>
            <a:r>
              <a:rPr lang="fr-FR" altLang="fr-FR" sz="1100" dirty="0" err="1">
                <a:solidFill>
                  <a:schemeClr val="tx1">
                    <a:lumMod val="65000"/>
                    <a:lumOff val="35000"/>
                  </a:schemeClr>
                </a:solidFill>
                <a:latin typeface="Aptos" panose="020B0004020202020204" pitchFamily="34" charset="0"/>
                <a:ea typeface="Inter"/>
              </a:rPr>
              <a:t>privacy</a:t>
            </a:r>
            <a:r>
              <a:rPr lang="fr-FR" altLang="fr-FR" sz="1100" dirty="0">
                <a:solidFill>
                  <a:schemeClr val="tx1">
                    <a:lumMod val="65000"/>
                    <a:lumOff val="35000"/>
                  </a:schemeClr>
                </a:solidFill>
                <a:latin typeface="Aptos" panose="020B0004020202020204" pitchFamily="34" charset="0"/>
                <a:ea typeface="Inter"/>
              </a:rPr>
              <a:t> by design.</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Usage &amp; </a:t>
            </a:r>
            <a:r>
              <a:rPr lang="fr-FR" altLang="fr-FR" b="1" dirty="0" err="1">
                <a:solidFill>
                  <a:schemeClr val="tx1">
                    <a:lumMod val="65000"/>
                    <a:lumOff val="35000"/>
                  </a:schemeClr>
                </a:solidFill>
                <a:latin typeface="Aptos" panose="020B0004020202020204" pitchFamily="34" charset="0"/>
                <a:ea typeface="Inter"/>
              </a:rPr>
              <a:t>Accessibility</a:t>
            </a:r>
            <a:r>
              <a:rPr lang="fr-FR" altLang="fr-FR" sz="1100"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Accès aux données inégal, réduisant l’autonomie décisionnelle des équipes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Security </a:t>
            </a:r>
            <a:r>
              <a:rPr lang="fr-FR" altLang="fr-FR" sz="1100" dirty="0">
                <a:solidFill>
                  <a:schemeClr val="tx1">
                    <a:lumMod val="65000"/>
                    <a:lumOff val="35000"/>
                  </a:schemeClr>
                </a:solidFill>
                <a:latin typeface="Aptos" panose="020B0004020202020204" pitchFamily="34" charset="0"/>
                <a:ea typeface="Inter"/>
              </a:rPr>
              <a:t>: Besoin d’équilibrer protection des données sensibles et agilité de l’innovation.</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Literacy</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Hétérogénéité des compétences data impactant la qualité des décisions.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Data </a:t>
            </a:r>
            <a:r>
              <a:rPr lang="fr-FR" altLang="fr-FR" b="1" dirty="0" err="1">
                <a:solidFill>
                  <a:schemeClr val="tx1">
                    <a:lumMod val="65000"/>
                    <a:lumOff val="35000"/>
                  </a:schemeClr>
                </a:solidFill>
                <a:latin typeface="Aptos" panose="020B0004020202020204" pitchFamily="34" charset="0"/>
                <a:ea typeface="Inter"/>
              </a:rPr>
              <a:t>Integration</a:t>
            </a:r>
            <a:r>
              <a:rPr lang="fr-FR" altLang="fr-FR" b="1" dirty="0">
                <a:solidFill>
                  <a:schemeClr val="tx1">
                    <a:lumMod val="65000"/>
                    <a:lumOff val="35000"/>
                  </a:schemeClr>
                </a:solidFill>
                <a:latin typeface="Aptos" panose="020B0004020202020204" pitchFamily="34" charset="0"/>
                <a:ea typeface="Inter"/>
              </a:rPr>
              <a:t> </a:t>
            </a:r>
            <a:r>
              <a:rPr lang="fr-FR" altLang="fr-FR" sz="1100" dirty="0">
                <a:solidFill>
                  <a:schemeClr val="tx1">
                    <a:lumMod val="65000"/>
                    <a:lumOff val="35000"/>
                  </a:schemeClr>
                </a:solidFill>
                <a:latin typeface="Aptos" panose="020B0004020202020204" pitchFamily="34" charset="0"/>
                <a:ea typeface="Inter"/>
              </a:rPr>
              <a:t>: Manque de vision unifiée du parcours utilisateur dû à la fragmentation des données.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100" dirty="0">
              <a:solidFill>
                <a:schemeClr val="tx1">
                  <a:lumMod val="65000"/>
                  <a:lumOff val="35000"/>
                </a:schemeClr>
              </a:solidFill>
              <a:latin typeface="Aptos" panose="020B0004020202020204" pitchFamily="34" charset="0"/>
              <a:ea typeface="Inter"/>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b="1" dirty="0">
                <a:solidFill>
                  <a:schemeClr val="tx1">
                    <a:lumMod val="65000"/>
                    <a:lumOff val="35000"/>
                  </a:schemeClr>
                </a:solidFill>
                <a:latin typeface="Aptos" panose="020B0004020202020204" pitchFamily="34" charset="0"/>
                <a:ea typeface="Inter"/>
              </a:rPr>
              <a:t>Analytics &amp; BI </a:t>
            </a:r>
            <a:r>
              <a:rPr lang="fr-FR" altLang="fr-FR" sz="1100" dirty="0">
                <a:solidFill>
                  <a:schemeClr val="tx1">
                    <a:lumMod val="65000"/>
                    <a:lumOff val="35000"/>
                  </a:schemeClr>
                </a:solidFill>
                <a:latin typeface="Aptos" panose="020B0004020202020204" pitchFamily="34" charset="0"/>
                <a:ea typeface="Inter"/>
              </a:rPr>
              <a:t>: Forte capacité analytique dépendante de la cohérence et de la fiabilité des données en amont.</a:t>
            </a:r>
          </a:p>
        </p:txBody>
      </p:sp>
      <p:sp>
        <p:nvSpPr>
          <p:cNvPr id="3" name="ZoneTexte 2">
            <a:extLst>
              <a:ext uri="{FF2B5EF4-FFF2-40B4-BE49-F238E27FC236}">
                <a16:creationId xmlns:a16="http://schemas.microsoft.com/office/drawing/2014/main" id="{63CAC0B5-EB23-4A05-2FD5-126CE91E518C}"/>
              </a:ext>
            </a:extLst>
          </p:cNvPr>
          <p:cNvSpPr txBox="1"/>
          <p:nvPr/>
        </p:nvSpPr>
        <p:spPr>
          <a:xfrm>
            <a:off x="7051832" y="4719255"/>
            <a:ext cx="2092168" cy="246221"/>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4"/>
              </a:rPr>
              <a:t>Lien vers le Rapport complet</a:t>
            </a:r>
            <a:endParaRPr lang="fr-FR" sz="1000" dirty="0">
              <a:solidFill>
                <a:schemeClr val="tx1">
                  <a:lumMod val="65000"/>
                  <a:lumOff val="35000"/>
                </a:schemeClr>
              </a:solidFill>
              <a:latin typeface="Aptos" panose="020B0004020202020204" pitchFamily="34" charset="0"/>
              <a:ea typeface="Inter"/>
            </a:endParaRPr>
          </a:p>
        </p:txBody>
      </p:sp>
      <p:sp>
        <p:nvSpPr>
          <p:cNvPr id="5" name="ZoneTexte 4">
            <a:extLst>
              <a:ext uri="{FF2B5EF4-FFF2-40B4-BE49-F238E27FC236}">
                <a16:creationId xmlns:a16="http://schemas.microsoft.com/office/drawing/2014/main" id="{C609120C-7BB4-3132-3FD8-42535B836810}"/>
              </a:ext>
            </a:extLst>
          </p:cNvPr>
          <p:cNvSpPr txBox="1"/>
          <p:nvPr/>
        </p:nvSpPr>
        <p:spPr>
          <a:xfrm>
            <a:off x="1991591" y="0"/>
            <a:ext cx="5160819"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En synthèse</a:t>
            </a:r>
            <a:endParaRPr lang="fr-FR" sz="2000" b="1" dirty="0">
              <a:solidFill>
                <a:schemeClr val="tx1">
                  <a:lumMod val="65000"/>
                  <a:lumOff val="35000"/>
                </a:schemeClr>
              </a:solidFill>
              <a:latin typeface="Aptos" panose="020B0004020202020204" pitchFamily="34" charset="0"/>
              <a:ea typeface="Inter"/>
              <a:sym typeface="Inter"/>
            </a:endParaRPr>
          </a:p>
        </p:txBody>
      </p:sp>
    </p:spTree>
    <p:extLst>
      <p:ext uri="{BB962C8B-B14F-4D97-AF65-F5344CB8AC3E}">
        <p14:creationId xmlns:p14="http://schemas.microsoft.com/office/powerpoint/2010/main" val="2404897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D30E5FF6-BE9A-CBFE-B0CA-CFCE481CD358}"/>
              </a:ext>
            </a:extLst>
          </p:cNvPr>
          <p:cNvSpPr txBox="1"/>
          <p:nvPr/>
        </p:nvSpPr>
        <p:spPr>
          <a:xfrm>
            <a:off x="1070839" y="17500"/>
            <a:ext cx="7002323"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La compliance et ses enjeux</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16" name="Image 15">
            <a:extLst>
              <a:ext uri="{FF2B5EF4-FFF2-40B4-BE49-F238E27FC236}">
                <a16:creationId xmlns:a16="http://schemas.microsoft.com/office/drawing/2014/main" id="{80864B22-3452-86B0-701C-0E015ADA15E5}"/>
              </a:ext>
            </a:extLst>
          </p:cNvPr>
          <p:cNvPicPr>
            <a:picLocks noChangeAspect="1"/>
          </p:cNvPicPr>
          <p:nvPr/>
        </p:nvPicPr>
        <p:blipFill>
          <a:blip r:embed="rId4"/>
          <a:stretch>
            <a:fillRect/>
          </a:stretch>
        </p:blipFill>
        <p:spPr>
          <a:xfrm>
            <a:off x="431084" y="809903"/>
            <a:ext cx="2982058" cy="1080875"/>
          </a:xfrm>
          <a:prstGeom prst="rect">
            <a:avLst/>
          </a:prstGeom>
        </p:spPr>
      </p:pic>
      <p:pic>
        <p:nvPicPr>
          <p:cNvPr id="17" name="Image 16">
            <a:extLst>
              <a:ext uri="{FF2B5EF4-FFF2-40B4-BE49-F238E27FC236}">
                <a16:creationId xmlns:a16="http://schemas.microsoft.com/office/drawing/2014/main" id="{B10C0604-F9EA-60F7-DB04-909E72DD5EA3}"/>
              </a:ext>
            </a:extLst>
          </p:cNvPr>
          <p:cNvPicPr>
            <a:picLocks noChangeAspect="1"/>
          </p:cNvPicPr>
          <p:nvPr/>
        </p:nvPicPr>
        <p:blipFill>
          <a:blip r:embed="rId5"/>
          <a:stretch>
            <a:fillRect/>
          </a:stretch>
        </p:blipFill>
        <p:spPr>
          <a:xfrm>
            <a:off x="5749312" y="921386"/>
            <a:ext cx="2414225" cy="902286"/>
          </a:xfrm>
          <a:prstGeom prst="rect">
            <a:avLst/>
          </a:prstGeom>
        </p:spPr>
      </p:pic>
      <p:pic>
        <p:nvPicPr>
          <p:cNvPr id="18" name="Image 17">
            <a:extLst>
              <a:ext uri="{FF2B5EF4-FFF2-40B4-BE49-F238E27FC236}">
                <a16:creationId xmlns:a16="http://schemas.microsoft.com/office/drawing/2014/main" id="{2E21ED99-12A3-4778-5AAB-CF4F618FC912}"/>
              </a:ext>
            </a:extLst>
          </p:cNvPr>
          <p:cNvPicPr>
            <a:picLocks noChangeAspect="1"/>
          </p:cNvPicPr>
          <p:nvPr/>
        </p:nvPicPr>
        <p:blipFill>
          <a:blip r:embed="rId6"/>
          <a:stretch>
            <a:fillRect/>
          </a:stretch>
        </p:blipFill>
        <p:spPr>
          <a:xfrm>
            <a:off x="76200" y="2373308"/>
            <a:ext cx="2950720" cy="798645"/>
          </a:xfrm>
          <a:prstGeom prst="rect">
            <a:avLst/>
          </a:prstGeom>
        </p:spPr>
      </p:pic>
      <p:pic>
        <p:nvPicPr>
          <p:cNvPr id="19" name="Image 18">
            <a:extLst>
              <a:ext uri="{FF2B5EF4-FFF2-40B4-BE49-F238E27FC236}">
                <a16:creationId xmlns:a16="http://schemas.microsoft.com/office/drawing/2014/main" id="{CBECEA5E-E453-8611-8B3C-E0DD961DFB0B}"/>
              </a:ext>
            </a:extLst>
          </p:cNvPr>
          <p:cNvPicPr>
            <a:picLocks noChangeAspect="1"/>
          </p:cNvPicPr>
          <p:nvPr/>
        </p:nvPicPr>
        <p:blipFill>
          <a:blip r:embed="rId7"/>
          <a:stretch>
            <a:fillRect/>
          </a:stretch>
        </p:blipFill>
        <p:spPr>
          <a:xfrm>
            <a:off x="5683502" y="3958552"/>
            <a:ext cx="2414225" cy="1176630"/>
          </a:xfrm>
          <a:prstGeom prst="rect">
            <a:avLst/>
          </a:prstGeom>
        </p:spPr>
      </p:pic>
      <p:pic>
        <p:nvPicPr>
          <p:cNvPr id="24" name="Image 23">
            <a:extLst>
              <a:ext uri="{FF2B5EF4-FFF2-40B4-BE49-F238E27FC236}">
                <a16:creationId xmlns:a16="http://schemas.microsoft.com/office/drawing/2014/main" id="{BE64F1E9-4100-0714-CD6A-F99DB1C39B23}"/>
              </a:ext>
            </a:extLst>
          </p:cNvPr>
          <p:cNvPicPr>
            <a:picLocks noChangeAspect="1"/>
          </p:cNvPicPr>
          <p:nvPr/>
        </p:nvPicPr>
        <p:blipFill>
          <a:blip r:embed="rId8"/>
          <a:stretch>
            <a:fillRect/>
          </a:stretch>
        </p:blipFill>
        <p:spPr>
          <a:xfrm>
            <a:off x="1223523" y="3601796"/>
            <a:ext cx="2530059" cy="1213209"/>
          </a:xfrm>
          <a:prstGeom prst="rect">
            <a:avLst/>
          </a:prstGeom>
        </p:spPr>
      </p:pic>
      <p:cxnSp>
        <p:nvCxnSpPr>
          <p:cNvPr id="38" name="Connecteur droit avec flèche 37">
            <a:extLst>
              <a:ext uri="{FF2B5EF4-FFF2-40B4-BE49-F238E27FC236}">
                <a16:creationId xmlns:a16="http://schemas.microsoft.com/office/drawing/2014/main" id="{81F19B7E-4314-BF9B-B59B-89DBFBFD45BD}"/>
              </a:ext>
            </a:extLst>
          </p:cNvPr>
          <p:cNvCxnSpPr>
            <a:cxnSpLocks/>
          </p:cNvCxnSpPr>
          <p:nvPr/>
        </p:nvCxnSpPr>
        <p:spPr>
          <a:xfrm flipH="1" flipV="1">
            <a:off x="3413142" y="1890778"/>
            <a:ext cx="806750" cy="71023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9" name="Connecteur droit avec flèche 38">
            <a:extLst>
              <a:ext uri="{FF2B5EF4-FFF2-40B4-BE49-F238E27FC236}">
                <a16:creationId xmlns:a16="http://schemas.microsoft.com/office/drawing/2014/main" id="{12CE65C8-CB86-3F31-CFDA-6745BE2605B2}"/>
              </a:ext>
            </a:extLst>
          </p:cNvPr>
          <p:cNvCxnSpPr>
            <a:cxnSpLocks/>
          </p:cNvCxnSpPr>
          <p:nvPr/>
        </p:nvCxnSpPr>
        <p:spPr>
          <a:xfrm flipH="1">
            <a:off x="3013116" y="2938751"/>
            <a:ext cx="942588"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Connecteur droit avec flèche 42">
            <a:extLst>
              <a:ext uri="{FF2B5EF4-FFF2-40B4-BE49-F238E27FC236}">
                <a16:creationId xmlns:a16="http://schemas.microsoft.com/office/drawing/2014/main" id="{F8D259F0-FDF9-7E9E-0C33-ED5D2D8D742E}"/>
              </a:ext>
            </a:extLst>
          </p:cNvPr>
          <p:cNvCxnSpPr>
            <a:cxnSpLocks/>
          </p:cNvCxnSpPr>
          <p:nvPr/>
        </p:nvCxnSpPr>
        <p:spPr>
          <a:xfrm flipH="1">
            <a:off x="3762973" y="3364371"/>
            <a:ext cx="385462" cy="59806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0" name="Connecteur droit avec flèche 49">
            <a:extLst>
              <a:ext uri="{FF2B5EF4-FFF2-40B4-BE49-F238E27FC236}">
                <a16:creationId xmlns:a16="http://schemas.microsoft.com/office/drawing/2014/main" id="{04301EF6-2118-4E10-1B50-321F484FFB78}"/>
              </a:ext>
            </a:extLst>
          </p:cNvPr>
          <p:cNvCxnSpPr>
            <a:cxnSpLocks/>
          </p:cNvCxnSpPr>
          <p:nvPr/>
        </p:nvCxnSpPr>
        <p:spPr>
          <a:xfrm flipV="1">
            <a:off x="5167745" y="1823672"/>
            <a:ext cx="581567" cy="68228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3" name="Connecteur droit avec flèche 52">
            <a:extLst>
              <a:ext uri="{FF2B5EF4-FFF2-40B4-BE49-F238E27FC236}">
                <a16:creationId xmlns:a16="http://schemas.microsoft.com/office/drawing/2014/main" id="{1F1862D5-512D-7C33-0603-DBBA1A0FDA29}"/>
              </a:ext>
            </a:extLst>
          </p:cNvPr>
          <p:cNvCxnSpPr>
            <a:cxnSpLocks/>
          </p:cNvCxnSpPr>
          <p:nvPr/>
        </p:nvCxnSpPr>
        <p:spPr>
          <a:xfrm>
            <a:off x="5104399" y="3339155"/>
            <a:ext cx="572176" cy="6170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72" name="Image 71">
            <a:extLst>
              <a:ext uri="{FF2B5EF4-FFF2-40B4-BE49-F238E27FC236}">
                <a16:creationId xmlns:a16="http://schemas.microsoft.com/office/drawing/2014/main" id="{47CDFB7A-4374-110A-433D-ECE3C45A5A1E}"/>
              </a:ext>
            </a:extLst>
          </p:cNvPr>
          <p:cNvPicPr>
            <a:picLocks noChangeAspect="1"/>
          </p:cNvPicPr>
          <p:nvPr/>
        </p:nvPicPr>
        <p:blipFill>
          <a:blip r:embed="rId9"/>
          <a:stretch>
            <a:fillRect/>
          </a:stretch>
        </p:blipFill>
        <p:spPr>
          <a:xfrm>
            <a:off x="3812465" y="2195103"/>
            <a:ext cx="1646063" cy="1487553"/>
          </a:xfrm>
          <a:prstGeom prst="rect">
            <a:avLst/>
          </a:prstGeom>
        </p:spPr>
      </p:pic>
      <p:cxnSp>
        <p:nvCxnSpPr>
          <p:cNvPr id="75" name="Connecteur droit avec flèche 74">
            <a:extLst>
              <a:ext uri="{FF2B5EF4-FFF2-40B4-BE49-F238E27FC236}">
                <a16:creationId xmlns:a16="http://schemas.microsoft.com/office/drawing/2014/main" id="{626A8227-B0B6-1AC0-ED46-14E4D3F79E07}"/>
              </a:ext>
            </a:extLst>
          </p:cNvPr>
          <p:cNvCxnSpPr>
            <a:cxnSpLocks/>
          </p:cNvCxnSpPr>
          <p:nvPr/>
        </p:nvCxnSpPr>
        <p:spPr>
          <a:xfrm>
            <a:off x="5390487" y="2948348"/>
            <a:ext cx="83020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85" name="Image 84">
            <a:extLst>
              <a:ext uri="{FF2B5EF4-FFF2-40B4-BE49-F238E27FC236}">
                <a16:creationId xmlns:a16="http://schemas.microsoft.com/office/drawing/2014/main" id="{844C4B01-524E-2807-3F39-24D5C5D4BAA3}"/>
              </a:ext>
            </a:extLst>
          </p:cNvPr>
          <p:cNvPicPr>
            <a:picLocks noChangeAspect="1"/>
          </p:cNvPicPr>
          <p:nvPr/>
        </p:nvPicPr>
        <p:blipFill>
          <a:blip r:embed="rId10"/>
          <a:stretch>
            <a:fillRect/>
          </a:stretch>
        </p:blipFill>
        <p:spPr>
          <a:xfrm>
            <a:off x="6244073" y="2619765"/>
            <a:ext cx="2414225" cy="719390"/>
          </a:xfrm>
          <a:prstGeom prst="rect">
            <a:avLst/>
          </a:prstGeom>
        </p:spPr>
      </p:pic>
    </p:spTree>
    <p:extLst>
      <p:ext uri="{BB962C8B-B14F-4D97-AF65-F5344CB8AC3E}">
        <p14:creationId xmlns:p14="http://schemas.microsoft.com/office/powerpoint/2010/main" val="15992693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6C77410D-68F0-1376-4328-CEA979EDEB39}"/>
              </a:ext>
            </a:extLst>
          </p:cNvPr>
          <p:cNvSpPr txBox="1"/>
          <p:nvPr/>
        </p:nvSpPr>
        <p:spPr>
          <a:xfrm>
            <a:off x="1333500" y="0"/>
            <a:ext cx="6477001"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1 - </a:t>
            </a:r>
            <a:r>
              <a:rPr lang="fr-FR" sz="2000" dirty="0">
                <a:solidFill>
                  <a:schemeClr val="tx1">
                    <a:lumMod val="65000"/>
                    <a:lumOff val="35000"/>
                  </a:schemeClr>
                </a:solidFill>
                <a:latin typeface="Aptos" panose="020B0004020202020204" pitchFamily="34" charset="0"/>
                <a:ea typeface="Inter"/>
              </a:rPr>
              <a:t>Diagnostic &amp; cadrage : </a:t>
            </a:r>
            <a:r>
              <a:rPr lang="fr-FR" sz="2000" b="1" dirty="0">
                <a:solidFill>
                  <a:schemeClr val="tx1">
                    <a:lumMod val="65000"/>
                    <a:lumOff val="35000"/>
                  </a:schemeClr>
                </a:solidFill>
                <a:latin typeface="Aptos" panose="020B0004020202020204" pitchFamily="34" charset="0"/>
                <a:ea typeface="Inter"/>
              </a:rPr>
              <a:t>La compliance SPOTIFY</a:t>
            </a:r>
            <a:endParaRPr lang="fr-FR" sz="2000" b="1" dirty="0">
              <a:solidFill>
                <a:schemeClr val="tx1">
                  <a:lumMod val="65000"/>
                  <a:lumOff val="35000"/>
                </a:schemeClr>
              </a:solidFill>
              <a:latin typeface="Aptos" panose="020B0004020202020204" pitchFamily="34" charset="0"/>
              <a:ea typeface="Inter"/>
              <a:sym typeface="Inter"/>
            </a:endParaRPr>
          </a:p>
        </p:txBody>
      </p:sp>
      <p:sp>
        <p:nvSpPr>
          <p:cNvPr id="11" name="ZoneTexte 10">
            <a:extLst>
              <a:ext uri="{FF2B5EF4-FFF2-40B4-BE49-F238E27FC236}">
                <a16:creationId xmlns:a16="http://schemas.microsoft.com/office/drawing/2014/main" id="{4DB7AB02-9845-355B-4FE6-961750F402A2}"/>
              </a:ext>
            </a:extLst>
          </p:cNvPr>
          <p:cNvSpPr txBox="1"/>
          <p:nvPr/>
        </p:nvSpPr>
        <p:spPr>
          <a:xfrm>
            <a:off x="2419499" y="3804231"/>
            <a:ext cx="4305003" cy="1015663"/>
          </a:xfrm>
          <a:prstGeom prst="rect">
            <a:avLst/>
          </a:prstGeom>
          <a:noFill/>
        </p:spPr>
        <p:txBody>
          <a:bodyPr wrap="square" rtlCol="0">
            <a:spAutoFit/>
          </a:bodyPr>
          <a:lstStyle/>
          <a:p>
            <a:r>
              <a:rPr lang="fr-FR" sz="1000" b="1" dirty="0">
                <a:solidFill>
                  <a:schemeClr val="accent5">
                    <a:lumMod val="75000"/>
                  </a:schemeClr>
                </a:solidFill>
              </a:rPr>
              <a:t>Une bonne compliance à renforcer sur certains points : </a:t>
            </a:r>
          </a:p>
          <a:p>
            <a:endParaRPr lang="fr-FR" sz="1000" dirty="0">
              <a:solidFill>
                <a:schemeClr val="tx1"/>
              </a:solidFill>
            </a:endParaRPr>
          </a:p>
          <a:p>
            <a:pPr marL="285750" lvl="4" indent="-285750">
              <a:buFont typeface="Courier New" panose="02070309020205020404" pitchFamily="49" charset="0"/>
              <a:buChar char="o"/>
            </a:pPr>
            <a:r>
              <a:rPr lang="fr-FR" sz="1000" dirty="0">
                <a:solidFill>
                  <a:schemeClr val="accent5">
                    <a:lumMod val="75000"/>
                  </a:schemeClr>
                </a:solidFill>
              </a:rPr>
              <a:t>Centraliser la gestion du consentement utilisateur</a:t>
            </a:r>
          </a:p>
          <a:p>
            <a:pPr marL="285750" lvl="4" indent="-285750">
              <a:buFont typeface="Courier New" panose="02070309020205020404" pitchFamily="49" charset="0"/>
              <a:buChar char="o"/>
            </a:pPr>
            <a:r>
              <a:rPr lang="fr-FR" sz="1000" dirty="0">
                <a:solidFill>
                  <a:schemeClr val="accent5">
                    <a:lumMod val="75000"/>
                  </a:schemeClr>
                </a:solidFill>
              </a:rPr>
              <a:t>Clarifier les mécanismes d’opt-out des données personnelles.</a:t>
            </a:r>
          </a:p>
          <a:p>
            <a:pPr marL="285750" lvl="4" indent="-285750">
              <a:buFont typeface="Courier New" panose="02070309020205020404" pitchFamily="49" charset="0"/>
              <a:buChar char="o"/>
            </a:pPr>
            <a:r>
              <a:rPr lang="fr-FR" sz="1000" dirty="0">
                <a:solidFill>
                  <a:schemeClr val="accent5">
                    <a:lumMod val="75000"/>
                  </a:schemeClr>
                </a:solidFill>
              </a:rPr>
              <a:t>Formaliser un programme de tests de sécurité. </a:t>
            </a:r>
          </a:p>
          <a:p>
            <a:pPr marL="285750" lvl="4" indent="-285750">
              <a:buFont typeface="Courier New" panose="02070309020205020404" pitchFamily="49" charset="0"/>
              <a:buChar char="o"/>
            </a:pPr>
            <a:r>
              <a:rPr lang="fr-FR" sz="1000" dirty="0">
                <a:solidFill>
                  <a:schemeClr val="accent5">
                    <a:lumMod val="75000"/>
                  </a:schemeClr>
                </a:solidFill>
              </a:rPr>
              <a:t>Déployer des formations régulières en sécurité informatique. </a:t>
            </a:r>
          </a:p>
        </p:txBody>
      </p:sp>
      <p:pic>
        <p:nvPicPr>
          <p:cNvPr id="12" name="Image 11">
            <a:extLst>
              <a:ext uri="{FF2B5EF4-FFF2-40B4-BE49-F238E27FC236}">
                <a16:creationId xmlns:a16="http://schemas.microsoft.com/office/drawing/2014/main" id="{D8FB522C-BFDD-833A-4AE9-7A648DBBE25A}"/>
              </a:ext>
            </a:extLst>
          </p:cNvPr>
          <p:cNvPicPr>
            <a:picLocks noChangeAspect="1"/>
          </p:cNvPicPr>
          <p:nvPr/>
        </p:nvPicPr>
        <p:blipFill>
          <a:blip r:embed="rId4"/>
          <a:stretch>
            <a:fillRect/>
          </a:stretch>
        </p:blipFill>
        <p:spPr>
          <a:xfrm>
            <a:off x="0" y="1040628"/>
            <a:ext cx="9144000" cy="2549626"/>
          </a:xfrm>
          <a:prstGeom prst="rect">
            <a:avLst/>
          </a:prstGeom>
        </p:spPr>
      </p:pic>
    </p:spTree>
    <p:extLst>
      <p:ext uri="{BB962C8B-B14F-4D97-AF65-F5344CB8AC3E}">
        <p14:creationId xmlns:p14="http://schemas.microsoft.com/office/powerpoint/2010/main" val="2364811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93">
          <a:extLst>
            <a:ext uri="{FF2B5EF4-FFF2-40B4-BE49-F238E27FC236}">
              <a16:creationId xmlns:a16="http://schemas.microsoft.com/office/drawing/2014/main" id="{57C345A0-647E-7977-678F-7CE109FB9CF9}"/>
            </a:ext>
          </a:extLst>
        </p:cNvPr>
        <p:cNvGrpSpPr/>
        <p:nvPr/>
      </p:nvGrpSpPr>
      <p:grpSpPr>
        <a:xfrm>
          <a:off x="0" y="0"/>
          <a:ext cx="0" cy="0"/>
          <a:chOff x="0" y="0"/>
          <a:chExt cx="0" cy="0"/>
        </a:xfrm>
      </p:grpSpPr>
      <p:pic>
        <p:nvPicPr>
          <p:cNvPr id="2" name="Google Shape;56;p13">
            <a:extLst>
              <a:ext uri="{FF2B5EF4-FFF2-40B4-BE49-F238E27FC236}">
                <a16:creationId xmlns:a16="http://schemas.microsoft.com/office/drawing/2014/main" id="{E6BF5565-36E5-9F75-A2AD-0E0DBE77D6F1}"/>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0D356A53-4476-CE7E-887F-2105D9DCBD3E}"/>
              </a:ext>
            </a:extLst>
          </p:cNvPr>
          <p:cNvSpPr txBox="1"/>
          <p:nvPr/>
        </p:nvSpPr>
        <p:spPr>
          <a:xfrm>
            <a:off x="1120488" y="0"/>
            <a:ext cx="7387936"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2 - </a:t>
            </a:r>
            <a:r>
              <a:rPr lang="fr-FR" sz="2000" dirty="0">
                <a:solidFill>
                  <a:schemeClr val="tx1">
                    <a:lumMod val="65000"/>
                    <a:lumOff val="35000"/>
                  </a:schemeClr>
                </a:solidFill>
                <a:latin typeface="Aptos" panose="020B0004020202020204" pitchFamily="34" charset="0"/>
              </a:rPr>
              <a:t>Mise en place du modèle cible </a:t>
            </a:r>
            <a:r>
              <a:rPr lang="fr-FR" sz="2000" dirty="0">
                <a:solidFill>
                  <a:schemeClr val="tx1">
                    <a:lumMod val="65000"/>
                    <a:lumOff val="35000"/>
                  </a:schemeClr>
                </a:solidFill>
                <a:latin typeface="Aptos" panose="020B0004020202020204" pitchFamily="34" charset="0"/>
                <a:ea typeface="Inter"/>
              </a:rPr>
              <a:t>: </a:t>
            </a:r>
            <a:r>
              <a:rPr lang="fr-FR" sz="2000" b="1" dirty="0">
                <a:solidFill>
                  <a:schemeClr val="tx1">
                    <a:lumMod val="65000"/>
                    <a:lumOff val="35000"/>
                  </a:schemeClr>
                </a:solidFill>
                <a:latin typeface="Aptos" panose="020B0004020202020204" pitchFamily="34" charset="0"/>
                <a:ea typeface="Inter"/>
              </a:rPr>
              <a:t>Cadre de Gouvernance</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5" name="Image 4" descr="Une image contenant texte, capture d’écran, logo, cercle&#10;&#10;Le contenu généré par l’IA peut être incorrect.">
            <a:extLst>
              <a:ext uri="{FF2B5EF4-FFF2-40B4-BE49-F238E27FC236}">
                <a16:creationId xmlns:a16="http://schemas.microsoft.com/office/drawing/2014/main" id="{B07F8D7A-75EA-4383-1BA1-0A9C964B514D}"/>
              </a:ext>
            </a:extLst>
          </p:cNvPr>
          <p:cNvPicPr>
            <a:picLocks noChangeAspect="1"/>
          </p:cNvPicPr>
          <p:nvPr/>
        </p:nvPicPr>
        <p:blipFill>
          <a:blip r:embed="rId4"/>
          <a:stretch>
            <a:fillRect/>
          </a:stretch>
        </p:blipFill>
        <p:spPr>
          <a:xfrm>
            <a:off x="1633107" y="806890"/>
            <a:ext cx="2296999" cy="2202440"/>
          </a:xfrm>
          <a:prstGeom prst="rect">
            <a:avLst/>
          </a:prstGeom>
        </p:spPr>
      </p:pic>
      <p:pic>
        <p:nvPicPr>
          <p:cNvPr id="7" name="Image 6" descr="Une image contenant texte, capture d’écran, logo, cercle&#10;&#10;Le contenu généré par l’IA peut être incorrect.">
            <a:extLst>
              <a:ext uri="{FF2B5EF4-FFF2-40B4-BE49-F238E27FC236}">
                <a16:creationId xmlns:a16="http://schemas.microsoft.com/office/drawing/2014/main" id="{F2E4256F-C8DD-606C-E675-A4682748B129}"/>
              </a:ext>
            </a:extLst>
          </p:cNvPr>
          <p:cNvPicPr>
            <a:picLocks noChangeAspect="1"/>
          </p:cNvPicPr>
          <p:nvPr/>
        </p:nvPicPr>
        <p:blipFill>
          <a:blip r:embed="rId5"/>
          <a:stretch>
            <a:fillRect/>
          </a:stretch>
        </p:blipFill>
        <p:spPr>
          <a:xfrm>
            <a:off x="5218578" y="806890"/>
            <a:ext cx="2141833" cy="2202440"/>
          </a:xfrm>
          <a:prstGeom prst="rect">
            <a:avLst/>
          </a:prstGeom>
        </p:spPr>
      </p:pic>
      <p:sp>
        <p:nvSpPr>
          <p:cNvPr id="8" name="Flèche : droite 7">
            <a:extLst>
              <a:ext uri="{FF2B5EF4-FFF2-40B4-BE49-F238E27FC236}">
                <a16:creationId xmlns:a16="http://schemas.microsoft.com/office/drawing/2014/main" id="{F75C49F0-5D90-B67C-7AB6-E7699D9C1AF2}"/>
              </a:ext>
            </a:extLst>
          </p:cNvPr>
          <p:cNvSpPr/>
          <p:nvPr/>
        </p:nvSpPr>
        <p:spPr>
          <a:xfrm>
            <a:off x="4125261" y="1837454"/>
            <a:ext cx="997835" cy="25752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1">
            <a:extLst>
              <a:ext uri="{FF2B5EF4-FFF2-40B4-BE49-F238E27FC236}">
                <a16:creationId xmlns:a16="http://schemas.microsoft.com/office/drawing/2014/main" id="{5E386C6D-274A-E739-F837-37B028ABDA78}"/>
              </a:ext>
            </a:extLst>
          </p:cNvPr>
          <p:cNvSpPr>
            <a:spLocks noChangeArrowheads="1"/>
          </p:cNvSpPr>
          <p:nvPr/>
        </p:nvSpPr>
        <p:spPr bwMode="auto">
          <a:xfrm>
            <a:off x="895351" y="3532320"/>
            <a:ext cx="7613073"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Analyser l’existant </a:t>
            </a:r>
            <a:r>
              <a:rPr lang="fr-FR" altLang="fr-FR" sz="1500" dirty="0">
                <a:solidFill>
                  <a:schemeClr val="tx1">
                    <a:lumMod val="65000"/>
                    <a:lumOff val="35000"/>
                  </a:schemeClr>
                </a:solidFill>
                <a:latin typeface="Aptos" panose="020B0004020202020204" pitchFamily="34" charset="0"/>
              </a:rPr>
              <a:t>pour comprendre les limites du modèle </a:t>
            </a:r>
            <a:r>
              <a:rPr lang="fr-FR" altLang="fr-FR" sz="1500" dirty="0" err="1">
                <a:solidFill>
                  <a:schemeClr val="tx1">
                    <a:lumMod val="65000"/>
                    <a:lumOff val="35000"/>
                  </a:schemeClr>
                </a:solidFill>
                <a:latin typeface="Aptos" panose="020B0004020202020204" pitchFamily="34" charset="0"/>
              </a:rPr>
              <a:t>embedded</a:t>
            </a:r>
            <a:r>
              <a:rPr lang="fr-FR" altLang="fr-FR" sz="1500" dirty="0">
                <a:solidFill>
                  <a:schemeClr val="tx1">
                    <a:lumMod val="65000"/>
                    <a:lumOff val="35000"/>
                  </a:schemeClr>
                </a:solidFill>
                <a:latin typeface="Aptos" panose="020B00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Définir des règles communes </a:t>
            </a:r>
            <a:r>
              <a:rPr lang="fr-FR" altLang="fr-FR" sz="1500" dirty="0">
                <a:solidFill>
                  <a:schemeClr val="tx1">
                    <a:lumMod val="65000"/>
                    <a:lumOff val="35000"/>
                  </a:schemeClr>
                </a:solidFill>
                <a:latin typeface="Aptos" panose="020B0004020202020204" pitchFamily="34" charset="0"/>
              </a:rPr>
              <a:t>pour harmoniser les pratiques data.</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Créer un Centre d’Excellence data </a:t>
            </a:r>
            <a:r>
              <a:rPr lang="fr-FR" altLang="fr-FR" sz="1500" dirty="0">
                <a:solidFill>
                  <a:schemeClr val="tx1">
                    <a:lumMod val="65000"/>
                    <a:lumOff val="35000"/>
                  </a:schemeClr>
                </a:solidFill>
                <a:latin typeface="Aptos" panose="020B0004020202020204" pitchFamily="34" charset="0"/>
              </a:rPr>
              <a:t>pour structurer méthodes et outils.</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Tester le modèle</a:t>
            </a:r>
            <a:r>
              <a:rPr lang="fr-FR" altLang="fr-FR" sz="1500" dirty="0">
                <a:solidFill>
                  <a:schemeClr val="tx1">
                    <a:lumMod val="65000"/>
                    <a:lumOff val="35000"/>
                  </a:schemeClr>
                </a:solidFill>
                <a:latin typeface="Aptos" panose="020B0004020202020204" pitchFamily="34" charset="0"/>
              </a:rPr>
              <a:t> </a:t>
            </a:r>
            <a:r>
              <a:rPr lang="fr-FR" altLang="fr-FR" sz="1500" b="1" dirty="0">
                <a:solidFill>
                  <a:schemeClr val="tx1">
                    <a:lumMod val="65000"/>
                    <a:lumOff val="35000"/>
                  </a:schemeClr>
                </a:solidFill>
                <a:latin typeface="Aptos" panose="020B0004020202020204" pitchFamily="34" charset="0"/>
              </a:rPr>
              <a:t>sur des périmètres clés </a:t>
            </a:r>
            <a:r>
              <a:rPr lang="fr-FR" altLang="fr-FR" sz="1500" dirty="0">
                <a:solidFill>
                  <a:schemeClr val="tx1">
                    <a:lumMod val="65000"/>
                    <a:lumOff val="35000"/>
                  </a:schemeClr>
                </a:solidFill>
                <a:latin typeface="Aptos" panose="020B0004020202020204" pitchFamily="34" charset="0"/>
              </a:rPr>
              <a:t>avant généralisation.</a:t>
            </a: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b="1" dirty="0">
                <a:solidFill>
                  <a:schemeClr val="tx1">
                    <a:lumMod val="65000"/>
                    <a:lumOff val="35000"/>
                  </a:schemeClr>
                </a:solidFill>
                <a:latin typeface="Aptos" panose="020B0004020202020204" pitchFamily="34" charset="0"/>
              </a:rPr>
              <a:t>Déployer et piloter </a:t>
            </a:r>
            <a:r>
              <a:rPr lang="fr-FR" altLang="fr-FR" sz="1500" dirty="0">
                <a:solidFill>
                  <a:schemeClr val="tx1">
                    <a:lumMod val="65000"/>
                    <a:lumOff val="35000"/>
                  </a:schemeClr>
                </a:solidFill>
                <a:latin typeface="Aptos" panose="020B0004020202020204" pitchFamily="34" charset="0"/>
              </a:rPr>
              <a:t>dans la durée pour assurer l’adoption.</a:t>
            </a:r>
          </a:p>
        </p:txBody>
      </p:sp>
    </p:spTree>
    <p:extLst>
      <p:ext uri="{BB962C8B-B14F-4D97-AF65-F5344CB8AC3E}">
        <p14:creationId xmlns:p14="http://schemas.microsoft.com/office/powerpoint/2010/main" val="1141816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552B6A39-7007-534C-18A0-C9FEDD7CE6E6}"/>
              </a:ext>
            </a:extLst>
          </p:cNvPr>
          <p:cNvSpPr txBox="1"/>
          <p:nvPr/>
        </p:nvSpPr>
        <p:spPr>
          <a:xfrm>
            <a:off x="1120487" y="0"/>
            <a:ext cx="7670221" cy="400110"/>
          </a:xfrm>
          <a:prstGeom prst="rect">
            <a:avLst/>
          </a:prstGeom>
          <a:noFill/>
        </p:spPr>
        <p:txBody>
          <a:bodyPr wrap="square">
            <a:spAutoFit/>
          </a:bodyPr>
          <a:lstStyle/>
          <a:p>
            <a:pPr>
              <a:buClr>
                <a:schemeClr val="dk1"/>
              </a:buClr>
              <a:buSzPts val="2800"/>
            </a:pPr>
            <a:r>
              <a:rPr lang="fr-FR" sz="2000" dirty="0">
                <a:solidFill>
                  <a:schemeClr val="tx1">
                    <a:lumMod val="65000"/>
                    <a:lumOff val="35000"/>
                  </a:schemeClr>
                </a:solidFill>
                <a:latin typeface="Aptos" panose="020B0004020202020204" pitchFamily="34" charset="0"/>
                <a:ea typeface="Inter"/>
                <a:sym typeface="Inter"/>
              </a:rPr>
              <a:t>Partie 2 - </a:t>
            </a:r>
            <a:r>
              <a:rPr lang="fr-FR" sz="2000" dirty="0">
                <a:solidFill>
                  <a:schemeClr val="tx1">
                    <a:lumMod val="65000"/>
                    <a:lumOff val="35000"/>
                  </a:schemeClr>
                </a:solidFill>
                <a:latin typeface="Aptos" panose="020B0004020202020204" pitchFamily="34" charset="0"/>
              </a:rPr>
              <a:t>Mise en place du modèle cible </a:t>
            </a:r>
            <a:r>
              <a:rPr lang="fr-FR" sz="2000" dirty="0">
                <a:solidFill>
                  <a:schemeClr val="tx1">
                    <a:lumMod val="65000"/>
                    <a:lumOff val="35000"/>
                  </a:schemeClr>
                </a:solidFill>
                <a:latin typeface="Aptos" panose="020B0004020202020204" pitchFamily="34" charset="0"/>
                <a:ea typeface="Inter"/>
              </a:rPr>
              <a:t>: </a:t>
            </a:r>
            <a:r>
              <a:rPr lang="fr-FR" sz="2000" b="1" dirty="0">
                <a:solidFill>
                  <a:schemeClr val="tx1">
                    <a:lumMod val="65000"/>
                    <a:lumOff val="35000"/>
                  </a:schemeClr>
                </a:solidFill>
                <a:latin typeface="Aptos" panose="020B0004020202020204" pitchFamily="34" charset="0"/>
                <a:ea typeface="Inter"/>
              </a:rPr>
              <a:t>Organigramme préconisé</a:t>
            </a:r>
            <a:endParaRPr lang="fr-FR" sz="2000" b="1" dirty="0">
              <a:solidFill>
                <a:schemeClr val="tx1">
                  <a:lumMod val="65000"/>
                  <a:lumOff val="35000"/>
                </a:schemeClr>
              </a:solidFill>
              <a:latin typeface="Aptos" panose="020B0004020202020204" pitchFamily="34" charset="0"/>
              <a:ea typeface="Inter"/>
              <a:sym typeface="Inter"/>
            </a:endParaRPr>
          </a:p>
        </p:txBody>
      </p:sp>
      <p:pic>
        <p:nvPicPr>
          <p:cNvPr id="73" name="Image 72">
            <a:extLst>
              <a:ext uri="{FF2B5EF4-FFF2-40B4-BE49-F238E27FC236}">
                <a16:creationId xmlns:a16="http://schemas.microsoft.com/office/drawing/2014/main" id="{266C7A8B-4CC1-61E8-1872-7238384D406E}"/>
              </a:ext>
            </a:extLst>
          </p:cNvPr>
          <p:cNvPicPr>
            <a:picLocks noChangeAspect="1"/>
          </p:cNvPicPr>
          <p:nvPr/>
        </p:nvPicPr>
        <p:blipFill>
          <a:blip r:embed="rId4"/>
          <a:stretch>
            <a:fillRect/>
          </a:stretch>
        </p:blipFill>
        <p:spPr>
          <a:xfrm>
            <a:off x="1049475" y="626997"/>
            <a:ext cx="6198957" cy="4343321"/>
          </a:xfrm>
          <a:prstGeom prst="rect">
            <a:avLst/>
          </a:prstGeom>
        </p:spPr>
      </p:pic>
      <p:sp>
        <p:nvSpPr>
          <p:cNvPr id="4" name="ZoneTexte 3">
            <a:extLst>
              <a:ext uri="{FF2B5EF4-FFF2-40B4-BE49-F238E27FC236}">
                <a16:creationId xmlns:a16="http://schemas.microsoft.com/office/drawing/2014/main" id="{4208964F-1899-DED3-922C-A04E6E48F350}"/>
              </a:ext>
            </a:extLst>
          </p:cNvPr>
          <p:cNvSpPr txBox="1"/>
          <p:nvPr/>
        </p:nvSpPr>
        <p:spPr>
          <a:xfrm>
            <a:off x="7402181" y="4638193"/>
            <a:ext cx="1954603" cy="400110"/>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5"/>
              </a:rPr>
              <a:t>Lien vers la Politique détaillée</a:t>
            </a:r>
            <a:endParaRPr lang="fr-FR" sz="1000" dirty="0">
              <a:solidFill>
                <a:schemeClr val="tx1">
                  <a:lumMod val="65000"/>
                  <a:lumOff val="35000"/>
                </a:schemeClr>
              </a:solidFill>
              <a:latin typeface="Aptos" panose="020B0004020202020204" pitchFamily="34" charset="0"/>
              <a:ea typeface="Inte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3" name="ZoneTexte 2">
            <a:extLst>
              <a:ext uri="{FF2B5EF4-FFF2-40B4-BE49-F238E27FC236}">
                <a16:creationId xmlns:a16="http://schemas.microsoft.com/office/drawing/2014/main" id="{552B6A39-7007-534C-18A0-C9FEDD7CE6E6}"/>
              </a:ext>
            </a:extLst>
          </p:cNvPr>
          <p:cNvSpPr txBox="1"/>
          <p:nvPr/>
        </p:nvSpPr>
        <p:spPr>
          <a:xfrm>
            <a:off x="1120487" y="0"/>
            <a:ext cx="7670221"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2800"/>
              <a:buFont typeface="Arial"/>
              <a:buNone/>
              <a:tabLst/>
              <a:defRPr/>
            </a:pP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Partie </a:t>
            </a:r>
            <a:r>
              <a:rPr lang="fr-FR" sz="2000" dirty="0">
                <a:solidFill>
                  <a:srgbClr val="000000">
                    <a:lumMod val="65000"/>
                    <a:lumOff val="35000"/>
                  </a:srgbClr>
                </a:solidFill>
                <a:latin typeface="Aptos" panose="020B0004020202020204" pitchFamily="34" charset="0"/>
                <a:ea typeface="Inter"/>
                <a:sym typeface="Inter"/>
              </a:rPr>
              <a:t>3</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 - </a:t>
            </a:r>
            <a:r>
              <a:rPr lang="fr-FR" sz="2000" dirty="0">
                <a:solidFill>
                  <a:schemeClr val="tx1">
                    <a:lumMod val="65000"/>
                    <a:lumOff val="35000"/>
                  </a:schemeClr>
                </a:solidFill>
                <a:latin typeface="Aptos" panose="020B0004020202020204" pitchFamily="34" charset="0"/>
              </a:rPr>
              <a:t>Déploiement &amp; pilotage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cs typeface="Arial"/>
                <a:sym typeface="Arial"/>
              </a:rPr>
              <a:t>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 </a:t>
            </a:r>
            <a:r>
              <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Les enjeux du déploiement</a:t>
            </a:r>
            <a:endPar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endParaRPr>
          </a:p>
        </p:txBody>
      </p:sp>
      <p:pic>
        <p:nvPicPr>
          <p:cNvPr id="4" name="Image 3" descr="Une image contenant texte, capture d’écran, logo, cercle&#10;&#10;Le contenu généré par l’IA peut être incorrect.">
            <a:extLst>
              <a:ext uri="{FF2B5EF4-FFF2-40B4-BE49-F238E27FC236}">
                <a16:creationId xmlns:a16="http://schemas.microsoft.com/office/drawing/2014/main" id="{D8A5CFA0-FF45-AE0D-EF4D-7853A368D7E9}"/>
              </a:ext>
            </a:extLst>
          </p:cNvPr>
          <p:cNvPicPr>
            <a:picLocks noChangeAspect="1"/>
          </p:cNvPicPr>
          <p:nvPr/>
        </p:nvPicPr>
        <p:blipFill>
          <a:blip r:embed="rId4"/>
          <a:stretch>
            <a:fillRect/>
          </a:stretch>
        </p:blipFill>
        <p:spPr>
          <a:xfrm>
            <a:off x="161416" y="1107612"/>
            <a:ext cx="3204446" cy="3295121"/>
          </a:xfrm>
          <a:prstGeom prst="rect">
            <a:avLst/>
          </a:prstGeom>
        </p:spPr>
      </p:pic>
      <p:sp>
        <p:nvSpPr>
          <p:cNvPr id="6" name="Rectangle 2">
            <a:extLst>
              <a:ext uri="{FF2B5EF4-FFF2-40B4-BE49-F238E27FC236}">
                <a16:creationId xmlns:a16="http://schemas.microsoft.com/office/drawing/2014/main" id="{2BB535E2-7B9A-84D6-2357-AFCAA0F89625}"/>
              </a:ext>
            </a:extLst>
          </p:cNvPr>
          <p:cNvSpPr>
            <a:spLocks noChangeArrowheads="1"/>
          </p:cNvSpPr>
          <p:nvPr/>
        </p:nvSpPr>
        <p:spPr bwMode="auto">
          <a:xfrm>
            <a:off x="3985703" y="1208595"/>
            <a:ext cx="4708340" cy="3093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Clarifier les rôles et responsabilités dès le lancement.</a:t>
            </a:r>
          </a:p>
          <a:p>
            <a:pPr marL="0" marR="0" lvl="0" indent="0" algn="l" defTabSz="914400" rtl="0" eaLnBrk="0" fontAlgn="base" latinLnBrk="0" hangingPunct="0">
              <a:lnSpc>
                <a:spcPct val="100000"/>
              </a:lnSpc>
              <a:spcBef>
                <a:spcPct val="0"/>
              </a:spcBef>
              <a:spcAft>
                <a:spcPct val="0"/>
              </a:spcAft>
              <a:buClrTx/>
              <a:buSzTx/>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Assurer l’adhésion des équipes métiers et locales.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Standardiser sans nuire à l’agilité produit.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Éviter une centralisation excessive du </a:t>
            </a:r>
            <a:r>
              <a:rPr lang="fr-FR" altLang="fr-FR" sz="1500" dirty="0" err="1">
                <a:solidFill>
                  <a:schemeClr val="tx1">
                    <a:lumMod val="65000"/>
                    <a:lumOff val="35000"/>
                  </a:schemeClr>
                </a:solidFill>
                <a:latin typeface="Aptos" panose="020B0004020202020204" pitchFamily="34" charset="0"/>
              </a:rPr>
              <a:t>CoE</a:t>
            </a:r>
            <a:r>
              <a:rPr lang="fr-FR" altLang="fr-FR" sz="1500" dirty="0">
                <a:solidFill>
                  <a:schemeClr val="tx1">
                    <a:lumMod val="65000"/>
                    <a:lumOff val="35000"/>
                  </a:schemeClr>
                </a:solidFill>
                <a:latin typeface="Aptos" panose="020B00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Démontrer rapidement la valeur business.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Intégrer les contraintes réglementaires et régionales.</a:t>
            </a:r>
          </a:p>
          <a:p>
            <a:pPr marL="0" marR="0" lvl="0" indent="0" algn="l" defTabSz="914400" rtl="0" eaLnBrk="0" fontAlgn="base" latinLnBrk="0" hangingPunct="0">
              <a:lnSpc>
                <a:spcPct val="100000"/>
              </a:lnSpc>
              <a:spcBef>
                <a:spcPct val="0"/>
              </a:spcBef>
              <a:spcAft>
                <a:spcPct val="0"/>
              </a:spcAft>
              <a:buClrTx/>
              <a:buSzTx/>
              <a:buFontTx/>
              <a:buChar char="•"/>
              <a:tabLst/>
            </a:pPr>
            <a:endParaRPr lang="fr-FR" altLang="fr-FR" sz="1500" dirty="0">
              <a:solidFill>
                <a:schemeClr val="tx1">
                  <a:lumMod val="65000"/>
                  <a:lumOff val="35000"/>
                </a:schemeClr>
              </a:solidFill>
              <a:latin typeface="Aptos" panose="020B00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lang="fr-FR" altLang="fr-FR" sz="1500" dirty="0">
                <a:solidFill>
                  <a:schemeClr val="tx1">
                    <a:lumMod val="65000"/>
                    <a:lumOff val="35000"/>
                  </a:schemeClr>
                </a:solidFill>
                <a:latin typeface="Aptos" panose="020B0004020202020204" pitchFamily="34" charset="0"/>
              </a:rPr>
              <a:t>Piloter la performance du </a:t>
            </a:r>
            <a:r>
              <a:rPr lang="fr-FR" altLang="fr-FR" sz="1500" dirty="0" err="1">
                <a:solidFill>
                  <a:schemeClr val="tx1">
                    <a:lumMod val="65000"/>
                    <a:lumOff val="35000"/>
                  </a:schemeClr>
                </a:solidFill>
                <a:latin typeface="Aptos" panose="020B0004020202020204" pitchFamily="34" charset="0"/>
              </a:rPr>
              <a:t>CoE</a:t>
            </a:r>
            <a:r>
              <a:rPr lang="fr-FR" altLang="fr-FR" sz="1500" dirty="0">
                <a:solidFill>
                  <a:schemeClr val="tx1">
                    <a:lumMod val="65000"/>
                    <a:lumOff val="35000"/>
                  </a:schemeClr>
                </a:solidFill>
                <a:latin typeface="Aptos" panose="020B0004020202020204" pitchFamily="34" charset="0"/>
              </a:rPr>
              <a:t> dans la durée.</a:t>
            </a:r>
          </a:p>
        </p:txBody>
      </p:sp>
    </p:spTree>
    <p:extLst>
      <p:ext uri="{BB962C8B-B14F-4D97-AF65-F5344CB8AC3E}">
        <p14:creationId xmlns:p14="http://schemas.microsoft.com/office/powerpoint/2010/main" val="2878229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102"/>
        <p:cNvGrpSpPr/>
        <p:nvPr/>
      </p:nvGrpSpPr>
      <p:grpSpPr>
        <a:xfrm>
          <a:off x="0" y="0"/>
          <a:ext cx="0" cy="0"/>
          <a:chOff x="0" y="0"/>
          <a:chExt cx="0" cy="0"/>
        </a:xfrm>
      </p:grpSpPr>
      <p:pic>
        <p:nvPicPr>
          <p:cNvPr id="5" name="Google Shape;56;p13">
            <a:extLst>
              <a:ext uri="{FF2B5EF4-FFF2-40B4-BE49-F238E27FC236}">
                <a16:creationId xmlns:a16="http://schemas.microsoft.com/office/drawing/2014/main" id="{CBC21C7B-992C-ECA4-CA06-6A9AAECFDD59}"/>
              </a:ext>
            </a:extLst>
          </p:cNvPr>
          <p:cNvPicPr preferRelativeResize="0"/>
          <p:nvPr/>
        </p:nvPicPr>
        <p:blipFill>
          <a:blip r:embed="rId3">
            <a:alphaModFix/>
          </a:blip>
          <a:stretch>
            <a:fillRect/>
          </a:stretch>
        </p:blipFill>
        <p:spPr>
          <a:xfrm>
            <a:off x="76200" y="90544"/>
            <a:ext cx="973275" cy="651050"/>
          </a:xfrm>
          <a:prstGeom prst="rect">
            <a:avLst/>
          </a:prstGeom>
          <a:noFill/>
          <a:ln>
            <a:noFill/>
          </a:ln>
        </p:spPr>
      </p:pic>
      <p:sp>
        <p:nvSpPr>
          <p:cNvPr id="2" name="ZoneTexte 1">
            <a:extLst>
              <a:ext uri="{FF2B5EF4-FFF2-40B4-BE49-F238E27FC236}">
                <a16:creationId xmlns:a16="http://schemas.microsoft.com/office/drawing/2014/main" id="{DCC3FBC5-F656-A8E3-7E6B-DF69C4288F65}"/>
              </a:ext>
            </a:extLst>
          </p:cNvPr>
          <p:cNvSpPr txBox="1"/>
          <p:nvPr/>
        </p:nvSpPr>
        <p:spPr>
          <a:xfrm>
            <a:off x="1120487" y="0"/>
            <a:ext cx="7670221"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Pts val="2800"/>
              <a:buFont typeface="Arial"/>
              <a:buNone/>
              <a:tabLst/>
              <a:defRPr/>
            </a:pP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rPr>
              <a:t>Partie 3 -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cs typeface="Arial"/>
                <a:sym typeface="Arial"/>
              </a:rPr>
              <a:t>Déploiement &amp; pilotage  </a:t>
            </a:r>
            <a:r>
              <a:rPr kumimoji="0" lang="fr-FR" sz="2000" b="0"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 </a:t>
            </a:r>
            <a:r>
              <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Arial"/>
              </a:rPr>
              <a:t>Le calendrier du déploiement</a:t>
            </a:r>
            <a:endParaRPr kumimoji="0" lang="fr-FR" sz="2000" b="1" i="0" u="none" strike="noStrike" kern="0" cap="none" spc="0" normalizeH="0" baseline="0" noProof="0" dirty="0">
              <a:ln>
                <a:noFill/>
              </a:ln>
              <a:solidFill>
                <a:srgbClr val="000000">
                  <a:lumMod val="65000"/>
                  <a:lumOff val="35000"/>
                </a:srgbClr>
              </a:solidFill>
              <a:effectLst/>
              <a:uLnTx/>
              <a:uFillTx/>
              <a:latin typeface="Aptos" panose="020B0004020202020204" pitchFamily="34" charset="0"/>
              <a:ea typeface="Inter"/>
              <a:cs typeface="Arial"/>
              <a:sym typeface="Inter"/>
            </a:endParaRPr>
          </a:p>
        </p:txBody>
      </p:sp>
      <p:sp>
        <p:nvSpPr>
          <p:cNvPr id="3" name="Shape 1">
            <a:extLst>
              <a:ext uri="{FF2B5EF4-FFF2-40B4-BE49-F238E27FC236}">
                <a16:creationId xmlns:a16="http://schemas.microsoft.com/office/drawing/2014/main" id="{D23216C7-51B1-9D8D-9801-66313DEEAFB7}"/>
              </a:ext>
            </a:extLst>
          </p:cNvPr>
          <p:cNvSpPr/>
          <p:nvPr/>
        </p:nvSpPr>
        <p:spPr>
          <a:xfrm>
            <a:off x="140801" y="850439"/>
            <a:ext cx="2743200" cy="3840480"/>
          </a:xfrm>
          <a:prstGeom prst="rect">
            <a:avLst/>
          </a:prstGeom>
          <a:solidFill>
            <a:srgbClr val="F8F9FA"/>
          </a:solidFill>
          <a:ln/>
        </p:spPr>
      </p:sp>
      <p:sp>
        <p:nvSpPr>
          <p:cNvPr id="6" name="Shape 2">
            <a:extLst>
              <a:ext uri="{FF2B5EF4-FFF2-40B4-BE49-F238E27FC236}">
                <a16:creationId xmlns:a16="http://schemas.microsoft.com/office/drawing/2014/main" id="{FE113372-C7E9-E072-D979-8F51CEE7EFF0}"/>
              </a:ext>
            </a:extLst>
          </p:cNvPr>
          <p:cNvSpPr/>
          <p:nvPr/>
        </p:nvSpPr>
        <p:spPr>
          <a:xfrm>
            <a:off x="133520" y="852092"/>
            <a:ext cx="2743200" cy="73152"/>
          </a:xfrm>
          <a:prstGeom prst="rect">
            <a:avLst/>
          </a:prstGeom>
          <a:solidFill>
            <a:srgbClr val="10B981"/>
          </a:solidFill>
          <a:ln/>
        </p:spPr>
      </p:sp>
      <p:pic>
        <p:nvPicPr>
          <p:cNvPr id="8" name="Image 0" descr="preencoded.png">
            <a:extLst>
              <a:ext uri="{FF2B5EF4-FFF2-40B4-BE49-F238E27FC236}">
                <a16:creationId xmlns:a16="http://schemas.microsoft.com/office/drawing/2014/main" id="{9C2858BA-EF83-74CF-060A-E2868AA1A4E4}"/>
              </a:ext>
            </a:extLst>
          </p:cNvPr>
          <p:cNvPicPr>
            <a:picLocks noChangeAspect="1"/>
          </p:cNvPicPr>
          <p:nvPr/>
        </p:nvPicPr>
        <p:blipFill>
          <a:blip r:embed="rId4"/>
          <a:stretch>
            <a:fillRect/>
          </a:stretch>
        </p:blipFill>
        <p:spPr>
          <a:xfrm>
            <a:off x="316400" y="1034972"/>
            <a:ext cx="365760" cy="365760"/>
          </a:xfrm>
          <a:prstGeom prst="rect">
            <a:avLst/>
          </a:prstGeom>
        </p:spPr>
      </p:pic>
      <p:sp>
        <p:nvSpPr>
          <p:cNvPr id="10" name="Shape 3">
            <a:extLst>
              <a:ext uri="{FF2B5EF4-FFF2-40B4-BE49-F238E27FC236}">
                <a16:creationId xmlns:a16="http://schemas.microsoft.com/office/drawing/2014/main" id="{E739066B-EAE4-FB13-B5F5-0C4831E76734}"/>
              </a:ext>
            </a:extLst>
          </p:cNvPr>
          <p:cNvSpPr/>
          <p:nvPr/>
        </p:nvSpPr>
        <p:spPr>
          <a:xfrm>
            <a:off x="2328080" y="1034972"/>
            <a:ext cx="365760" cy="365760"/>
          </a:xfrm>
          <a:prstGeom prst="ellipse">
            <a:avLst/>
          </a:prstGeom>
          <a:solidFill>
            <a:srgbClr val="10B981"/>
          </a:solidFill>
          <a:ln/>
        </p:spPr>
      </p:sp>
      <p:sp>
        <p:nvSpPr>
          <p:cNvPr id="11" name="Text 4">
            <a:extLst>
              <a:ext uri="{FF2B5EF4-FFF2-40B4-BE49-F238E27FC236}">
                <a16:creationId xmlns:a16="http://schemas.microsoft.com/office/drawing/2014/main" id="{731ECCAA-0953-0D27-D3AC-933CE1D80B2D}"/>
              </a:ext>
            </a:extLst>
          </p:cNvPr>
          <p:cNvSpPr/>
          <p:nvPr/>
        </p:nvSpPr>
        <p:spPr>
          <a:xfrm>
            <a:off x="232808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1</a:t>
            </a:r>
            <a:endParaRPr lang="en-US" sz="2000" dirty="0">
              <a:latin typeface="Aptos "/>
            </a:endParaRPr>
          </a:p>
        </p:txBody>
      </p:sp>
      <p:sp>
        <p:nvSpPr>
          <p:cNvPr id="12" name="Text 5">
            <a:extLst>
              <a:ext uri="{FF2B5EF4-FFF2-40B4-BE49-F238E27FC236}">
                <a16:creationId xmlns:a16="http://schemas.microsoft.com/office/drawing/2014/main" id="{0B84A503-A5A5-460D-DA78-E7C7F15CF829}"/>
              </a:ext>
            </a:extLst>
          </p:cNvPr>
          <p:cNvSpPr/>
          <p:nvPr/>
        </p:nvSpPr>
        <p:spPr>
          <a:xfrm>
            <a:off x="316400" y="1560515"/>
            <a:ext cx="2111211" cy="274320"/>
          </a:xfrm>
          <a:prstGeom prst="rect">
            <a:avLst/>
          </a:prstGeom>
          <a:noFill/>
          <a:ln/>
        </p:spPr>
        <p:txBody>
          <a:bodyPr wrap="square" rtlCol="0" anchor="ctr"/>
          <a:lstStyle/>
          <a:p>
            <a:pPr marL="0" indent="0">
              <a:buNone/>
            </a:pPr>
            <a:r>
              <a:rPr lang="en-US" sz="1500" b="1" dirty="0">
                <a:solidFill>
                  <a:srgbClr val="000000">
                    <a:lumMod val="65000"/>
                    <a:lumOff val="35000"/>
                  </a:srgbClr>
                </a:solidFill>
                <a:latin typeface="Aptos" panose="020B0004020202020204" pitchFamily="34" charset="0"/>
                <a:ea typeface="Inter"/>
              </a:rPr>
              <a:t>Fondations &amp; </a:t>
            </a:r>
            <a:r>
              <a:rPr lang="en-US" sz="1500" b="1" dirty="0" err="1">
                <a:solidFill>
                  <a:srgbClr val="000000">
                    <a:lumMod val="65000"/>
                    <a:lumOff val="35000"/>
                  </a:srgbClr>
                </a:solidFill>
                <a:latin typeface="Aptos" panose="020B0004020202020204" pitchFamily="34" charset="0"/>
                <a:ea typeface="Inter"/>
              </a:rPr>
              <a:t>Cadrage</a:t>
            </a:r>
            <a:endParaRPr lang="en-US" sz="1500" b="1" dirty="0">
              <a:solidFill>
                <a:srgbClr val="000000">
                  <a:lumMod val="65000"/>
                  <a:lumOff val="35000"/>
                </a:srgbClr>
              </a:solidFill>
              <a:latin typeface="Aptos" panose="020B0004020202020204" pitchFamily="34" charset="0"/>
              <a:ea typeface="Inter"/>
            </a:endParaRPr>
          </a:p>
        </p:txBody>
      </p:sp>
      <p:sp>
        <p:nvSpPr>
          <p:cNvPr id="13" name="Text 6">
            <a:extLst>
              <a:ext uri="{FF2B5EF4-FFF2-40B4-BE49-F238E27FC236}">
                <a16:creationId xmlns:a16="http://schemas.microsoft.com/office/drawing/2014/main" id="{93DB1A3C-06DD-557A-2CEB-A9E331B016B6}"/>
              </a:ext>
            </a:extLst>
          </p:cNvPr>
          <p:cNvSpPr/>
          <p:nvPr/>
        </p:nvSpPr>
        <p:spPr>
          <a:xfrm>
            <a:off x="316400" y="1812212"/>
            <a:ext cx="2377440" cy="182880"/>
          </a:xfrm>
          <a:prstGeom prst="rect">
            <a:avLst/>
          </a:prstGeom>
          <a:noFill/>
          <a:ln/>
        </p:spPr>
        <p:txBody>
          <a:bodyPr wrap="square" rtlCol="0" anchor="ctr"/>
          <a:lstStyle/>
          <a:p>
            <a:pPr marL="0" indent="0">
              <a:buNone/>
            </a:pPr>
            <a:r>
              <a:rPr lang="en-US" sz="1100" dirty="0" err="1">
                <a:solidFill>
                  <a:srgbClr val="000000">
                    <a:lumMod val="65000"/>
                    <a:lumOff val="35000"/>
                  </a:srgbClr>
                </a:solidFill>
                <a:latin typeface="Aptos" panose="020B0004020202020204" pitchFamily="34" charset="0"/>
              </a:rPr>
              <a:t>Mois</a:t>
            </a:r>
            <a:r>
              <a:rPr lang="en-US" sz="1100" dirty="0">
                <a:solidFill>
                  <a:srgbClr val="000000">
                    <a:lumMod val="65000"/>
                    <a:lumOff val="35000"/>
                  </a:srgbClr>
                </a:solidFill>
                <a:latin typeface="Aptos" panose="020B0004020202020204" pitchFamily="34" charset="0"/>
              </a:rPr>
              <a:t> 0–3</a:t>
            </a:r>
          </a:p>
        </p:txBody>
      </p:sp>
      <p:sp>
        <p:nvSpPr>
          <p:cNvPr id="14" name="Text 7">
            <a:extLst>
              <a:ext uri="{FF2B5EF4-FFF2-40B4-BE49-F238E27FC236}">
                <a16:creationId xmlns:a16="http://schemas.microsoft.com/office/drawing/2014/main" id="{142C5768-0385-3070-1D3E-8A3EBABF7C5A}"/>
              </a:ext>
            </a:extLst>
          </p:cNvPr>
          <p:cNvSpPr/>
          <p:nvPr/>
        </p:nvSpPr>
        <p:spPr>
          <a:xfrm>
            <a:off x="316400" y="2132252"/>
            <a:ext cx="2377440" cy="18288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OBJECTIF</a:t>
            </a:r>
            <a:endParaRPr lang="en-US" sz="1200" dirty="0">
              <a:latin typeface="Aptos "/>
            </a:endParaRPr>
          </a:p>
        </p:txBody>
      </p:sp>
      <p:sp>
        <p:nvSpPr>
          <p:cNvPr id="15" name="Text 8">
            <a:extLst>
              <a:ext uri="{FF2B5EF4-FFF2-40B4-BE49-F238E27FC236}">
                <a16:creationId xmlns:a16="http://schemas.microsoft.com/office/drawing/2014/main" id="{7ED0C3FD-85AA-578C-476E-2C7B11E7EC8F}"/>
              </a:ext>
            </a:extLst>
          </p:cNvPr>
          <p:cNvSpPr/>
          <p:nvPr/>
        </p:nvSpPr>
        <p:spPr>
          <a:xfrm>
            <a:off x="316400" y="2360852"/>
            <a:ext cx="2377440" cy="548640"/>
          </a:xfrm>
          <a:prstGeom prst="rect">
            <a:avLst/>
          </a:prstGeom>
          <a:noFill/>
          <a:ln/>
        </p:spPr>
        <p:txBody>
          <a:bodyPr wrap="square" rtlCol="0" anchor="ctr"/>
          <a:lstStyle/>
          <a:p>
            <a:pPr marL="0" indent="0">
              <a:lnSpc>
                <a:spcPts val="1400"/>
              </a:lnSpc>
              <a:buNone/>
            </a:pPr>
            <a:r>
              <a:rPr lang="en-US" sz="1100" dirty="0">
                <a:solidFill>
                  <a:schemeClr val="accent5">
                    <a:lumMod val="75000"/>
                  </a:schemeClr>
                </a:solidFill>
                <a:latin typeface="Aptos "/>
                <a:ea typeface="Arial" pitchFamily="34" charset="-122"/>
                <a:cs typeface="Arial" pitchFamily="34" charset="-120"/>
              </a:rPr>
              <a:t>• Comprendre l'existant</a:t>
            </a:r>
            <a:endParaRPr lang="en-US" sz="1100" dirty="0">
              <a:solidFill>
                <a:schemeClr val="accent5">
                  <a:lumMod val="75000"/>
                </a:schemeClr>
              </a:solidFill>
              <a:latin typeface="Aptos "/>
            </a:endParaRPr>
          </a:p>
          <a:p>
            <a:pPr marL="0" indent="0">
              <a:lnSpc>
                <a:spcPts val="1400"/>
              </a:lnSpc>
              <a:buNone/>
            </a:pPr>
            <a:r>
              <a:rPr lang="en-US" sz="1100" dirty="0">
                <a:solidFill>
                  <a:schemeClr val="accent5">
                    <a:lumMod val="75000"/>
                  </a:schemeClr>
                </a:solidFill>
                <a:latin typeface="Aptos "/>
                <a:ea typeface="Arial" pitchFamily="34" charset="-122"/>
                <a:cs typeface="Arial" pitchFamily="34" charset="-120"/>
              </a:rPr>
              <a:t>• Définir le rôle du CoE</a:t>
            </a:r>
            <a:endParaRPr lang="en-US" sz="1100" dirty="0">
              <a:solidFill>
                <a:schemeClr val="accent5">
                  <a:lumMod val="75000"/>
                </a:schemeClr>
              </a:solidFill>
              <a:latin typeface="Aptos "/>
            </a:endParaRPr>
          </a:p>
        </p:txBody>
      </p:sp>
      <p:sp>
        <p:nvSpPr>
          <p:cNvPr id="16" name="Text 9">
            <a:extLst>
              <a:ext uri="{FF2B5EF4-FFF2-40B4-BE49-F238E27FC236}">
                <a16:creationId xmlns:a16="http://schemas.microsoft.com/office/drawing/2014/main" id="{F53BEEAB-ABE3-253C-2E0E-EE3DC3006736}"/>
              </a:ext>
            </a:extLst>
          </p:cNvPr>
          <p:cNvSpPr/>
          <p:nvPr/>
        </p:nvSpPr>
        <p:spPr>
          <a:xfrm>
            <a:off x="316400" y="3000932"/>
            <a:ext cx="2377440" cy="18288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ACTIONS</a:t>
            </a:r>
            <a:endParaRPr lang="en-US" sz="1200" dirty="0">
              <a:latin typeface="Aptos "/>
            </a:endParaRPr>
          </a:p>
        </p:txBody>
      </p:sp>
      <p:sp>
        <p:nvSpPr>
          <p:cNvPr id="17" name="Text 10">
            <a:extLst>
              <a:ext uri="{FF2B5EF4-FFF2-40B4-BE49-F238E27FC236}">
                <a16:creationId xmlns:a16="http://schemas.microsoft.com/office/drawing/2014/main" id="{7B2D516F-97C7-E938-C50A-2264CCB53C5A}"/>
              </a:ext>
            </a:extLst>
          </p:cNvPr>
          <p:cNvSpPr/>
          <p:nvPr/>
        </p:nvSpPr>
        <p:spPr>
          <a:xfrm>
            <a:off x="316400" y="3229532"/>
            <a:ext cx="2377440" cy="64008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Cartographie</a:t>
            </a:r>
            <a:r>
              <a:rPr lang="en-US" sz="1100" dirty="0">
                <a:solidFill>
                  <a:schemeClr val="accent5">
                    <a:lumMod val="75000"/>
                  </a:schemeClr>
                </a:solidFill>
                <a:latin typeface="Aptos "/>
                <a:cs typeface="Arial" pitchFamily="34" charset="-120"/>
              </a:rPr>
              <a:t> data</a:t>
            </a:r>
          </a:p>
          <a:p>
            <a:pPr>
              <a:lnSpc>
                <a:spcPts val="1400"/>
              </a:lnSpc>
            </a:pPr>
            <a:r>
              <a:rPr lang="en-US" sz="1100" dirty="0">
                <a:solidFill>
                  <a:schemeClr val="accent5">
                    <a:lumMod val="75000"/>
                  </a:schemeClr>
                </a:solidFill>
                <a:latin typeface="Aptos "/>
                <a:cs typeface="Arial" pitchFamily="34" charset="-120"/>
              </a:rPr>
              <a:t>• Audit KPI &amp; </a:t>
            </a:r>
            <a:r>
              <a:rPr lang="en-US" sz="1100" dirty="0" err="1">
                <a:solidFill>
                  <a:schemeClr val="accent5">
                    <a:lumMod val="75000"/>
                  </a:schemeClr>
                </a:solidFill>
                <a:latin typeface="Aptos "/>
                <a:cs typeface="Arial" pitchFamily="34" charset="-120"/>
              </a:rPr>
              <a:t>outils</a:t>
            </a:r>
            <a:endParaRPr lang="en-US" sz="1100" dirty="0">
              <a:solidFill>
                <a:schemeClr val="accent5">
                  <a:lumMod val="75000"/>
                </a:schemeClr>
              </a:solidFill>
              <a:latin typeface="Aptos "/>
              <a:cs typeface="Arial" pitchFamily="34" charset="-120"/>
            </a:endParaRPr>
          </a:p>
          <a:p>
            <a:pPr>
              <a:lnSpc>
                <a:spcPts val="1400"/>
              </a:lnSpc>
            </a:pPr>
            <a:r>
              <a:rPr lang="en-US" sz="1100" dirty="0">
                <a:solidFill>
                  <a:schemeClr val="accent5">
                    <a:lumMod val="75000"/>
                  </a:schemeClr>
                </a:solidFill>
                <a:latin typeface="Aptos "/>
                <a:cs typeface="Arial" pitchFamily="34" charset="-120"/>
              </a:rPr>
              <a:t>• Standards </a:t>
            </a:r>
            <a:r>
              <a:rPr lang="en-US" sz="1100" dirty="0" err="1">
                <a:solidFill>
                  <a:schemeClr val="accent5">
                    <a:lumMod val="75000"/>
                  </a:schemeClr>
                </a:solidFill>
                <a:latin typeface="Aptos "/>
                <a:cs typeface="Arial" pitchFamily="34" charset="-120"/>
              </a:rPr>
              <a:t>prioritaires</a:t>
            </a:r>
            <a:endParaRPr lang="en-US" sz="1100" dirty="0">
              <a:latin typeface="Aptos "/>
            </a:endParaRPr>
          </a:p>
        </p:txBody>
      </p:sp>
      <p:sp>
        <p:nvSpPr>
          <p:cNvPr id="18" name="Shape 11">
            <a:extLst>
              <a:ext uri="{FF2B5EF4-FFF2-40B4-BE49-F238E27FC236}">
                <a16:creationId xmlns:a16="http://schemas.microsoft.com/office/drawing/2014/main" id="{6AA57134-8713-6B5B-FFD4-CC5DFA979730}"/>
              </a:ext>
            </a:extLst>
          </p:cNvPr>
          <p:cNvSpPr/>
          <p:nvPr/>
        </p:nvSpPr>
        <p:spPr>
          <a:xfrm>
            <a:off x="316400" y="4052492"/>
            <a:ext cx="2377440" cy="457200"/>
          </a:xfrm>
          <a:prstGeom prst="rect">
            <a:avLst/>
          </a:prstGeom>
          <a:solidFill>
            <a:srgbClr val="FFFFFF"/>
          </a:solidFill>
          <a:ln w="19050">
            <a:solidFill>
              <a:srgbClr val="10B981"/>
            </a:solidFill>
            <a:prstDash val="solid"/>
          </a:ln>
        </p:spPr>
      </p:sp>
      <p:sp>
        <p:nvSpPr>
          <p:cNvPr id="19" name="Text 12">
            <a:extLst>
              <a:ext uri="{FF2B5EF4-FFF2-40B4-BE49-F238E27FC236}">
                <a16:creationId xmlns:a16="http://schemas.microsoft.com/office/drawing/2014/main" id="{C7FA16AD-F3D8-0FA9-2696-AA7D620FCAA2}"/>
              </a:ext>
            </a:extLst>
          </p:cNvPr>
          <p:cNvSpPr/>
          <p:nvPr/>
        </p:nvSpPr>
        <p:spPr>
          <a:xfrm>
            <a:off x="407840" y="4098212"/>
            <a:ext cx="2194560" cy="137160"/>
          </a:xfrm>
          <a:prstGeom prst="rect">
            <a:avLst/>
          </a:prstGeom>
          <a:noFill/>
          <a:ln/>
        </p:spPr>
        <p:txBody>
          <a:bodyPr wrap="square" rtlCol="0" anchor="ctr"/>
          <a:lstStyle/>
          <a:p>
            <a:pPr marL="0" indent="0">
              <a:buNone/>
            </a:pPr>
            <a:r>
              <a:rPr lang="en-US" sz="1200" b="1" kern="0" spc="100" dirty="0">
                <a:solidFill>
                  <a:srgbClr val="10B981"/>
                </a:solidFill>
                <a:latin typeface="Aptos "/>
                <a:ea typeface="Arial" pitchFamily="34" charset="-122"/>
                <a:cs typeface="Arial" pitchFamily="34" charset="-120"/>
              </a:rPr>
              <a:t>RÉSULTAT</a:t>
            </a:r>
            <a:endParaRPr lang="en-US" sz="1200" dirty="0">
              <a:latin typeface="Aptos "/>
            </a:endParaRPr>
          </a:p>
        </p:txBody>
      </p:sp>
      <p:sp>
        <p:nvSpPr>
          <p:cNvPr id="20" name="Text 13">
            <a:extLst>
              <a:ext uri="{FF2B5EF4-FFF2-40B4-BE49-F238E27FC236}">
                <a16:creationId xmlns:a16="http://schemas.microsoft.com/office/drawing/2014/main" id="{6CE214F8-4B26-D60A-9329-D5E6DA92706A}"/>
              </a:ext>
            </a:extLst>
          </p:cNvPr>
          <p:cNvSpPr/>
          <p:nvPr/>
        </p:nvSpPr>
        <p:spPr>
          <a:xfrm>
            <a:off x="40784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Vision partagée &amp; cadre clair</a:t>
            </a:r>
            <a:endParaRPr lang="en-US" sz="1100" dirty="0">
              <a:latin typeface="Aptos "/>
            </a:endParaRPr>
          </a:p>
        </p:txBody>
      </p:sp>
      <p:sp>
        <p:nvSpPr>
          <p:cNvPr id="21" name="Shape 14">
            <a:extLst>
              <a:ext uri="{FF2B5EF4-FFF2-40B4-BE49-F238E27FC236}">
                <a16:creationId xmlns:a16="http://schemas.microsoft.com/office/drawing/2014/main" id="{64C74111-0BDD-45C9-22F8-0B0FABAC4550}"/>
              </a:ext>
            </a:extLst>
          </p:cNvPr>
          <p:cNvSpPr/>
          <p:nvPr/>
        </p:nvSpPr>
        <p:spPr>
          <a:xfrm>
            <a:off x="3196760" y="852092"/>
            <a:ext cx="2743200" cy="3840480"/>
          </a:xfrm>
          <a:prstGeom prst="rect">
            <a:avLst/>
          </a:prstGeom>
          <a:solidFill>
            <a:srgbClr val="F8F9FA"/>
          </a:solidFill>
          <a:ln/>
        </p:spPr>
      </p:sp>
      <p:sp>
        <p:nvSpPr>
          <p:cNvPr id="22" name="Shape 15">
            <a:extLst>
              <a:ext uri="{FF2B5EF4-FFF2-40B4-BE49-F238E27FC236}">
                <a16:creationId xmlns:a16="http://schemas.microsoft.com/office/drawing/2014/main" id="{5F855E25-6051-0257-A60F-9CBE3BCD1D39}"/>
              </a:ext>
            </a:extLst>
          </p:cNvPr>
          <p:cNvSpPr/>
          <p:nvPr/>
        </p:nvSpPr>
        <p:spPr>
          <a:xfrm>
            <a:off x="3196760" y="852092"/>
            <a:ext cx="2743200" cy="73152"/>
          </a:xfrm>
          <a:prstGeom prst="rect">
            <a:avLst/>
          </a:prstGeom>
          <a:solidFill>
            <a:srgbClr val="F59E0B"/>
          </a:solidFill>
          <a:ln/>
        </p:spPr>
      </p:sp>
      <p:pic>
        <p:nvPicPr>
          <p:cNvPr id="23" name="Image 1" descr="preencoded.png">
            <a:extLst>
              <a:ext uri="{FF2B5EF4-FFF2-40B4-BE49-F238E27FC236}">
                <a16:creationId xmlns:a16="http://schemas.microsoft.com/office/drawing/2014/main" id="{3C88E2BF-0B80-D81E-978D-D2B8CBF2CCDC}"/>
              </a:ext>
            </a:extLst>
          </p:cNvPr>
          <p:cNvPicPr>
            <a:picLocks noChangeAspect="1"/>
          </p:cNvPicPr>
          <p:nvPr/>
        </p:nvPicPr>
        <p:blipFill>
          <a:blip r:embed="rId5"/>
          <a:stretch>
            <a:fillRect/>
          </a:stretch>
        </p:blipFill>
        <p:spPr>
          <a:xfrm>
            <a:off x="3379640" y="1034972"/>
            <a:ext cx="365760" cy="365760"/>
          </a:xfrm>
          <a:prstGeom prst="rect">
            <a:avLst/>
          </a:prstGeom>
        </p:spPr>
      </p:pic>
      <p:sp>
        <p:nvSpPr>
          <p:cNvPr id="24" name="Shape 16">
            <a:extLst>
              <a:ext uri="{FF2B5EF4-FFF2-40B4-BE49-F238E27FC236}">
                <a16:creationId xmlns:a16="http://schemas.microsoft.com/office/drawing/2014/main" id="{6FF455EE-59D4-2660-D395-524598114EAB}"/>
              </a:ext>
            </a:extLst>
          </p:cNvPr>
          <p:cNvSpPr/>
          <p:nvPr/>
        </p:nvSpPr>
        <p:spPr>
          <a:xfrm>
            <a:off x="5391320" y="1034972"/>
            <a:ext cx="365760" cy="365760"/>
          </a:xfrm>
          <a:prstGeom prst="ellipse">
            <a:avLst/>
          </a:prstGeom>
          <a:solidFill>
            <a:srgbClr val="F59E0B"/>
          </a:solidFill>
          <a:ln/>
        </p:spPr>
      </p:sp>
      <p:sp>
        <p:nvSpPr>
          <p:cNvPr id="25" name="Text 17">
            <a:extLst>
              <a:ext uri="{FF2B5EF4-FFF2-40B4-BE49-F238E27FC236}">
                <a16:creationId xmlns:a16="http://schemas.microsoft.com/office/drawing/2014/main" id="{88612F72-CFE3-DF99-120E-322CC96C2B0A}"/>
              </a:ext>
            </a:extLst>
          </p:cNvPr>
          <p:cNvSpPr/>
          <p:nvPr/>
        </p:nvSpPr>
        <p:spPr>
          <a:xfrm>
            <a:off x="539132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2</a:t>
            </a:r>
            <a:endParaRPr lang="en-US" sz="2000" dirty="0">
              <a:latin typeface="Aptos "/>
            </a:endParaRPr>
          </a:p>
        </p:txBody>
      </p:sp>
      <p:sp>
        <p:nvSpPr>
          <p:cNvPr id="26" name="Text 18">
            <a:extLst>
              <a:ext uri="{FF2B5EF4-FFF2-40B4-BE49-F238E27FC236}">
                <a16:creationId xmlns:a16="http://schemas.microsoft.com/office/drawing/2014/main" id="{763556A3-BA83-7C25-A818-E96D74A8AD62}"/>
              </a:ext>
            </a:extLst>
          </p:cNvPr>
          <p:cNvSpPr/>
          <p:nvPr/>
        </p:nvSpPr>
        <p:spPr>
          <a:xfrm>
            <a:off x="3343217" y="1569659"/>
            <a:ext cx="2286000" cy="274320"/>
          </a:xfrm>
          <a:prstGeom prst="rect">
            <a:avLst/>
          </a:prstGeom>
          <a:noFill/>
          <a:ln/>
        </p:spPr>
        <p:txBody>
          <a:bodyPr wrap="square" rtlCol="0" anchor="ctr"/>
          <a:lstStyle/>
          <a:p>
            <a:r>
              <a:rPr lang="en-US" sz="1500" b="1" dirty="0">
                <a:solidFill>
                  <a:srgbClr val="000000">
                    <a:lumMod val="65000"/>
                    <a:lumOff val="35000"/>
                  </a:srgbClr>
                </a:solidFill>
                <a:latin typeface="Aptos" panose="020B0004020202020204" pitchFamily="34" charset="0"/>
                <a:ea typeface="Inter"/>
              </a:rPr>
              <a:t>Lancement &amp; Validation</a:t>
            </a:r>
          </a:p>
        </p:txBody>
      </p:sp>
      <p:sp>
        <p:nvSpPr>
          <p:cNvPr id="27" name="Text 19">
            <a:extLst>
              <a:ext uri="{FF2B5EF4-FFF2-40B4-BE49-F238E27FC236}">
                <a16:creationId xmlns:a16="http://schemas.microsoft.com/office/drawing/2014/main" id="{7D5D500C-E451-7CE7-E0C2-50C73A671E6A}"/>
              </a:ext>
            </a:extLst>
          </p:cNvPr>
          <p:cNvSpPr/>
          <p:nvPr/>
        </p:nvSpPr>
        <p:spPr>
          <a:xfrm>
            <a:off x="3379640" y="1812212"/>
            <a:ext cx="2377440" cy="182880"/>
          </a:xfrm>
          <a:prstGeom prst="rect">
            <a:avLst/>
          </a:prstGeom>
          <a:noFill/>
          <a:ln/>
        </p:spPr>
        <p:txBody>
          <a:bodyPr wrap="square" rtlCol="0" anchor="ctr"/>
          <a:lstStyle/>
          <a:p>
            <a:r>
              <a:rPr lang="en-US" sz="1100" dirty="0" err="1">
                <a:solidFill>
                  <a:srgbClr val="000000">
                    <a:lumMod val="65000"/>
                    <a:lumOff val="35000"/>
                  </a:srgbClr>
                </a:solidFill>
                <a:latin typeface="Aptos" panose="020B0004020202020204" pitchFamily="34" charset="0"/>
              </a:rPr>
              <a:t>Mois</a:t>
            </a:r>
            <a:r>
              <a:rPr lang="en-US" sz="1100" dirty="0">
                <a:solidFill>
                  <a:srgbClr val="000000">
                    <a:lumMod val="65000"/>
                    <a:lumOff val="35000"/>
                  </a:srgbClr>
                </a:solidFill>
                <a:latin typeface="Aptos" panose="020B0004020202020204" pitchFamily="34" charset="0"/>
              </a:rPr>
              <a:t> 4–8</a:t>
            </a:r>
          </a:p>
        </p:txBody>
      </p:sp>
      <p:sp>
        <p:nvSpPr>
          <p:cNvPr id="28" name="Text 20">
            <a:extLst>
              <a:ext uri="{FF2B5EF4-FFF2-40B4-BE49-F238E27FC236}">
                <a16:creationId xmlns:a16="http://schemas.microsoft.com/office/drawing/2014/main" id="{0B154CCC-3A61-1B32-DDAE-877F35B0B938}"/>
              </a:ext>
            </a:extLst>
          </p:cNvPr>
          <p:cNvSpPr/>
          <p:nvPr/>
        </p:nvSpPr>
        <p:spPr>
          <a:xfrm>
            <a:off x="3379640" y="2132252"/>
            <a:ext cx="2377440" cy="18288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OBJECTIF</a:t>
            </a:r>
            <a:endParaRPr lang="en-US" sz="1200" dirty="0">
              <a:latin typeface="Aptos "/>
            </a:endParaRPr>
          </a:p>
        </p:txBody>
      </p:sp>
      <p:sp>
        <p:nvSpPr>
          <p:cNvPr id="29" name="Text 21">
            <a:extLst>
              <a:ext uri="{FF2B5EF4-FFF2-40B4-BE49-F238E27FC236}">
                <a16:creationId xmlns:a16="http://schemas.microsoft.com/office/drawing/2014/main" id="{27C05292-0DBC-9B52-D09B-05C92607B5DB}"/>
              </a:ext>
            </a:extLst>
          </p:cNvPr>
          <p:cNvSpPr/>
          <p:nvPr/>
        </p:nvSpPr>
        <p:spPr>
          <a:xfrm>
            <a:off x="3379640" y="2360852"/>
            <a:ext cx="2377440" cy="54864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Créer</a:t>
            </a:r>
            <a:r>
              <a:rPr lang="en-US" sz="1100" dirty="0">
                <a:solidFill>
                  <a:schemeClr val="accent5">
                    <a:lumMod val="75000"/>
                  </a:schemeClr>
                </a:solidFill>
                <a:latin typeface="Aptos "/>
                <a:cs typeface="Arial" pitchFamily="34" charset="-120"/>
              </a:rPr>
              <a:t> le CoE « </a:t>
            </a:r>
            <a:r>
              <a:rPr lang="en-US" sz="1100" dirty="0" err="1">
                <a:solidFill>
                  <a:schemeClr val="accent5">
                    <a:lumMod val="75000"/>
                  </a:schemeClr>
                </a:solidFill>
                <a:latin typeface="Aptos "/>
                <a:cs typeface="Arial" pitchFamily="34" charset="-120"/>
              </a:rPr>
              <a:t>léger</a:t>
            </a:r>
            <a:r>
              <a:rPr lang="en-US" sz="1100" dirty="0">
                <a:solidFill>
                  <a:schemeClr val="accent5">
                    <a:lumMod val="75000"/>
                  </a:schemeClr>
                </a:solidFill>
                <a:latin typeface="Aptos "/>
                <a:cs typeface="Arial" pitchFamily="34" charset="-120"/>
              </a:rPr>
              <a:t> »</a:t>
            </a:r>
          </a:p>
          <a:p>
            <a:pPr>
              <a:lnSpc>
                <a:spcPts val="1400"/>
              </a:lnSpc>
            </a:pPr>
            <a:r>
              <a:rPr lang="en-US" sz="1100" dirty="0">
                <a:solidFill>
                  <a:schemeClr val="accent5">
                    <a:lumMod val="75000"/>
                  </a:schemeClr>
                </a:solidFill>
                <a:latin typeface="Aptos "/>
                <a:cs typeface="Arial" pitchFamily="34" charset="-120"/>
              </a:rPr>
              <a:t>• Tester via </a:t>
            </a:r>
            <a:r>
              <a:rPr lang="en-US" sz="1100" dirty="0" err="1">
                <a:solidFill>
                  <a:schemeClr val="accent5">
                    <a:lumMod val="75000"/>
                  </a:schemeClr>
                </a:solidFill>
                <a:latin typeface="Aptos "/>
                <a:cs typeface="Arial" pitchFamily="34" charset="-120"/>
              </a:rPr>
              <a:t>pilotes</a:t>
            </a:r>
            <a:endParaRPr lang="en-US" sz="1100" dirty="0">
              <a:solidFill>
                <a:schemeClr val="accent5">
                  <a:lumMod val="75000"/>
                </a:schemeClr>
              </a:solidFill>
              <a:latin typeface="Aptos "/>
              <a:cs typeface="Arial" pitchFamily="34" charset="-120"/>
            </a:endParaRPr>
          </a:p>
        </p:txBody>
      </p:sp>
      <p:sp>
        <p:nvSpPr>
          <p:cNvPr id="30" name="Text 22">
            <a:extLst>
              <a:ext uri="{FF2B5EF4-FFF2-40B4-BE49-F238E27FC236}">
                <a16:creationId xmlns:a16="http://schemas.microsoft.com/office/drawing/2014/main" id="{6B70BCA6-4D5F-2719-31B9-D07011ED9AA8}"/>
              </a:ext>
            </a:extLst>
          </p:cNvPr>
          <p:cNvSpPr/>
          <p:nvPr/>
        </p:nvSpPr>
        <p:spPr>
          <a:xfrm>
            <a:off x="3379640" y="3000932"/>
            <a:ext cx="2377440" cy="18288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ACTIONS</a:t>
            </a:r>
            <a:endParaRPr lang="en-US" sz="1200" dirty="0">
              <a:latin typeface="Aptos "/>
            </a:endParaRPr>
          </a:p>
        </p:txBody>
      </p:sp>
      <p:sp>
        <p:nvSpPr>
          <p:cNvPr id="31" name="Text 23">
            <a:extLst>
              <a:ext uri="{FF2B5EF4-FFF2-40B4-BE49-F238E27FC236}">
                <a16:creationId xmlns:a16="http://schemas.microsoft.com/office/drawing/2014/main" id="{612126C8-13EE-1D63-3F5D-88BD2A91E844}"/>
              </a:ext>
            </a:extLst>
          </p:cNvPr>
          <p:cNvSpPr/>
          <p:nvPr/>
        </p:nvSpPr>
        <p:spPr>
          <a:xfrm>
            <a:off x="3379640" y="3229532"/>
            <a:ext cx="2377440" cy="640080"/>
          </a:xfrm>
          <a:prstGeom prst="rect">
            <a:avLst/>
          </a:prstGeom>
          <a:noFill/>
          <a:ln/>
        </p:spPr>
        <p:txBody>
          <a:bodyPr wrap="square" rtlCol="0" anchor="ctr"/>
          <a:lstStyle/>
          <a:p>
            <a:pPr marL="0" indent="0">
              <a:lnSpc>
                <a:spcPts val="1400"/>
              </a:lnSpc>
              <a:buFont typeface="Arial"/>
              <a:buNone/>
            </a:pPr>
            <a:r>
              <a:rPr lang="en-US" sz="1100" dirty="0">
                <a:solidFill>
                  <a:schemeClr val="accent5">
                    <a:lumMod val="75000"/>
                  </a:schemeClr>
                </a:solidFill>
                <a:latin typeface="Aptos "/>
                <a:cs typeface="Arial" pitchFamily="34" charset="-120"/>
              </a:rPr>
              <a:t>• Équipe </a:t>
            </a:r>
            <a:r>
              <a:rPr lang="en-US" sz="1100" dirty="0" err="1">
                <a:solidFill>
                  <a:schemeClr val="accent5">
                    <a:lumMod val="75000"/>
                  </a:schemeClr>
                </a:solidFill>
                <a:latin typeface="Aptos "/>
                <a:cs typeface="Arial" pitchFamily="34" charset="-120"/>
              </a:rPr>
              <a:t>CoE</a:t>
            </a:r>
            <a:endParaRPr lang="en-US" sz="1100" dirty="0">
              <a:solidFill>
                <a:schemeClr val="accent5">
                  <a:lumMod val="75000"/>
                </a:schemeClr>
              </a:solidFill>
              <a:latin typeface="Aptos "/>
              <a:cs typeface="Arial" pitchFamily="34" charset="-120"/>
            </a:endParaRPr>
          </a:p>
          <a:p>
            <a:pPr marL="0" indent="0">
              <a:lnSpc>
                <a:spcPts val="1400"/>
              </a:lnSpc>
              <a:buFont typeface="Arial"/>
              <a:buNone/>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Outils</a:t>
            </a: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communs</a:t>
            </a:r>
            <a:endParaRPr lang="en-US" sz="1100" dirty="0">
              <a:solidFill>
                <a:schemeClr val="accent5">
                  <a:lumMod val="75000"/>
                </a:schemeClr>
              </a:solidFill>
              <a:latin typeface="Aptos "/>
              <a:cs typeface="Arial" pitchFamily="34" charset="-120"/>
            </a:endParaRPr>
          </a:p>
          <a:p>
            <a:pPr marL="0" indent="0">
              <a:lnSpc>
                <a:spcPts val="1400"/>
              </a:lnSpc>
              <a:buFont typeface="Arial"/>
              <a:buNone/>
            </a:pPr>
            <a:r>
              <a:rPr lang="en-US" sz="1100" dirty="0">
                <a:solidFill>
                  <a:schemeClr val="accent5">
                    <a:lumMod val="75000"/>
                  </a:schemeClr>
                </a:solidFill>
                <a:latin typeface="Aptos "/>
                <a:cs typeface="Arial" pitchFamily="34" charset="-120"/>
              </a:rPr>
              <a:t>• Déploiement 2–3 </a:t>
            </a:r>
            <a:r>
              <a:rPr lang="en-US" sz="1100" dirty="0" err="1">
                <a:solidFill>
                  <a:schemeClr val="accent5">
                    <a:lumMod val="75000"/>
                  </a:schemeClr>
                </a:solidFill>
                <a:latin typeface="Aptos "/>
                <a:cs typeface="Arial" pitchFamily="34" charset="-120"/>
              </a:rPr>
              <a:t>domaines</a:t>
            </a:r>
            <a:endParaRPr lang="en-US" sz="1100" dirty="0">
              <a:solidFill>
                <a:schemeClr val="accent5">
                  <a:lumMod val="75000"/>
                </a:schemeClr>
              </a:solidFill>
              <a:latin typeface="Aptos "/>
              <a:cs typeface="Arial" pitchFamily="34" charset="-120"/>
            </a:endParaRPr>
          </a:p>
        </p:txBody>
      </p:sp>
      <p:sp>
        <p:nvSpPr>
          <p:cNvPr id="32" name="Shape 24">
            <a:extLst>
              <a:ext uri="{FF2B5EF4-FFF2-40B4-BE49-F238E27FC236}">
                <a16:creationId xmlns:a16="http://schemas.microsoft.com/office/drawing/2014/main" id="{5E4906EC-A5A7-16DB-5119-B27E96BA37F5}"/>
              </a:ext>
            </a:extLst>
          </p:cNvPr>
          <p:cNvSpPr/>
          <p:nvPr/>
        </p:nvSpPr>
        <p:spPr>
          <a:xfrm>
            <a:off x="3379640" y="4052492"/>
            <a:ext cx="2377440" cy="457200"/>
          </a:xfrm>
          <a:prstGeom prst="rect">
            <a:avLst/>
          </a:prstGeom>
          <a:solidFill>
            <a:srgbClr val="FFFFFF"/>
          </a:solidFill>
          <a:ln w="19050">
            <a:solidFill>
              <a:srgbClr val="F59E0B"/>
            </a:solidFill>
            <a:prstDash val="solid"/>
          </a:ln>
        </p:spPr>
      </p:sp>
      <p:sp>
        <p:nvSpPr>
          <p:cNvPr id="33" name="Text 25">
            <a:extLst>
              <a:ext uri="{FF2B5EF4-FFF2-40B4-BE49-F238E27FC236}">
                <a16:creationId xmlns:a16="http://schemas.microsoft.com/office/drawing/2014/main" id="{9703709C-BD03-9DEF-F581-842A088349EB}"/>
              </a:ext>
            </a:extLst>
          </p:cNvPr>
          <p:cNvSpPr/>
          <p:nvPr/>
        </p:nvSpPr>
        <p:spPr>
          <a:xfrm>
            <a:off x="3471080" y="4098212"/>
            <a:ext cx="2194560" cy="137160"/>
          </a:xfrm>
          <a:prstGeom prst="rect">
            <a:avLst/>
          </a:prstGeom>
          <a:noFill/>
          <a:ln/>
        </p:spPr>
        <p:txBody>
          <a:bodyPr wrap="square" rtlCol="0" anchor="ctr"/>
          <a:lstStyle/>
          <a:p>
            <a:pPr marL="0" indent="0">
              <a:buNone/>
            </a:pPr>
            <a:r>
              <a:rPr lang="en-US" sz="1200" b="1" kern="0" spc="100" dirty="0">
                <a:solidFill>
                  <a:srgbClr val="F59E0B"/>
                </a:solidFill>
                <a:latin typeface="Aptos "/>
                <a:ea typeface="Arial" pitchFamily="34" charset="-122"/>
                <a:cs typeface="Arial" pitchFamily="34" charset="-120"/>
              </a:rPr>
              <a:t>RÉSULTAT</a:t>
            </a:r>
            <a:endParaRPr lang="en-US" sz="1200" dirty="0">
              <a:latin typeface="Aptos "/>
            </a:endParaRPr>
          </a:p>
        </p:txBody>
      </p:sp>
      <p:sp>
        <p:nvSpPr>
          <p:cNvPr id="34" name="Text 26">
            <a:extLst>
              <a:ext uri="{FF2B5EF4-FFF2-40B4-BE49-F238E27FC236}">
                <a16:creationId xmlns:a16="http://schemas.microsoft.com/office/drawing/2014/main" id="{FEC0A755-3C7A-51F1-FCE9-627E614D3D98}"/>
              </a:ext>
            </a:extLst>
          </p:cNvPr>
          <p:cNvSpPr/>
          <p:nvPr/>
        </p:nvSpPr>
        <p:spPr>
          <a:xfrm>
            <a:off x="347108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Preuve de valeur concrète</a:t>
            </a:r>
            <a:endParaRPr lang="en-US" sz="1100" dirty="0">
              <a:latin typeface="Aptos "/>
            </a:endParaRPr>
          </a:p>
        </p:txBody>
      </p:sp>
      <p:sp>
        <p:nvSpPr>
          <p:cNvPr id="35" name="Shape 27">
            <a:extLst>
              <a:ext uri="{FF2B5EF4-FFF2-40B4-BE49-F238E27FC236}">
                <a16:creationId xmlns:a16="http://schemas.microsoft.com/office/drawing/2014/main" id="{B7050E5D-7E92-44F1-48AA-C9091705E2AA}"/>
              </a:ext>
            </a:extLst>
          </p:cNvPr>
          <p:cNvSpPr/>
          <p:nvPr/>
        </p:nvSpPr>
        <p:spPr>
          <a:xfrm>
            <a:off x="6260000" y="852092"/>
            <a:ext cx="2743200" cy="3840480"/>
          </a:xfrm>
          <a:prstGeom prst="rect">
            <a:avLst/>
          </a:prstGeom>
          <a:solidFill>
            <a:srgbClr val="F8F9FA"/>
          </a:solidFill>
          <a:ln/>
        </p:spPr>
      </p:sp>
      <p:sp>
        <p:nvSpPr>
          <p:cNvPr id="36" name="Shape 28">
            <a:extLst>
              <a:ext uri="{FF2B5EF4-FFF2-40B4-BE49-F238E27FC236}">
                <a16:creationId xmlns:a16="http://schemas.microsoft.com/office/drawing/2014/main" id="{7B99058F-C510-3451-C85D-802131D08D1D}"/>
              </a:ext>
            </a:extLst>
          </p:cNvPr>
          <p:cNvSpPr/>
          <p:nvPr/>
        </p:nvSpPr>
        <p:spPr>
          <a:xfrm>
            <a:off x="6260000" y="852092"/>
            <a:ext cx="2743200" cy="73152"/>
          </a:xfrm>
          <a:prstGeom prst="rect">
            <a:avLst/>
          </a:prstGeom>
          <a:solidFill>
            <a:srgbClr val="8B5CF6"/>
          </a:solidFill>
          <a:ln/>
        </p:spPr>
      </p:sp>
      <p:pic>
        <p:nvPicPr>
          <p:cNvPr id="37" name="Image 2" descr="preencoded.png">
            <a:extLst>
              <a:ext uri="{FF2B5EF4-FFF2-40B4-BE49-F238E27FC236}">
                <a16:creationId xmlns:a16="http://schemas.microsoft.com/office/drawing/2014/main" id="{55EA6B72-4F2B-6666-753A-931E091FB0E8}"/>
              </a:ext>
            </a:extLst>
          </p:cNvPr>
          <p:cNvPicPr>
            <a:picLocks noChangeAspect="1"/>
          </p:cNvPicPr>
          <p:nvPr/>
        </p:nvPicPr>
        <p:blipFill>
          <a:blip r:embed="rId6"/>
          <a:stretch>
            <a:fillRect/>
          </a:stretch>
        </p:blipFill>
        <p:spPr>
          <a:xfrm>
            <a:off x="6442880" y="1034972"/>
            <a:ext cx="365760" cy="365760"/>
          </a:xfrm>
          <a:prstGeom prst="rect">
            <a:avLst/>
          </a:prstGeom>
        </p:spPr>
      </p:pic>
      <p:sp>
        <p:nvSpPr>
          <p:cNvPr id="38" name="Shape 29">
            <a:extLst>
              <a:ext uri="{FF2B5EF4-FFF2-40B4-BE49-F238E27FC236}">
                <a16:creationId xmlns:a16="http://schemas.microsoft.com/office/drawing/2014/main" id="{F7A175C7-6174-3160-D0CC-437DC735A6E8}"/>
              </a:ext>
            </a:extLst>
          </p:cNvPr>
          <p:cNvSpPr/>
          <p:nvPr/>
        </p:nvSpPr>
        <p:spPr>
          <a:xfrm>
            <a:off x="8454560" y="1034972"/>
            <a:ext cx="365760" cy="365760"/>
          </a:xfrm>
          <a:prstGeom prst="ellipse">
            <a:avLst/>
          </a:prstGeom>
          <a:solidFill>
            <a:srgbClr val="8B5CF6"/>
          </a:solidFill>
          <a:ln/>
        </p:spPr>
      </p:sp>
      <p:sp>
        <p:nvSpPr>
          <p:cNvPr id="39" name="Text 30">
            <a:extLst>
              <a:ext uri="{FF2B5EF4-FFF2-40B4-BE49-F238E27FC236}">
                <a16:creationId xmlns:a16="http://schemas.microsoft.com/office/drawing/2014/main" id="{EE2597AD-13E5-DBCB-F7E4-95D5867C8669}"/>
              </a:ext>
            </a:extLst>
          </p:cNvPr>
          <p:cNvSpPr/>
          <p:nvPr/>
        </p:nvSpPr>
        <p:spPr>
          <a:xfrm>
            <a:off x="8454560" y="1034972"/>
            <a:ext cx="365760" cy="365760"/>
          </a:xfrm>
          <a:prstGeom prst="rect">
            <a:avLst/>
          </a:prstGeom>
          <a:noFill/>
          <a:ln/>
        </p:spPr>
        <p:txBody>
          <a:bodyPr wrap="square" rtlCol="0" anchor="ctr"/>
          <a:lstStyle/>
          <a:p>
            <a:pPr marL="0" indent="0" algn="ctr">
              <a:buNone/>
            </a:pPr>
            <a:r>
              <a:rPr lang="en-US" sz="2000" b="1" dirty="0">
                <a:solidFill>
                  <a:srgbClr val="FFFFFF"/>
                </a:solidFill>
                <a:latin typeface="Aptos "/>
              </a:rPr>
              <a:t>3</a:t>
            </a:r>
            <a:endParaRPr lang="en-US" sz="2000" dirty="0">
              <a:latin typeface="Aptos "/>
            </a:endParaRPr>
          </a:p>
        </p:txBody>
      </p:sp>
      <p:sp>
        <p:nvSpPr>
          <p:cNvPr id="40" name="Text 31">
            <a:extLst>
              <a:ext uri="{FF2B5EF4-FFF2-40B4-BE49-F238E27FC236}">
                <a16:creationId xmlns:a16="http://schemas.microsoft.com/office/drawing/2014/main" id="{E1CC957F-F020-89AA-80F2-8D2256F99B6E}"/>
              </a:ext>
            </a:extLst>
          </p:cNvPr>
          <p:cNvSpPr/>
          <p:nvPr/>
        </p:nvSpPr>
        <p:spPr>
          <a:xfrm>
            <a:off x="6259189" y="1569781"/>
            <a:ext cx="2743200" cy="274320"/>
          </a:xfrm>
          <a:prstGeom prst="rect">
            <a:avLst/>
          </a:prstGeom>
          <a:noFill/>
          <a:ln/>
        </p:spPr>
        <p:txBody>
          <a:bodyPr wrap="square" rtlCol="0" anchor="ctr"/>
          <a:lstStyle/>
          <a:p>
            <a:pPr marL="0" indent="0">
              <a:buFont typeface="Arial"/>
              <a:buNone/>
            </a:pPr>
            <a:r>
              <a:rPr lang="en-US" sz="1500" b="1" dirty="0">
                <a:solidFill>
                  <a:srgbClr val="000000">
                    <a:lumMod val="65000"/>
                    <a:lumOff val="35000"/>
                  </a:srgbClr>
                </a:solidFill>
                <a:latin typeface="Aptos" panose="020B0004020202020204" pitchFamily="34" charset="0"/>
                <a:ea typeface="Inter"/>
              </a:rPr>
              <a:t>Déploiement &amp; </a:t>
            </a:r>
            <a:r>
              <a:rPr lang="en-US" sz="1500" b="1" dirty="0" err="1">
                <a:solidFill>
                  <a:srgbClr val="000000">
                    <a:lumMod val="65000"/>
                    <a:lumOff val="35000"/>
                  </a:srgbClr>
                </a:solidFill>
                <a:latin typeface="Aptos" panose="020B0004020202020204" pitchFamily="34" charset="0"/>
                <a:ea typeface="Inter"/>
              </a:rPr>
              <a:t>Pérennisation</a:t>
            </a:r>
            <a:endParaRPr lang="en-US" sz="1500" b="1" dirty="0">
              <a:solidFill>
                <a:srgbClr val="000000">
                  <a:lumMod val="65000"/>
                  <a:lumOff val="35000"/>
                </a:srgbClr>
              </a:solidFill>
              <a:latin typeface="Aptos" panose="020B0004020202020204" pitchFamily="34" charset="0"/>
              <a:ea typeface="Inter"/>
            </a:endParaRPr>
          </a:p>
        </p:txBody>
      </p:sp>
      <p:sp>
        <p:nvSpPr>
          <p:cNvPr id="41" name="Text 32">
            <a:extLst>
              <a:ext uri="{FF2B5EF4-FFF2-40B4-BE49-F238E27FC236}">
                <a16:creationId xmlns:a16="http://schemas.microsoft.com/office/drawing/2014/main" id="{7CE99762-2041-08CF-1005-C12916618D5C}"/>
              </a:ext>
            </a:extLst>
          </p:cNvPr>
          <p:cNvSpPr/>
          <p:nvPr/>
        </p:nvSpPr>
        <p:spPr>
          <a:xfrm>
            <a:off x="6441252" y="1823524"/>
            <a:ext cx="2377440" cy="182880"/>
          </a:xfrm>
          <a:prstGeom prst="rect">
            <a:avLst/>
          </a:prstGeom>
          <a:noFill/>
          <a:ln/>
        </p:spPr>
        <p:txBody>
          <a:bodyPr wrap="square" rtlCol="0" anchor="ctr"/>
          <a:lstStyle/>
          <a:p>
            <a:pPr marL="0" indent="0">
              <a:buFont typeface="Arial"/>
              <a:buNone/>
            </a:pPr>
            <a:r>
              <a:rPr lang="en-US" sz="1100" dirty="0">
                <a:solidFill>
                  <a:srgbClr val="000000">
                    <a:lumMod val="65000"/>
                    <a:lumOff val="35000"/>
                  </a:srgbClr>
                </a:solidFill>
                <a:latin typeface="Aptos" panose="020B0004020202020204" pitchFamily="34" charset="0"/>
              </a:rPr>
              <a:t>Mois 9+</a:t>
            </a:r>
          </a:p>
        </p:txBody>
      </p:sp>
      <p:sp>
        <p:nvSpPr>
          <p:cNvPr id="42" name="Text 33">
            <a:extLst>
              <a:ext uri="{FF2B5EF4-FFF2-40B4-BE49-F238E27FC236}">
                <a16:creationId xmlns:a16="http://schemas.microsoft.com/office/drawing/2014/main" id="{E21ECDF6-EA83-54CE-3F87-F36D59224451}"/>
              </a:ext>
            </a:extLst>
          </p:cNvPr>
          <p:cNvSpPr/>
          <p:nvPr/>
        </p:nvSpPr>
        <p:spPr>
          <a:xfrm>
            <a:off x="6442880" y="2132252"/>
            <a:ext cx="2377440" cy="18288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OBJECTIF</a:t>
            </a:r>
            <a:endParaRPr lang="en-US" sz="1200" dirty="0">
              <a:latin typeface="Aptos "/>
            </a:endParaRPr>
          </a:p>
        </p:txBody>
      </p:sp>
      <p:sp>
        <p:nvSpPr>
          <p:cNvPr id="43" name="Text 34">
            <a:extLst>
              <a:ext uri="{FF2B5EF4-FFF2-40B4-BE49-F238E27FC236}">
                <a16:creationId xmlns:a16="http://schemas.microsoft.com/office/drawing/2014/main" id="{A3D9C4F1-8D2E-71E7-1491-C880F6570EFA}"/>
              </a:ext>
            </a:extLst>
          </p:cNvPr>
          <p:cNvSpPr/>
          <p:nvPr/>
        </p:nvSpPr>
        <p:spPr>
          <a:xfrm>
            <a:off x="6442880" y="2360852"/>
            <a:ext cx="2377440" cy="548640"/>
          </a:xfrm>
          <a:prstGeom prst="rect">
            <a:avLst/>
          </a:prstGeom>
          <a:noFill/>
          <a:ln/>
        </p:spPr>
        <p:txBody>
          <a:bodyPr wrap="square" rtlCol="0" anchor="ctr"/>
          <a:lstStyle/>
          <a:p>
            <a:pPr marL="0" indent="0">
              <a:lnSpc>
                <a:spcPts val="1400"/>
              </a:lnSpc>
              <a:buNone/>
            </a:pPr>
            <a:r>
              <a:rPr lang="en-US" sz="1100" dirty="0">
                <a:solidFill>
                  <a:schemeClr val="accent5">
                    <a:lumMod val="75000"/>
                  </a:schemeClr>
                </a:solidFill>
                <a:latin typeface="Aptos "/>
                <a:cs typeface="Arial" pitchFamily="34" charset="-120"/>
              </a:rPr>
              <a:t>• Étendre à </a:t>
            </a:r>
            <a:r>
              <a:rPr lang="en-US" sz="1100" dirty="0" err="1">
                <a:solidFill>
                  <a:schemeClr val="accent5">
                    <a:lumMod val="75000"/>
                  </a:schemeClr>
                </a:solidFill>
                <a:latin typeface="Aptos "/>
                <a:cs typeface="Arial" pitchFamily="34" charset="-120"/>
              </a:rPr>
              <a:t>l'échelle</a:t>
            </a:r>
            <a:endParaRPr lang="en-US" sz="1100" dirty="0">
              <a:solidFill>
                <a:schemeClr val="accent5">
                  <a:lumMod val="75000"/>
                </a:schemeClr>
              </a:solidFill>
              <a:latin typeface="Aptos "/>
              <a:cs typeface="Arial" pitchFamily="34" charset="-120"/>
            </a:endParaRPr>
          </a:p>
          <a:p>
            <a:pPr marL="0" indent="0">
              <a:lnSpc>
                <a:spcPts val="1400"/>
              </a:lnSpc>
              <a:buNone/>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Amélioration</a:t>
            </a:r>
            <a:r>
              <a:rPr lang="en-US" sz="1100" dirty="0">
                <a:solidFill>
                  <a:schemeClr val="accent5">
                    <a:lumMod val="75000"/>
                  </a:schemeClr>
                </a:solidFill>
                <a:latin typeface="Aptos "/>
                <a:cs typeface="Arial" pitchFamily="34" charset="-120"/>
              </a:rPr>
              <a:t> continue</a:t>
            </a:r>
          </a:p>
        </p:txBody>
      </p:sp>
      <p:sp>
        <p:nvSpPr>
          <p:cNvPr id="44" name="Text 35">
            <a:extLst>
              <a:ext uri="{FF2B5EF4-FFF2-40B4-BE49-F238E27FC236}">
                <a16:creationId xmlns:a16="http://schemas.microsoft.com/office/drawing/2014/main" id="{5DD0E12A-5106-86CE-7501-ED4C3F9FBCAF}"/>
              </a:ext>
            </a:extLst>
          </p:cNvPr>
          <p:cNvSpPr/>
          <p:nvPr/>
        </p:nvSpPr>
        <p:spPr>
          <a:xfrm>
            <a:off x="6442880" y="3000932"/>
            <a:ext cx="2377440" cy="18288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ACTIONS</a:t>
            </a:r>
            <a:endParaRPr lang="en-US" sz="1200" dirty="0">
              <a:latin typeface="Aptos "/>
            </a:endParaRPr>
          </a:p>
        </p:txBody>
      </p:sp>
      <p:sp>
        <p:nvSpPr>
          <p:cNvPr id="45" name="Text 36">
            <a:extLst>
              <a:ext uri="{FF2B5EF4-FFF2-40B4-BE49-F238E27FC236}">
                <a16:creationId xmlns:a16="http://schemas.microsoft.com/office/drawing/2014/main" id="{EC771050-EB4D-9323-7057-FC8470F6F6BC}"/>
              </a:ext>
            </a:extLst>
          </p:cNvPr>
          <p:cNvSpPr/>
          <p:nvPr/>
        </p:nvSpPr>
        <p:spPr>
          <a:xfrm>
            <a:off x="6442880" y="3229532"/>
            <a:ext cx="2377440" cy="640080"/>
          </a:xfrm>
          <a:prstGeom prst="rect">
            <a:avLst/>
          </a:prstGeom>
          <a:noFill/>
          <a:ln/>
        </p:spPr>
        <p:txBody>
          <a:bodyPr wrap="square" rtlCol="0" anchor="ctr"/>
          <a:lstStyle/>
          <a:p>
            <a:pPr>
              <a:lnSpc>
                <a:spcPts val="1400"/>
              </a:lnSpc>
            </a:pPr>
            <a:r>
              <a:rPr lang="en-US" sz="1100" dirty="0">
                <a:solidFill>
                  <a:schemeClr val="accent5">
                    <a:lumMod val="75000"/>
                  </a:schemeClr>
                </a:solidFill>
                <a:latin typeface="Aptos "/>
                <a:cs typeface="Arial" pitchFamily="34" charset="-120"/>
              </a:rPr>
              <a:t>• Extension </a:t>
            </a:r>
            <a:r>
              <a:rPr lang="en-US" sz="1100" dirty="0" err="1">
                <a:solidFill>
                  <a:schemeClr val="accent5">
                    <a:lumMod val="75000"/>
                  </a:schemeClr>
                </a:solidFill>
                <a:latin typeface="Aptos "/>
                <a:cs typeface="Arial" pitchFamily="34" charset="-120"/>
              </a:rPr>
              <a:t>tous</a:t>
            </a: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domaines</a:t>
            </a:r>
            <a:endParaRPr lang="en-US" sz="1100" dirty="0">
              <a:solidFill>
                <a:schemeClr val="accent5">
                  <a:lumMod val="75000"/>
                </a:schemeClr>
              </a:solidFill>
              <a:latin typeface="Aptos "/>
              <a:cs typeface="Arial" pitchFamily="34" charset="-120"/>
            </a:endParaRPr>
          </a:p>
          <a:p>
            <a:pPr>
              <a:lnSpc>
                <a:spcPts val="1400"/>
              </a:lnSpc>
            </a:pPr>
            <a:r>
              <a:rPr lang="en-US" sz="1100" dirty="0">
                <a:solidFill>
                  <a:schemeClr val="accent5">
                    <a:lumMod val="75000"/>
                  </a:schemeClr>
                </a:solidFill>
                <a:latin typeface="Aptos "/>
                <a:cs typeface="Arial" pitchFamily="34" charset="-120"/>
              </a:rPr>
              <a:t>• </a:t>
            </a:r>
            <a:r>
              <a:rPr lang="en-US" sz="1100" dirty="0" err="1">
                <a:solidFill>
                  <a:schemeClr val="accent5">
                    <a:lumMod val="75000"/>
                  </a:schemeClr>
                </a:solidFill>
                <a:latin typeface="Aptos "/>
                <a:cs typeface="Arial" pitchFamily="34" charset="-120"/>
              </a:rPr>
              <a:t>Harmonisation</a:t>
            </a:r>
            <a:r>
              <a:rPr lang="en-US" sz="1100" dirty="0">
                <a:solidFill>
                  <a:schemeClr val="accent5">
                    <a:lumMod val="75000"/>
                  </a:schemeClr>
                </a:solidFill>
                <a:latin typeface="Aptos "/>
                <a:cs typeface="Arial" pitchFamily="34" charset="-120"/>
              </a:rPr>
              <a:t> KPI</a:t>
            </a:r>
          </a:p>
          <a:p>
            <a:pPr>
              <a:lnSpc>
                <a:spcPts val="1400"/>
              </a:lnSpc>
            </a:pPr>
            <a:r>
              <a:rPr lang="en-US" sz="1100" dirty="0">
                <a:solidFill>
                  <a:schemeClr val="accent5">
                    <a:lumMod val="75000"/>
                  </a:schemeClr>
                </a:solidFill>
                <a:latin typeface="Aptos "/>
                <a:cs typeface="Arial" pitchFamily="34" charset="-120"/>
              </a:rPr>
              <a:t>• Audits &amp; </a:t>
            </a:r>
            <a:r>
              <a:rPr lang="en-US" sz="1100" dirty="0" err="1">
                <a:solidFill>
                  <a:schemeClr val="accent5">
                    <a:lumMod val="75000"/>
                  </a:schemeClr>
                </a:solidFill>
                <a:latin typeface="Aptos "/>
                <a:cs typeface="Arial" pitchFamily="34" charset="-120"/>
              </a:rPr>
              <a:t>mesure</a:t>
            </a:r>
            <a:r>
              <a:rPr lang="en-US" sz="1100" dirty="0">
                <a:solidFill>
                  <a:schemeClr val="accent5">
                    <a:lumMod val="75000"/>
                  </a:schemeClr>
                </a:solidFill>
                <a:latin typeface="Aptos "/>
                <a:cs typeface="Arial" pitchFamily="34" charset="-120"/>
              </a:rPr>
              <a:t> continue</a:t>
            </a:r>
          </a:p>
        </p:txBody>
      </p:sp>
      <p:sp>
        <p:nvSpPr>
          <p:cNvPr id="46" name="Shape 37">
            <a:extLst>
              <a:ext uri="{FF2B5EF4-FFF2-40B4-BE49-F238E27FC236}">
                <a16:creationId xmlns:a16="http://schemas.microsoft.com/office/drawing/2014/main" id="{748BAA31-D2AE-6A59-9AE3-4AAD525BC9B1}"/>
              </a:ext>
            </a:extLst>
          </p:cNvPr>
          <p:cNvSpPr/>
          <p:nvPr/>
        </p:nvSpPr>
        <p:spPr>
          <a:xfrm>
            <a:off x="6442880" y="4052492"/>
            <a:ext cx="2377440" cy="457200"/>
          </a:xfrm>
          <a:prstGeom prst="rect">
            <a:avLst/>
          </a:prstGeom>
          <a:solidFill>
            <a:srgbClr val="FFFFFF"/>
          </a:solidFill>
          <a:ln w="19050">
            <a:solidFill>
              <a:srgbClr val="8B5CF6"/>
            </a:solidFill>
            <a:prstDash val="solid"/>
          </a:ln>
        </p:spPr>
      </p:sp>
      <p:sp>
        <p:nvSpPr>
          <p:cNvPr id="47" name="Text 38">
            <a:extLst>
              <a:ext uri="{FF2B5EF4-FFF2-40B4-BE49-F238E27FC236}">
                <a16:creationId xmlns:a16="http://schemas.microsoft.com/office/drawing/2014/main" id="{B0A7BFF2-2FC4-708F-3AFD-547F5A3F90E8}"/>
              </a:ext>
            </a:extLst>
          </p:cNvPr>
          <p:cNvSpPr/>
          <p:nvPr/>
        </p:nvSpPr>
        <p:spPr>
          <a:xfrm>
            <a:off x="6534320" y="4098212"/>
            <a:ext cx="2194560" cy="137160"/>
          </a:xfrm>
          <a:prstGeom prst="rect">
            <a:avLst/>
          </a:prstGeom>
          <a:noFill/>
          <a:ln/>
        </p:spPr>
        <p:txBody>
          <a:bodyPr wrap="square" rtlCol="0" anchor="ctr"/>
          <a:lstStyle/>
          <a:p>
            <a:pPr marL="0" indent="0">
              <a:buNone/>
            </a:pPr>
            <a:r>
              <a:rPr lang="en-US" sz="1200" b="1" kern="0" spc="100" dirty="0">
                <a:solidFill>
                  <a:srgbClr val="8B5CF6"/>
                </a:solidFill>
                <a:latin typeface="Aptos "/>
                <a:ea typeface="Arial" pitchFamily="34" charset="-122"/>
                <a:cs typeface="Arial" pitchFamily="34" charset="-120"/>
              </a:rPr>
              <a:t>RÉSULTAT</a:t>
            </a:r>
            <a:endParaRPr lang="en-US" sz="1200" dirty="0">
              <a:latin typeface="Aptos "/>
            </a:endParaRPr>
          </a:p>
        </p:txBody>
      </p:sp>
      <p:sp>
        <p:nvSpPr>
          <p:cNvPr id="48" name="Text 39">
            <a:extLst>
              <a:ext uri="{FF2B5EF4-FFF2-40B4-BE49-F238E27FC236}">
                <a16:creationId xmlns:a16="http://schemas.microsoft.com/office/drawing/2014/main" id="{9BC75EF4-91D3-D688-760A-F5609F27E092}"/>
              </a:ext>
            </a:extLst>
          </p:cNvPr>
          <p:cNvSpPr/>
          <p:nvPr/>
        </p:nvSpPr>
        <p:spPr>
          <a:xfrm>
            <a:off x="6534320" y="4262804"/>
            <a:ext cx="2194560" cy="228600"/>
          </a:xfrm>
          <a:prstGeom prst="rect">
            <a:avLst/>
          </a:prstGeom>
          <a:noFill/>
          <a:ln/>
        </p:spPr>
        <p:txBody>
          <a:bodyPr wrap="square" rtlCol="0" anchor="ctr"/>
          <a:lstStyle/>
          <a:p>
            <a:pPr marL="0" indent="0">
              <a:buNone/>
            </a:pPr>
            <a:r>
              <a:rPr lang="en-US" sz="1100" b="1" dirty="0">
                <a:solidFill>
                  <a:srgbClr val="1A1A1A"/>
                </a:solidFill>
                <a:latin typeface="Aptos "/>
                <a:ea typeface="Arial" pitchFamily="34" charset="-122"/>
                <a:cs typeface="Arial" pitchFamily="34" charset="-120"/>
              </a:rPr>
              <a:t>Maturité data à l'échelle</a:t>
            </a:r>
            <a:endParaRPr lang="en-US" sz="1100" dirty="0">
              <a:latin typeface="Aptos "/>
            </a:endParaRPr>
          </a:p>
        </p:txBody>
      </p:sp>
      <p:sp>
        <p:nvSpPr>
          <p:cNvPr id="4" name="ZoneTexte 3">
            <a:extLst>
              <a:ext uri="{FF2B5EF4-FFF2-40B4-BE49-F238E27FC236}">
                <a16:creationId xmlns:a16="http://schemas.microsoft.com/office/drawing/2014/main" id="{75D2160F-11ED-3DA0-B554-A8268290EB4C}"/>
              </a:ext>
            </a:extLst>
          </p:cNvPr>
          <p:cNvSpPr txBox="1"/>
          <p:nvPr/>
        </p:nvSpPr>
        <p:spPr>
          <a:xfrm>
            <a:off x="7408476" y="4757292"/>
            <a:ext cx="2092168" cy="400110"/>
          </a:xfrm>
          <a:prstGeom prst="rect">
            <a:avLst/>
          </a:prstGeom>
          <a:noFill/>
        </p:spPr>
        <p:txBody>
          <a:bodyPr wrap="square" rtlCol="0">
            <a:spAutoFit/>
          </a:bodyPr>
          <a:lstStyle/>
          <a:p>
            <a:pPr marL="285750" indent="-285750">
              <a:buFont typeface="Wingdings" panose="05000000000000000000" pitchFamily="2" charset="2"/>
              <a:buChar char="ü"/>
            </a:pPr>
            <a:r>
              <a:rPr lang="fr-FR" sz="1000" dirty="0">
                <a:solidFill>
                  <a:schemeClr val="tx1">
                    <a:lumMod val="65000"/>
                    <a:lumOff val="35000"/>
                  </a:schemeClr>
                </a:solidFill>
                <a:latin typeface="Aptos" panose="020B0004020202020204" pitchFamily="34" charset="0"/>
                <a:ea typeface="Inter"/>
                <a:hlinkClick r:id="rId7"/>
              </a:rPr>
              <a:t>Lien vers le plan d’implémentation</a:t>
            </a:r>
            <a:endParaRPr lang="fr-FR" sz="1000" dirty="0">
              <a:solidFill>
                <a:schemeClr val="tx1">
                  <a:lumMod val="65000"/>
                  <a:lumOff val="35000"/>
                </a:schemeClr>
              </a:solidFill>
              <a:latin typeface="Aptos" panose="020B0004020202020204" pitchFamily="34" charset="0"/>
              <a:ea typeface="Inter"/>
            </a:endParaRPr>
          </a:p>
        </p:txBody>
      </p:sp>
    </p:spTree>
    <p:extLst>
      <p:ext uri="{BB962C8B-B14F-4D97-AF65-F5344CB8AC3E}">
        <p14:creationId xmlns:p14="http://schemas.microsoft.com/office/powerpoint/2010/main" val="2318426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358971" y="1621844"/>
            <a:ext cx="6592218" cy="103006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5600" b="1" dirty="0">
                <a:solidFill>
                  <a:srgbClr val="0E3449"/>
                </a:solidFill>
                <a:latin typeface="Aptos" panose="020B0004020202020204" pitchFamily="34" charset="0"/>
                <a:ea typeface="Inter"/>
                <a:cs typeface="Inter"/>
                <a:sym typeface="Inter"/>
              </a:rPr>
              <a:t>Temps d’échange</a:t>
            </a:r>
            <a:endParaRPr sz="5600" b="1" dirty="0">
              <a:solidFill>
                <a:srgbClr val="0E3449"/>
              </a:solidFill>
              <a:latin typeface="Aptos" panose="020B0004020202020204" pitchFamily="34" charset="0"/>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pic>
        <p:nvPicPr>
          <p:cNvPr id="2" name="Google Shape;56;p13">
            <a:extLst>
              <a:ext uri="{FF2B5EF4-FFF2-40B4-BE49-F238E27FC236}">
                <a16:creationId xmlns:a16="http://schemas.microsoft.com/office/drawing/2014/main" id="{63257B83-5FC2-0173-AC28-A87C9F40D8A7}"/>
              </a:ext>
            </a:extLst>
          </p:cNvPr>
          <p:cNvPicPr preferRelativeResize="0"/>
          <p:nvPr/>
        </p:nvPicPr>
        <p:blipFill>
          <a:blip r:embed="rId4">
            <a:alphaModFix/>
          </a:blip>
          <a:stretch>
            <a:fillRect/>
          </a:stretch>
        </p:blipFill>
        <p:spPr>
          <a:xfrm>
            <a:off x="76200" y="90544"/>
            <a:ext cx="973275" cy="6510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2100</Words>
  <Application>Microsoft Office PowerPoint</Application>
  <PresentationFormat>Affichage à l'écran (16:9)</PresentationFormat>
  <Paragraphs>200</Paragraphs>
  <Slides>14</Slides>
  <Notes>14</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14</vt:i4>
      </vt:variant>
    </vt:vector>
  </HeadingPairs>
  <TitlesOfParts>
    <vt:vector size="21" baseType="lpstr">
      <vt:lpstr>Aptos</vt:lpstr>
      <vt:lpstr>Wingdings</vt:lpstr>
      <vt:lpstr>Courier New</vt:lpstr>
      <vt:lpstr>Arial</vt:lpstr>
      <vt:lpstr>Aptos </vt:lpstr>
      <vt:lpstr>Simple Light</vt:lpstr>
      <vt:lpstr>Worksheet</vt:lpstr>
      <vt:lpstr>Projet</vt:lpstr>
      <vt:lpstr>Contexte du projet</vt:lpstr>
      <vt:lpstr>Présentation des 3 étapes du projet</vt:lpstr>
      <vt:lpstr>Partie 1 - Diagnostic &amp; cadrage:  Niveau de maturité Spotify</vt:lpstr>
      <vt:lpstr>Partie 1 - Diagnostic &amp; cadrage:  Infrastructure Technique &amp; Flux de Données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Temps d’échange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david jaoui</dc:creator>
  <cp:lastModifiedBy>david jaoui</cp:lastModifiedBy>
  <cp:revision>57</cp:revision>
  <dcterms:modified xsi:type="dcterms:W3CDTF">2026-02-26T13:40:20Z</dcterms:modified>
</cp:coreProperties>
</file>