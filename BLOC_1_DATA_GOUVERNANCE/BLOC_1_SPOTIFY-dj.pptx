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5"/>
  </p:notesMasterIdLst>
  <p:sldIdLst>
    <p:sldId id="256" r:id="rId2"/>
    <p:sldId id="281" r:id="rId3"/>
    <p:sldId id="274" r:id="rId4"/>
    <p:sldId id="288" r:id="rId5"/>
    <p:sldId id="264" r:id="rId6"/>
    <p:sldId id="276" r:id="rId7"/>
    <p:sldId id="277" r:id="rId8"/>
    <p:sldId id="278" r:id="rId9"/>
    <p:sldId id="279" r:id="rId10"/>
    <p:sldId id="261" r:id="rId11"/>
    <p:sldId id="284" r:id="rId12"/>
    <p:sldId id="287" r:id="rId13"/>
    <p:sldId id="262" r:id="rId1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D25D"/>
    <a:srgbClr val="7248F8"/>
    <a:srgbClr val="C3FFFC"/>
    <a:srgbClr val="3FDA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850" autoAdjust="0"/>
  </p:normalViewPr>
  <p:slideViewPr>
    <p:cSldViewPr snapToGrid="0">
      <p:cViewPr varScale="1">
        <p:scale>
          <a:sx n="108" d="100"/>
          <a:sy n="108" d="100"/>
        </p:scale>
        <p:origin x="1704" y="10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77af7a6af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77af7a6af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a:extLst>
            <a:ext uri="{FF2B5EF4-FFF2-40B4-BE49-F238E27FC236}">
              <a16:creationId xmlns:a16="http://schemas.microsoft.com/office/drawing/2014/main" id="{2C04B894-06F1-570C-D71A-B0EC1204D3A2}"/>
            </a:ext>
          </a:extLst>
        </p:cNvPr>
        <p:cNvGrpSpPr/>
        <p:nvPr/>
      </p:nvGrpSpPr>
      <p:grpSpPr>
        <a:xfrm>
          <a:off x="0" y="0"/>
          <a:ext cx="0" cy="0"/>
          <a:chOff x="0" y="0"/>
          <a:chExt cx="0" cy="0"/>
        </a:xfrm>
      </p:grpSpPr>
      <p:sp>
        <p:nvSpPr>
          <p:cNvPr id="78" name="Google Shape;78;gf4f11f959e_0_5:notes">
            <a:extLst>
              <a:ext uri="{FF2B5EF4-FFF2-40B4-BE49-F238E27FC236}">
                <a16:creationId xmlns:a16="http://schemas.microsoft.com/office/drawing/2014/main" id="{8A2E5CE2-2C3A-6EED-91E5-EB22A77E19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 name="Google Shape;79;gf4f11f959e_0_5:notes">
            <a:extLst>
              <a:ext uri="{FF2B5EF4-FFF2-40B4-BE49-F238E27FC236}">
                <a16:creationId xmlns:a16="http://schemas.microsoft.com/office/drawing/2014/main" id="{22D90CC6-B9E3-C944-00A3-323DB7172F2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fr-FR" dirty="0"/>
              <a:t>Spotify est une plateforme mondiale fortement orientée produit et data, qui exploite des volumes massifs de données utilisateurs en temps réel. </a:t>
            </a:r>
          </a:p>
          <a:p>
            <a:pPr marL="0" lvl="0" indent="0" algn="l" rtl="0">
              <a:lnSpc>
                <a:spcPct val="100000"/>
              </a:lnSpc>
              <a:spcBef>
                <a:spcPts val="0"/>
              </a:spcBef>
              <a:spcAft>
                <a:spcPts val="0"/>
              </a:spcAft>
              <a:buSzPts val="1100"/>
              <a:buNone/>
            </a:pPr>
            <a:r>
              <a:rPr lang="fr-FR" dirty="0"/>
              <a:t>Cette donnée est essentielle à la personnalisation, à la recommandation et à la prise de décision.</a:t>
            </a:r>
          </a:p>
          <a:p>
            <a:pPr marL="0" lvl="0" indent="0" algn="l" rtl="0">
              <a:lnSpc>
                <a:spcPct val="100000"/>
              </a:lnSpc>
              <a:spcBef>
                <a:spcPts val="0"/>
              </a:spcBef>
              <a:spcAft>
                <a:spcPts val="0"/>
              </a:spcAft>
              <a:buSzPts val="1100"/>
              <a:buNone/>
            </a:pPr>
            <a:r>
              <a:rPr lang="fr-FR" dirty="0"/>
              <a:t> Toutefois, elle reste aujourd’hui fragmentée entre équipes et régions, avec des pratiques hétérogènes </a:t>
            </a:r>
          </a:p>
          <a:p>
            <a:pPr marL="0" lvl="0" indent="0" algn="l" rtl="0">
              <a:lnSpc>
                <a:spcPct val="100000"/>
              </a:lnSpc>
              <a:spcBef>
                <a:spcPts val="0"/>
              </a:spcBef>
              <a:spcAft>
                <a:spcPts val="0"/>
              </a:spcAft>
              <a:buSzPts val="1100"/>
              <a:buNone/>
            </a:pPr>
            <a:r>
              <a:rPr lang="fr-FR" dirty="0"/>
              <a:t>en matière de gouvernance, de qualité et de conformité, ce qui limite la cohérence globale.</a:t>
            </a:r>
          </a:p>
          <a:p>
            <a:pPr marL="0" lvl="0" indent="0" algn="l" rtl="0">
              <a:lnSpc>
                <a:spcPct val="100000"/>
              </a:lnSpc>
              <a:spcBef>
                <a:spcPts val="0"/>
              </a:spcBef>
              <a:spcAft>
                <a:spcPts val="0"/>
              </a:spcAft>
              <a:buSzPts val="1100"/>
              <a:buNone/>
            </a:pPr>
            <a:endParaRPr lang="fr-FR" dirty="0"/>
          </a:p>
          <a:p>
            <a:pPr marL="0" lvl="0" indent="0" algn="l" rtl="0">
              <a:lnSpc>
                <a:spcPct val="100000"/>
              </a:lnSpc>
              <a:spcBef>
                <a:spcPts val="0"/>
              </a:spcBef>
              <a:spcAft>
                <a:spcPts val="0"/>
              </a:spcAft>
              <a:buSzPts val="1100"/>
              <a:buNone/>
            </a:pPr>
            <a:r>
              <a:rPr lang="fr-FR" dirty="0"/>
              <a:t>L’objectif du projet est de structurer une gouvernance data globale permettant de garantir</a:t>
            </a:r>
          </a:p>
          <a:p>
            <a:pPr marL="0" lvl="0" indent="0" algn="l" rtl="0">
              <a:lnSpc>
                <a:spcPct val="100000"/>
              </a:lnSpc>
              <a:spcBef>
                <a:spcPts val="0"/>
              </a:spcBef>
              <a:spcAft>
                <a:spcPts val="0"/>
              </a:spcAft>
              <a:buSzPts val="1100"/>
              <a:buNone/>
            </a:pPr>
            <a:r>
              <a:rPr lang="fr-FR" dirty="0"/>
              <a:t> la fiabilité, la cohérence et la conformité des données, </a:t>
            </a:r>
          </a:p>
          <a:p>
            <a:pPr marL="0" lvl="0" indent="0" algn="l" rtl="0">
              <a:lnSpc>
                <a:spcPct val="100000"/>
              </a:lnSpc>
              <a:spcBef>
                <a:spcPts val="0"/>
              </a:spcBef>
              <a:spcAft>
                <a:spcPts val="0"/>
              </a:spcAft>
              <a:buSzPts val="1100"/>
              <a:buNone/>
            </a:pPr>
            <a:r>
              <a:rPr lang="fr-FR" dirty="0"/>
              <a:t>tout en préservant l’agilité des équipes produit.</a:t>
            </a:r>
          </a:p>
          <a:p>
            <a:pPr marL="0" lvl="0" indent="0" algn="l" rtl="0">
              <a:lnSpc>
                <a:spcPct val="100000"/>
              </a:lnSpc>
              <a:spcBef>
                <a:spcPts val="0"/>
              </a:spcBef>
              <a:spcAft>
                <a:spcPts val="0"/>
              </a:spcAft>
              <a:buSzPts val="1100"/>
              <a:buNone/>
            </a:pPr>
            <a:endParaRPr lang="fr-FR" dirty="0"/>
          </a:p>
          <a:p>
            <a:pPr marL="0" lvl="0" indent="0" algn="l" rtl="0">
              <a:lnSpc>
                <a:spcPct val="100000"/>
              </a:lnSpc>
              <a:spcBef>
                <a:spcPts val="0"/>
              </a:spcBef>
              <a:spcAft>
                <a:spcPts val="0"/>
              </a:spcAft>
              <a:buSzPts val="1100"/>
              <a:buNone/>
            </a:pPr>
            <a:r>
              <a:rPr lang="fr-FR" dirty="0"/>
              <a:t> La mise en place d’un Data Center of Excellence vise à transformer la donnée en un levier de valeur business durable à l’échelle de Spotify.</a:t>
            </a: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7927916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a:extLst>
            <a:ext uri="{FF2B5EF4-FFF2-40B4-BE49-F238E27FC236}">
              <a16:creationId xmlns:a16="http://schemas.microsoft.com/office/drawing/2014/main" id="{2C04B894-06F1-570C-D71A-B0EC1204D3A2}"/>
            </a:ext>
          </a:extLst>
        </p:cNvPr>
        <p:cNvGrpSpPr/>
        <p:nvPr/>
      </p:nvGrpSpPr>
      <p:grpSpPr>
        <a:xfrm>
          <a:off x="0" y="0"/>
          <a:ext cx="0" cy="0"/>
          <a:chOff x="0" y="0"/>
          <a:chExt cx="0" cy="0"/>
        </a:xfrm>
      </p:grpSpPr>
      <p:sp>
        <p:nvSpPr>
          <p:cNvPr id="78" name="Google Shape;78;gf4f11f959e_0_5:notes">
            <a:extLst>
              <a:ext uri="{FF2B5EF4-FFF2-40B4-BE49-F238E27FC236}">
                <a16:creationId xmlns:a16="http://schemas.microsoft.com/office/drawing/2014/main" id="{8A2E5CE2-2C3A-6EED-91E5-EB22A77E19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 name="Google Shape;79;gf4f11f959e_0_5:notes">
            <a:extLst>
              <a:ext uri="{FF2B5EF4-FFF2-40B4-BE49-F238E27FC236}">
                <a16:creationId xmlns:a16="http://schemas.microsoft.com/office/drawing/2014/main" id="{22D90CC6-B9E3-C944-00A3-323DB7172F2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Le projet est structuré en trois étapes :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fr-FR"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100" dirty="0">
                <a:solidFill>
                  <a:schemeClr val="tx1">
                    <a:lumMod val="65000"/>
                    <a:lumOff val="35000"/>
                  </a:schemeClr>
                </a:solidFill>
                <a:latin typeface="Aptos" panose="020B0004020202020204" pitchFamily="34" charset="0"/>
              </a:rPr>
              <a:t>Analyser l’existant (organisation, outils, usages data) afin d’identifier les écarts de maturité et définir une vision cible de gouvernance data partagée.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fr-FR" sz="1100" dirty="0">
              <a:solidFill>
                <a:schemeClr val="tx1">
                  <a:lumMod val="65000"/>
                  <a:lumOff val="35000"/>
                </a:schemeClr>
              </a:solidFill>
              <a:latin typeface="Aptos" panose="020B000402020202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100" dirty="0">
                <a:solidFill>
                  <a:schemeClr val="tx1">
                    <a:lumMod val="65000"/>
                    <a:lumOff val="35000"/>
                  </a:schemeClr>
                </a:solidFill>
                <a:latin typeface="Aptos" panose="020B0004020202020204" pitchFamily="34" charset="0"/>
              </a:rPr>
              <a:t>Déployer un Data Center of Excellence et clarifier les rôles (CDO, Data Domain </a:t>
            </a:r>
            <a:r>
              <a:rPr lang="fr-FR" sz="1100" dirty="0" err="1">
                <a:solidFill>
                  <a:schemeClr val="tx1">
                    <a:lumMod val="65000"/>
                    <a:lumOff val="35000"/>
                  </a:schemeClr>
                </a:solidFill>
                <a:latin typeface="Aptos" panose="020B0004020202020204" pitchFamily="34" charset="0"/>
              </a:rPr>
              <a:t>Owners</a:t>
            </a:r>
            <a:r>
              <a:rPr lang="fr-FR" sz="1100" dirty="0">
                <a:solidFill>
                  <a:schemeClr val="tx1">
                    <a:lumMod val="65000"/>
                    <a:lumOff val="35000"/>
                  </a:schemeClr>
                </a:solidFill>
                <a:latin typeface="Aptos" panose="020B0004020202020204" pitchFamily="34" charset="0"/>
              </a:rPr>
              <a:t>, régions) pour structurer standards, méthodes et responsabilités.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fr-FR" sz="1100" dirty="0">
              <a:solidFill>
                <a:schemeClr val="tx1">
                  <a:lumMod val="65000"/>
                  <a:lumOff val="35000"/>
                </a:schemeClr>
              </a:solidFill>
              <a:latin typeface="Aptos" panose="020B000402020202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100" dirty="0">
                <a:solidFill>
                  <a:schemeClr val="tx1">
                    <a:lumMod val="65000"/>
                    <a:lumOff val="35000"/>
                  </a:schemeClr>
                </a:solidFill>
                <a:latin typeface="Aptos" panose="020B0004020202020204" pitchFamily="34" charset="0"/>
              </a:rPr>
              <a:t>Généraliser progressivement le modèle à l’ensemble des domaines et régions, mesurer les impacts business et assurer l’amélioration continue de la gouvernance</a:t>
            </a:r>
            <a:r>
              <a:rPr lang="fr-FR" sz="1100" dirty="0">
                <a:latin typeface="Aptos" panose="020B0004020202020204" pitchFamily="34" charset="0"/>
              </a:rPr>
              <a:t>.</a:t>
            </a:r>
            <a:br>
              <a:rPr lang="fr-FR" sz="1100" dirty="0">
                <a:solidFill>
                  <a:schemeClr val="tx1">
                    <a:lumMod val="65000"/>
                    <a:lumOff val="35000"/>
                  </a:schemeClr>
                </a:solidFill>
                <a:latin typeface="Aptos" panose="020B0004020202020204" pitchFamily="34" charset="0"/>
              </a:rPr>
            </a:br>
            <a:endParaRPr lang="fr-FR"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fr-FR"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la mise en place d’un modèle cible basé sur un Data Center of Excellence,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puis un déploiement progressif accompagné d’un pilotage dans la durée afin d’assurer l’adoption et la création de valeur.</a:t>
            </a: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5398422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f4f11f959e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 name="Google Shape;92;gf4f11f959e_0_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fr-FR" dirty="0"/>
              <a:t>L’évaluation de maturité positionne Spotify à un niveau </a:t>
            </a:r>
            <a:r>
              <a:rPr lang="fr-FR" dirty="0" err="1"/>
              <a:t>Managed</a:t>
            </a:r>
            <a:r>
              <a:rPr lang="fr-FR" dirty="0"/>
              <a:t>, avec une note de 3,2 sur 5.</a:t>
            </a:r>
          </a:p>
          <a:p>
            <a:pPr marL="0" lvl="0" indent="0" algn="l" rtl="0">
              <a:lnSpc>
                <a:spcPct val="100000"/>
              </a:lnSpc>
              <a:spcBef>
                <a:spcPts val="0"/>
              </a:spcBef>
              <a:spcAft>
                <a:spcPts val="0"/>
              </a:spcAft>
              <a:buSzPts val="1100"/>
              <a:buNone/>
            </a:pPr>
            <a:r>
              <a:rPr lang="fr-FR" dirty="0"/>
              <a:t>Les données sont largement utilisées pour améliorer les produits et les décisions, mais les processus restent principalement locaux, peu formalisés, et le soutien managérial est encore inégal selon les équipes.</a:t>
            </a:r>
          </a:p>
          <a:p>
            <a:pPr marL="0" lvl="0" indent="0" algn="l" rtl="0">
              <a:lnSpc>
                <a:spcPct val="100000"/>
              </a:lnSpc>
              <a:spcBef>
                <a:spcPts val="0"/>
              </a:spcBef>
              <a:spcAft>
                <a:spcPts val="0"/>
              </a:spcAft>
              <a:buSzPts val="1100"/>
              <a:buNone/>
            </a:pPr>
            <a:endParaRPr lang="fr-FR" dirty="0"/>
          </a:p>
          <a:p>
            <a:pPr marL="0" lvl="0" indent="0" algn="l" rtl="0">
              <a:lnSpc>
                <a:spcPct val="100000"/>
              </a:lnSpc>
              <a:spcBef>
                <a:spcPts val="0"/>
              </a:spcBef>
              <a:spcAft>
                <a:spcPts val="0"/>
              </a:spcAft>
              <a:buSzPts val="1100"/>
              <a:buNone/>
            </a:pPr>
            <a:r>
              <a:rPr lang="fr-FR" dirty="0"/>
              <a:t>Spotify montre une bonne compréhension de l’importance de la donnée et une capacité à résoudre des problématiques locales. En revanche, l’absence de cadre global et de processus partagés empêche d’atteindre une efficacité maximale et limite l’impact stratégique de la data à l’échelle de l’organisation.</a:t>
            </a:r>
            <a:endParaRPr dirty="0"/>
          </a:p>
        </p:txBody>
      </p:sp>
    </p:spTree>
    <p:extLst>
      <p:ext uri="{BB962C8B-B14F-4D97-AF65-F5344CB8AC3E}">
        <p14:creationId xmlns:p14="http://schemas.microsoft.com/office/powerpoint/2010/main" val="13479192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D18D8B3B-7B1A-28AD-1F38-28EE64633811}"/>
            </a:ext>
          </a:extLst>
        </p:cNvPr>
        <p:cNvGrpSpPr/>
        <p:nvPr/>
      </p:nvGrpSpPr>
      <p:grpSpPr>
        <a:xfrm>
          <a:off x="0" y="0"/>
          <a:ext cx="0" cy="0"/>
          <a:chOff x="0" y="0"/>
          <a:chExt cx="0" cy="0"/>
        </a:xfrm>
      </p:grpSpPr>
      <p:sp>
        <p:nvSpPr>
          <p:cNvPr id="91" name="Google Shape;91;gf4f11f959e_0_29:notes">
            <a:extLst>
              <a:ext uri="{FF2B5EF4-FFF2-40B4-BE49-F238E27FC236}">
                <a16:creationId xmlns:a16="http://schemas.microsoft.com/office/drawing/2014/main" id="{3F548A22-368D-240C-755D-9A8D825BFC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 name="Google Shape;92;gf4f11f959e_0_29:notes">
            <a:extLst>
              <a:ext uri="{FF2B5EF4-FFF2-40B4-BE49-F238E27FC236}">
                <a16:creationId xmlns:a16="http://schemas.microsoft.com/office/drawing/2014/main" id="{D3A90892-E0E5-A598-D4FA-B64B1DDD5BE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fr-FR" dirty="0"/>
              <a:t>Les forces de Spotify résident dans sa capacité analytique, son architecture data puissante et le rôle central de la qualité des données pour les recommandations. </a:t>
            </a:r>
          </a:p>
          <a:p>
            <a:pPr marL="0" lvl="0" indent="0" algn="l" rtl="0">
              <a:lnSpc>
                <a:spcPct val="100000"/>
              </a:lnSpc>
              <a:spcBef>
                <a:spcPts val="0"/>
              </a:spcBef>
              <a:spcAft>
                <a:spcPts val="0"/>
              </a:spcAft>
              <a:buSzPts val="1100"/>
              <a:buNone/>
            </a:pPr>
            <a:r>
              <a:rPr lang="fr-FR" dirty="0"/>
              <a:t>À l’inverse, la gouvernance fragmentée, la complexité de l’architecture, l’accès inégal aux données et l’hétérogénéité des compétences data constituent des freins majeurs.</a:t>
            </a:r>
            <a:endParaRPr dirty="0"/>
          </a:p>
        </p:txBody>
      </p:sp>
    </p:spTree>
    <p:extLst>
      <p:ext uri="{BB962C8B-B14F-4D97-AF65-F5344CB8AC3E}">
        <p14:creationId xmlns:p14="http://schemas.microsoft.com/office/powerpoint/2010/main" val="9018291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D18D8B3B-7B1A-28AD-1F38-28EE64633811}"/>
            </a:ext>
          </a:extLst>
        </p:cNvPr>
        <p:cNvGrpSpPr/>
        <p:nvPr/>
      </p:nvGrpSpPr>
      <p:grpSpPr>
        <a:xfrm>
          <a:off x="0" y="0"/>
          <a:ext cx="0" cy="0"/>
          <a:chOff x="0" y="0"/>
          <a:chExt cx="0" cy="0"/>
        </a:xfrm>
      </p:grpSpPr>
      <p:sp>
        <p:nvSpPr>
          <p:cNvPr id="91" name="Google Shape;91;gf4f11f959e_0_29:notes">
            <a:extLst>
              <a:ext uri="{FF2B5EF4-FFF2-40B4-BE49-F238E27FC236}">
                <a16:creationId xmlns:a16="http://schemas.microsoft.com/office/drawing/2014/main" id="{3F548A22-368D-240C-755D-9A8D825BFC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 name="Google Shape;92;gf4f11f959e_0_29:notes">
            <a:extLst>
              <a:ext uri="{FF2B5EF4-FFF2-40B4-BE49-F238E27FC236}">
                <a16:creationId xmlns:a16="http://schemas.microsoft.com/office/drawing/2014/main" id="{D3A90892-E0E5-A598-D4FA-B64B1DDD5BE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fr-FR" dirty="0"/>
              <a:t>En synthèse, Spotify dispose d’un fort potentiel data mais souffre d’un manque de structuration transverse. </a:t>
            </a:r>
          </a:p>
          <a:p>
            <a:pPr marL="0" lvl="0" indent="0" algn="l" rtl="0">
              <a:lnSpc>
                <a:spcPct val="100000"/>
              </a:lnSpc>
              <a:spcBef>
                <a:spcPts val="0"/>
              </a:spcBef>
              <a:spcAft>
                <a:spcPts val="0"/>
              </a:spcAft>
              <a:buSzPts val="1100"/>
              <a:buNone/>
            </a:pPr>
            <a:r>
              <a:rPr lang="fr-FR" dirty="0"/>
              <a:t>Sans gouvernance unifiée, la qualité, la conformité et l’accessibilité des données dépendent encore trop des initiatives locales, ce qui limite la performance globale.</a:t>
            </a:r>
            <a:endParaRPr dirty="0"/>
          </a:p>
        </p:txBody>
      </p:sp>
    </p:spTree>
    <p:extLst>
      <p:ext uri="{BB962C8B-B14F-4D97-AF65-F5344CB8AC3E}">
        <p14:creationId xmlns:p14="http://schemas.microsoft.com/office/powerpoint/2010/main" val="20066691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D18D8B3B-7B1A-28AD-1F38-28EE64633811}"/>
            </a:ext>
          </a:extLst>
        </p:cNvPr>
        <p:cNvGrpSpPr/>
        <p:nvPr/>
      </p:nvGrpSpPr>
      <p:grpSpPr>
        <a:xfrm>
          <a:off x="0" y="0"/>
          <a:ext cx="0" cy="0"/>
          <a:chOff x="0" y="0"/>
          <a:chExt cx="0" cy="0"/>
        </a:xfrm>
      </p:grpSpPr>
      <p:sp>
        <p:nvSpPr>
          <p:cNvPr id="91" name="Google Shape;91;gf4f11f959e_0_29:notes">
            <a:extLst>
              <a:ext uri="{FF2B5EF4-FFF2-40B4-BE49-F238E27FC236}">
                <a16:creationId xmlns:a16="http://schemas.microsoft.com/office/drawing/2014/main" id="{3F548A22-368D-240C-755D-9A8D825BFC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 name="Google Shape;92;gf4f11f959e_0_29:notes">
            <a:extLst>
              <a:ext uri="{FF2B5EF4-FFF2-40B4-BE49-F238E27FC236}">
                <a16:creationId xmlns:a16="http://schemas.microsoft.com/office/drawing/2014/main" id="{D3A90892-E0E5-A598-D4FA-B64B1DDD5BE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La conformité réglementaire est un enjeu stratégique pour Spotify, notamment face au RGPD et au CCPA.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Une gouvernance insuffisante expose l’entreprise à des risques juridiques, financiers et réputationnels,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tout en pouvant affecter la confiance des utilisateurs, essentielle au modèle économique.</a:t>
            </a: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904314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D18D8B3B-7B1A-28AD-1F38-28EE64633811}"/>
            </a:ext>
          </a:extLst>
        </p:cNvPr>
        <p:cNvGrpSpPr/>
        <p:nvPr/>
      </p:nvGrpSpPr>
      <p:grpSpPr>
        <a:xfrm>
          <a:off x="0" y="0"/>
          <a:ext cx="0" cy="0"/>
          <a:chOff x="0" y="0"/>
          <a:chExt cx="0" cy="0"/>
        </a:xfrm>
      </p:grpSpPr>
      <p:sp>
        <p:nvSpPr>
          <p:cNvPr id="91" name="Google Shape;91;gf4f11f959e_0_29:notes">
            <a:extLst>
              <a:ext uri="{FF2B5EF4-FFF2-40B4-BE49-F238E27FC236}">
                <a16:creationId xmlns:a16="http://schemas.microsoft.com/office/drawing/2014/main" id="{3F548A22-368D-240C-755D-9A8D825BFC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 name="Google Shape;92;gf4f11f959e_0_29:notes">
            <a:extLst>
              <a:ext uri="{FF2B5EF4-FFF2-40B4-BE49-F238E27FC236}">
                <a16:creationId xmlns:a16="http://schemas.microsoft.com/office/drawing/2014/main" id="{D3A90892-E0E5-A598-D4FA-B64B1DDD5BE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fr-FR" dirty="0"/>
              <a:t>Spotify dispose déjà d’une base solide en matière de conformité, mais plusieurs axes doivent être renforcés : </a:t>
            </a:r>
          </a:p>
          <a:p>
            <a:pPr marL="0" lvl="0" indent="0" algn="l" rtl="0">
              <a:lnSpc>
                <a:spcPct val="100000"/>
              </a:lnSpc>
              <a:spcBef>
                <a:spcPts val="0"/>
              </a:spcBef>
              <a:spcAft>
                <a:spcPts val="0"/>
              </a:spcAft>
              <a:buSzPts val="1100"/>
              <a:buNone/>
            </a:pPr>
            <a:r>
              <a:rPr lang="fr-FR" dirty="0"/>
              <a:t>la centralisation du consentement utilisateur,</a:t>
            </a:r>
          </a:p>
          <a:p>
            <a:pPr marL="0" lvl="0" indent="0" algn="l" rtl="0">
              <a:lnSpc>
                <a:spcPct val="100000"/>
              </a:lnSpc>
              <a:spcBef>
                <a:spcPts val="0"/>
              </a:spcBef>
              <a:spcAft>
                <a:spcPts val="0"/>
              </a:spcAft>
              <a:buSzPts val="1100"/>
              <a:buNone/>
            </a:pPr>
            <a:r>
              <a:rPr lang="fr-FR" dirty="0"/>
              <a:t>la clarification des mécanismes d’opt-out, (droit donné à un utilisateur de refuser ou d’arrêter certains usages de ses données personnelles)</a:t>
            </a:r>
          </a:p>
          <a:p>
            <a:pPr marL="0" lvl="0" indent="0" algn="l" rtl="0">
              <a:lnSpc>
                <a:spcPct val="100000"/>
              </a:lnSpc>
              <a:spcBef>
                <a:spcPts val="0"/>
              </a:spcBef>
              <a:spcAft>
                <a:spcPts val="0"/>
              </a:spcAft>
              <a:buSzPts val="1100"/>
              <a:buNone/>
            </a:pPr>
            <a:r>
              <a:rPr lang="fr-FR" dirty="0"/>
              <a:t>la formalisation des tests de sécurité </a:t>
            </a:r>
          </a:p>
          <a:p>
            <a:pPr marL="0" lvl="0" indent="0" algn="l" rtl="0">
              <a:lnSpc>
                <a:spcPct val="100000"/>
              </a:lnSpc>
              <a:spcBef>
                <a:spcPts val="0"/>
              </a:spcBef>
              <a:spcAft>
                <a:spcPts val="0"/>
              </a:spcAft>
              <a:buSzPts val="1100"/>
              <a:buNone/>
            </a:pPr>
            <a:r>
              <a:rPr lang="fr-FR" dirty="0"/>
              <a:t>et la formation régulière des équipes. </a:t>
            </a:r>
          </a:p>
          <a:p>
            <a:pPr marL="0" lvl="0" indent="0" algn="l" rtl="0">
              <a:lnSpc>
                <a:spcPct val="100000"/>
              </a:lnSpc>
              <a:spcBef>
                <a:spcPts val="0"/>
              </a:spcBef>
              <a:spcAft>
                <a:spcPts val="0"/>
              </a:spcAft>
              <a:buSzPts val="1100"/>
              <a:buNone/>
            </a:pPr>
            <a:endParaRPr lang="fr-FR" dirty="0"/>
          </a:p>
          <a:p>
            <a:pPr marL="0" lvl="0" indent="0" algn="l" rtl="0">
              <a:lnSpc>
                <a:spcPct val="100000"/>
              </a:lnSpc>
              <a:spcBef>
                <a:spcPts val="0"/>
              </a:spcBef>
              <a:spcAft>
                <a:spcPts val="0"/>
              </a:spcAft>
              <a:buSzPts val="1100"/>
              <a:buNone/>
            </a:pPr>
            <a:r>
              <a:rPr lang="fr-FR" dirty="0"/>
              <a:t>L’objectif est d’ancrer le </a:t>
            </a:r>
            <a:r>
              <a:rPr lang="fr-FR" dirty="0" err="1"/>
              <a:t>privacy</a:t>
            </a:r>
            <a:r>
              <a:rPr lang="fr-FR" dirty="0"/>
              <a:t> by design dans les pratiques data.</a:t>
            </a:r>
            <a:endParaRPr dirty="0"/>
          </a:p>
        </p:txBody>
      </p:sp>
    </p:spTree>
    <p:extLst>
      <p:ext uri="{BB962C8B-B14F-4D97-AF65-F5344CB8AC3E}">
        <p14:creationId xmlns:p14="http://schemas.microsoft.com/office/powerpoint/2010/main" val="40302450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D18D8B3B-7B1A-28AD-1F38-28EE64633811}"/>
            </a:ext>
          </a:extLst>
        </p:cNvPr>
        <p:cNvGrpSpPr/>
        <p:nvPr/>
      </p:nvGrpSpPr>
      <p:grpSpPr>
        <a:xfrm>
          <a:off x="0" y="0"/>
          <a:ext cx="0" cy="0"/>
          <a:chOff x="0" y="0"/>
          <a:chExt cx="0" cy="0"/>
        </a:xfrm>
      </p:grpSpPr>
      <p:sp>
        <p:nvSpPr>
          <p:cNvPr id="91" name="Google Shape;91;gf4f11f959e_0_29:notes">
            <a:extLst>
              <a:ext uri="{FF2B5EF4-FFF2-40B4-BE49-F238E27FC236}">
                <a16:creationId xmlns:a16="http://schemas.microsoft.com/office/drawing/2014/main" id="{3F548A22-368D-240C-755D-9A8D825BFC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 name="Google Shape;92;gf4f11f959e_0_29:notes">
            <a:extLst>
              <a:ext uri="{FF2B5EF4-FFF2-40B4-BE49-F238E27FC236}">
                <a16:creationId xmlns:a16="http://schemas.microsoft.com/office/drawing/2014/main" id="{D3A90892-E0E5-A598-D4FA-B64B1DDD5BE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fr-FR" dirty="0"/>
              <a:t>Le modèle cible repose sur l’évolution du modèle </a:t>
            </a:r>
            <a:r>
              <a:rPr lang="fr-FR" dirty="0" err="1"/>
              <a:t>embedded</a:t>
            </a:r>
            <a:r>
              <a:rPr lang="fr-FR" dirty="0"/>
              <a:t> actuel vers un Data Center of Excellence. </a:t>
            </a:r>
          </a:p>
          <a:p>
            <a:pPr marL="0" lvl="0" indent="0" algn="l" rtl="0">
              <a:lnSpc>
                <a:spcPct val="100000"/>
              </a:lnSpc>
              <a:spcBef>
                <a:spcPts val="0"/>
              </a:spcBef>
              <a:spcAft>
                <a:spcPts val="0"/>
              </a:spcAft>
              <a:buSzPts val="1100"/>
              <a:buNone/>
            </a:pPr>
            <a:r>
              <a:rPr lang="fr-FR" dirty="0"/>
              <a:t>Ce </a:t>
            </a:r>
            <a:r>
              <a:rPr lang="fr-FR" dirty="0" err="1"/>
              <a:t>CoE</a:t>
            </a:r>
            <a:r>
              <a:rPr lang="fr-FR" dirty="0"/>
              <a:t> définit </a:t>
            </a:r>
          </a:p>
          <a:p>
            <a:pPr marL="0" lvl="0" indent="0" algn="l" rtl="0">
              <a:lnSpc>
                <a:spcPct val="100000"/>
              </a:lnSpc>
              <a:spcBef>
                <a:spcPts val="0"/>
              </a:spcBef>
              <a:spcAft>
                <a:spcPts val="0"/>
              </a:spcAft>
              <a:buSzPts val="1100"/>
              <a:buNone/>
            </a:pPr>
            <a:r>
              <a:rPr lang="fr-FR" dirty="0"/>
              <a:t>les règles communes, les standards et un socle d’outil communs: </a:t>
            </a:r>
          </a:p>
          <a:p>
            <a:pPr marL="0" lvl="0" indent="0" algn="l" rtl="0">
              <a:lnSpc>
                <a:spcPct val="100000"/>
              </a:lnSpc>
              <a:spcBef>
                <a:spcPts val="0"/>
              </a:spcBef>
              <a:spcAft>
                <a:spcPts val="0"/>
              </a:spcAft>
              <a:buSzPts val="1100"/>
              <a:buNone/>
            </a:pPr>
            <a:r>
              <a:rPr lang="fr-FR" dirty="0"/>
              <a:t>catalogage/qualité et contrôle / gestion des accès, pour garantir des pratiques homogènes.,</a:t>
            </a:r>
          </a:p>
          <a:p>
            <a:pPr marL="0" lvl="0" indent="0" algn="l" rtl="0">
              <a:lnSpc>
                <a:spcPct val="100000"/>
              </a:lnSpc>
              <a:spcBef>
                <a:spcPts val="0"/>
              </a:spcBef>
              <a:spcAft>
                <a:spcPts val="0"/>
              </a:spcAft>
              <a:buSzPts val="1100"/>
              <a:buNone/>
            </a:pPr>
            <a:r>
              <a:rPr lang="fr-FR" dirty="0"/>
              <a:t> tout en testant le dispositif sur des périmètres clés </a:t>
            </a:r>
          </a:p>
          <a:p>
            <a:pPr marL="0" lvl="0" indent="0" algn="l" rtl="0">
              <a:lnSpc>
                <a:spcPct val="100000"/>
              </a:lnSpc>
              <a:spcBef>
                <a:spcPts val="0"/>
              </a:spcBef>
              <a:spcAft>
                <a:spcPts val="0"/>
              </a:spcAft>
              <a:buSzPts val="1100"/>
              <a:buNone/>
            </a:pPr>
            <a:r>
              <a:rPr lang="fr-FR" dirty="0"/>
              <a:t>avant généralisation, afin de sécuriser l’adoption.</a:t>
            </a:r>
            <a:endParaRPr dirty="0"/>
          </a:p>
        </p:txBody>
      </p:sp>
    </p:spTree>
    <p:extLst>
      <p:ext uri="{BB962C8B-B14F-4D97-AF65-F5344CB8AC3E}">
        <p14:creationId xmlns:p14="http://schemas.microsoft.com/office/powerpoint/2010/main" val="1991714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f4f11f959e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gf4f11f959e_0_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fr-FR" dirty="0"/>
              <a:t>L’organisation cible clarifie les rôles entre le CDO, les Data Domain </a:t>
            </a:r>
            <a:r>
              <a:rPr lang="fr-FR" dirty="0" err="1"/>
              <a:t>Owners</a:t>
            </a:r>
            <a:r>
              <a:rPr lang="fr-FR" dirty="0"/>
              <a:t> et les équipes régionales. </a:t>
            </a:r>
          </a:p>
          <a:p>
            <a:pPr marL="0" lvl="0" indent="0" algn="l" rtl="0">
              <a:lnSpc>
                <a:spcPct val="100000"/>
              </a:lnSpc>
              <a:spcBef>
                <a:spcPts val="0"/>
              </a:spcBef>
              <a:spcAft>
                <a:spcPts val="0"/>
              </a:spcAft>
              <a:buSzPts val="1100"/>
              <a:buNone/>
            </a:pPr>
            <a:endParaRPr lang="fr-FR" dirty="0"/>
          </a:p>
          <a:p>
            <a:pPr marL="0" lvl="0" indent="0" algn="l" rtl="0">
              <a:lnSpc>
                <a:spcPct val="100000"/>
              </a:lnSpc>
              <a:spcBef>
                <a:spcPts val="0"/>
              </a:spcBef>
              <a:spcAft>
                <a:spcPts val="0"/>
              </a:spcAft>
              <a:buSzPts val="1100"/>
              <a:buNone/>
            </a:pPr>
            <a:r>
              <a:rPr lang="fr-FR" dirty="0"/>
              <a:t>Cette répartition permet d’assurer une gouvernance transverse tout en conservant la proximité métier nécessaire à l’agilité et à l’efficacité opérationnelle.</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f4f11f959e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gf4f11f959e_0_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fr-FR" dirty="0"/>
              <a:t>La première priorité lors du déploiement d’un Centre d’Excellence data est de clarifier les rôles et les responsabilités, afin d’éviter toute ambiguïté organisationnelle. Ensuite, il est essentiel d’obtenir l’adhésion des équipes métiers et locales, car le </a:t>
            </a:r>
            <a:r>
              <a:rPr lang="fr-FR" dirty="0" err="1"/>
              <a:t>CoE</a:t>
            </a:r>
            <a:r>
              <a:rPr lang="fr-FR" dirty="0"/>
              <a:t> ne peut fonctionner sans leur engagement. Une fois ce cadre posé, l’enjeu est de définir un niveau de standardisation suffisant pour harmoniser les pratiques, tout en préservant l’agilité des équipes produit. Il faut également veiller à ne pas tomber dans une centralisation excessive, en maintenant l’exécution au plus près des besoins opérationnels. La démonstration rapide de la valeur business est ensuite déterminante pour légitimer le </a:t>
            </a:r>
            <a:r>
              <a:rPr lang="fr-FR" dirty="0" err="1"/>
              <a:t>CoE</a:t>
            </a:r>
            <a:r>
              <a:rPr lang="fr-FR" dirty="0"/>
              <a:t>. Enfin, le modèle doit intégrer les contraintes réglementaires et régionales, et être piloté dans la durée à l’aide d’indicateurs clairs et partagés.</a:t>
            </a:r>
          </a:p>
          <a:p>
            <a:pPr marL="0" lvl="0" indent="0" algn="l" rtl="0">
              <a:lnSpc>
                <a:spcPct val="100000"/>
              </a:lnSpc>
              <a:spcBef>
                <a:spcPts val="0"/>
              </a:spcBef>
              <a:spcAft>
                <a:spcPts val="0"/>
              </a:spcAft>
              <a:buSzPts val="1100"/>
              <a:buNone/>
            </a:pPr>
            <a:endParaRPr lang="fr-FR" dirty="0"/>
          </a:p>
          <a:p>
            <a:pPr marL="0" lvl="0" indent="0" algn="l" rtl="0">
              <a:lnSpc>
                <a:spcPct val="100000"/>
              </a:lnSpc>
              <a:spcBef>
                <a:spcPts val="0"/>
              </a:spcBef>
              <a:spcAft>
                <a:spcPts val="0"/>
              </a:spcAft>
              <a:buSzPts val="1100"/>
              <a:buNone/>
            </a:pPr>
            <a:r>
              <a:rPr lang="fr-FR" b="1" dirty="0"/>
              <a:t>Ou selon le tps dispo</a:t>
            </a:r>
          </a:p>
          <a:p>
            <a:pPr marL="0" lvl="0" indent="0" algn="l" rtl="0">
              <a:lnSpc>
                <a:spcPct val="100000"/>
              </a:lnSpc>
              <a:spcBef>
                <a:spcPts val="0"/>
              </a:spcBef>
              <a:spcAft>
                <a:spcPts val="0"/>
              </a:spcAft>
              <a:buSzPts val="1100"/>
              <a:buNone/>
            </a:pPr>
            <a:endParaRPr lang="fr-FR" dirty="0"/>
          </a:p>
          <a:p>
            <a:pPr marL="0" lvl="0" indent="0" algn="l" rtl="0">
              <a:lnSpc>
                <a:spcPct val="100000"/>
              </a:lnSpc>
              <a:spcBef>
                <a:spcPts val="0"/>
              </a:spcBef>
              <a:spcAft>
                <a:spcPts val="0"/>
              </a:spcAft>
              <a:buSzPts val="1100"/>
              <a:buNone/>
            </a:pPr>
            <a:r>
              <a:rPr lang="fr-FR" dirty="0"/>
              <a:t>Le déploiement du modèle soulève plusieurs enjeux clés : clarifier les responsabilités dès le lancement, assurer l’adhésion des équipes locales, standardiser sans freiner l’innovation, éviter une centralisation excessive du </a:t>
            </a:r>
            <a:r>
              <a:rPr lang="fr-FR" dirty="0" err="1"/>
              <a:t>CoE</a:t>
            </a:r>
            <a:r>
              <a:rPr lang="fr-FR" dirty="0"/>
              <a:t> et démontrer rapidement la valeur business du dispositif.</a:t>
            </a:r>
            <a:endParaRPr dirty="0"/>
          </a:p>
        </p:txBody>
      </p:sp>
    </p:spTree>
    <p:extLst>
      <p:ext uri="{BB962C8B-B14F-4D97-AF65-F5344CB8AC3E}">
        <p14:creationId xmlns:p14="http://schemas.microsoft.com/office/powerpoint/2010/main" val="24130664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f4f11f959e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gf4f11f959e_0_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fr-FR" dirty="0"/>
              <a:t>Le déploiement du Data Center of Excellence s’appuie sur une approche progressive en trois phases afin de sécuriser l’adoption et démontrer rapidement la valeur business. </a:t>
            </a:r>
          </a:p>
          <a:p>
            <a:pPr marL="0" lvl="0" indent="0" algn="l" rtl="0">
              <a:lnSpc>
                <a:spcPct val="100000"/>
              </a:lnSpc>
              <a:spcBef>
                <a:spcPts val="0"/>
              </a:spcBef>
              <a:spcAft>
                <a:spcPts val="0"/>
              </a:spcAft>
              <a:buSzPts val="1100"/>
              <a:buNone/>
            </a:pPr>
            <a:endParaRPr lang="fr-FR" dirty="0"/>
          </a:p>
          <a:p>
            <a:pPr marL="0" lvl="0" indent="0" algn="l" rtl="0">
              <a:lnSpc>
                <a:spcPct val="100000"/>
              </a:lnSpc>
              <a:spcBef>
                <a:spcPts val="0"/>
              </a:spcBef>
              <a:spcAft>
                <a:spcPts val="0"/>
              </a:spcAft>
              <a:buSzPts val="1100"/>
              <a:buNone/>
            </a:pPr>
            <a:r>
              <a:rPr lang="fr-FR" dirty="0"/>
              <a:t>La première phase, entre 0 et 3 mois, vise à poser les fondations : comprendre l’existant, cartographier les données, auditer les KPI et définir clairement le rôle du </a:t>
            </a:r>
            <a:r>
              <a:rPr lang="fr-FR" dirty="0" err="1"/>
              <a:t>CoE</a:t>
            </a:r>
            <a:r>
              <a:rPr lang="fr-FR" dirty="0"/>
              <a:t>, afin de construire une vision partagée et un cadre commun. </a:t>
            </a:r>
          </a:p>
          <a:p>
            <a:pPr marL="0" lvl="0" indent="0" algn="l" rtl="0">
              <a:lnSpc>
                <a:spcPct val="100000"/>
              </a:lnSpc>
              <a:spcBef>
                <a:spcPts val="0"/>
              </a:spcBef>
              <a:spcAft>
                <a:spcPts val="0"/>
              </a:spcAft>
              <a:buSzPts val="1100"/>
              <a:buNone/>
            </a:pPr>
            <a:endParaRPr lang="fr-FR" dirty="0"/>
          </a:p>
          <a:p>
            <a:pPr marL="0" lvl="0" indent="0" algn="l" rtl="0">
              <a:lnSpc>
                <a:spcPct val="100000"/>
              </a:lnSpc>
              <a:spcBef>
                <a:spcPts val="0"/>
              </a:spcBef>
              <a:spcAft>
                <a:spcPts val="0"/>
              </a:spcAft>
              <a:buSzPts val="1100"/>
              <a:buNone/>
            </a:pPr>
            <a:r>
              <a:rPr lang="fr-FR" dirty="0"/>
              <a:t>La seconde phase, de 4 à 8 mois, correspond au lancement opérationnel avec un </a:t>
            </a:r>
            <a:r>
              <a:rPr lang="fr-FR" dirty="0" err="1"/>
              <a:t>CoE</a:t>
            </a:r>
            <a:r>
              <a:rPr lang="fr-FR" dirty="0"/>
              <a:t> volontairement léger, avec </a:t>
            </a:r>
          </a:p>
          <a:p>
            <a:pPr marL="0" lvl="0" indent="0" algn="l" rtl="0">
              <a:lnSpc>
                <a:spcPct val="100000"/>
              </a:lnSpc>
              <a:spcBef>
                <a:spcPts val="0"/>
              </a:spcBef>
              <a:spcAft>
                <a:spcPts val="0"/>
              </a:spcAft>
              <a:buSzPts val="1100"/>
              <a:buNone/>
            </a:pPr>
            <a:r>
              <a:rPr lang="fr-FR" dirty="0"/>
              <a:t>la mise en place d’outils communs de gouvernance </a:t>
            </a:r>
          </a:p>
          <a:p>
            <a:pPr marL="0" lvl="0" indent="0" algn="l" rtl="0">
              <a:lnSpc>
                <a:spcPct val="100000"/>
              </a:lnSpc>
              <a:spcBef>
                <a:spcPts val="0"/>
              </a:spcBef>
              <a:spcAft>
                <a:spcPts val="0"/>
              </a:spcAft>
              <a:buSzPts val="1100"/>
              <a:buNone/>
            </a:pPr>
            <a:r>
              <a:rPr lang="fr-FR" dirty="0"/>
              <a:t>et des pilotes sur deux à trois domaines clés, </a:t>
            </a:r>
          </a:p>
          <a:p>
            <a:pPr marL="0" lvl="0" indent="0" algn="l" rtl="0">
              <a:lnSpc>
                <a:spcPct val="100000"/>
              </a:lnSpc>
              <a:spcBef>
                <a:spcPts val="0"/>
              </a:spcBef>
              <a:spcAft>
                <a:spcPts val="0"/>
              </a:spcAft>
              <a:buSzPts val="1100"/>
              <a:buNone/>
            </a:pPr>
            <a:r>
              <a:rPr lang="fr-FR" dirty="0"/>
              <a:t>Qui permettent d’apporter une preuve de valeur concrète.</a:t>
            </a:r>
          </a:p>
          <a:p>
            <a:pPr marL="0" lvl="0" indent="0" algn="l" rtl="0">
              <a:lnSpc>
                <a:spcPct val="100000"/>
              </a:lnSpc>
              <a:spcBef>
                <a:spcPts val="0"/>
              </a:spcBef>
              <a:spcAft>
                <a:spcPts val="0"/>
              </a:spcAft>
              <a:buSzPts val="1100"/>
              <a:buNone/>
            </a:pPr>
            <a:endParaRPr lang="fr-FR" dirty="0"/>
          </a:p>
          <a:p>
            <a:pPr marL="0" lvl="0" indent="0" algn="l" rtl="0">
              <a:lnSpc>
                <a:spcPct val="100000"/>
              </a:lnSpc>
              <a:spcBef>
                <a:spcPts val="0"/>
              </a:spcBef>
              <a:spcAft>
                <a:spcPts val="0"/>
              </a:spcAft>
              <a:buSzPts val="1100"/>
              <a:buNone/>
            </a:pPr>
            <a:r>
              <a:rPr lang="fr-FR" dirty="0"/>
              <a:t> Enfin, à partir du neuvième mois, la phase de déploiement et de pérennisation permet d’étendre le modèle à l’ensemble des domaines, d’harmoniser les KPI et d’installer une logique d’audit et d’amélioration continue, avec pour objectif final une maturité data à l’échelle de Spotify.</a:t>
            </a:r>
          </a:p>
          <a:p>
            <a:pPr marL="0" lvl="0" indent="0" algn="l" rtl="0">
              <a:lnSpc>
                <a:spcPct val="100000"/>
              </a:lnSpc>
              <a:spcBef>
                <a:spcPts val="0"/>
              </a:spcBef>
              <a:spcAft>
                <a:spcPts val="0"/>
              </a:spcAft>
              <a:buSzPts val="1100"/>
              <a:buNone/>
            </a:pPr>
            <a:endParaRPr lang="fr-FR" dirty="0"/>
          </a:p>
          <a:p>
            <a:pPr marL="0" lvl="0" indent="0" algn="l" rtl="0">
              <a:lnSpc>
                <a:spcPct val="100000"/>
              </a:lnSpc>
              <a:spcBef>
                <a:spcPts val="0"/>
              </a:spcBef>
              <a:spcAft>
                <a:spcPts val="0"/>
              </a:spcAft>
              <a:buSzPts val="1100"/>
              <a:buNone/>
            </a:pPr>
            <a:r>
              <a:rPr lang="fr-FR" dirty="0"/>
              <a:t>Pour conclure, ce projet de gouvernance data vise avant tout à transformer la richesse data de Spotify en un levier de performance durable.</a:t>
            </a:r>
          </a:p>
          <a:p>
            <a:pPr marL="0" lvl="0" indent="0" algn="l" rtl="0">
              <a:lnSpc>
                <a:spcPct val="100000"/>
              </a:lnSpc>
              <a:spcBef>
                <a:spcPts val="0"/>
              </a:spcBef>
              <a:spcAft>
                <a:spcPts val="0"/>
              </a:spcAft>
              <a:buSzPts val="1100"/>
              <a:buNone/>
            </a:pPr>
            <a:r>
              <a:rPr lang="fr-FR" dirty="0"/>
              <a:t> En structurant les pratiques autour d’un Data Center of Excellence, Spotify peut renforcer</a:t>
            </a:r>
          </a:p>
          <a:p>
            <a:pPr marL="0" lvl="0" indent="0" algn="l" rtl="0">
              <a:lnSpc>
                <a:spcPct val="100000"/>
              </a:lnSpc>
              <a:spcBef>
                <a:spcPts val="0"/>
              </a:spcBef>
              <a:spcAft>
                <a:spcPts val="0"/>
              </a:spcAft>
              <a:buSzPts val="1100"/>
              <a:buNone/>
            </a:pPr>
            <a:r>
              <a:rPr lang="fr-FR" dirty="0"/>
              <a:t> la qualité, l</a:t>
            </a:r>
          </a:p>
          <a:p>
            <a:pPr marL="0" lvl="0" indent="0" algn="l" rtl="0">
              <a:lnSpc>
                <a:spcPct val="100000"/>
              </a:lnSpc>
              <a:spcBef>
                <a:spcPts val="0"/>
              </a:spcBef>
              <a:spcAft>
                <a:spcPts val="0"/>
              </a:spcAft>
              <a:buSzPts val="1100"/>
              <a:buNone/>
            </a:pPr>
            <a:r>
              <a:rPr lang="fr-FR" dirty="0"/>
              <a:t>a conformité </a:t>
            </a:r>
          </a:p>
          <a:p>
            <a:pPr marL="0" lvl="0" indent="0" algn="l" rtl="0">
              <a:lnSpc>
                <a:spcPct val="100000"/>
              </a:lnSpc>
              <a:spcBef>
                <a:spcPts val="0"/>
              </a:spcBef>
              <a:spcAft>
                <a:spcPts val="0"/>
              </a:spcAft>
              <a:buSzPts val="1100"/>
              <a:buNone/>
            </a:pPr>
            <a:r>
              <a:rPr lang="fr-FR" dirty="0"/>
              <a:t>et la cohérence de ses données, sans remettre en cause l’agilité qui fait la force de ses équipes produit. </a:t>
            </a:r>
          </a:p>
          <a:p>
            <a:pPr marL="0" lvl="0" indent="0" algn="l" rtl="0">
              <a:lnSpc>
                <a:spcPct val="100000"/>
              </a:lnSpc>
              <a:spcBef>
                <a:spcPts val="0"/>
              </a:spcBef>
              <a:spcAft>
                <a:spcPts val="0"/>
              </a:spcAft>
              <a:buSzPts val="1100"/>
              <a:buNone/>
            </a:pPr>
            <a:endParaRPr lang="fr-FR" dirty="0"/>
          </a:p>
          <a:p>
            <a:pPr marL="0" lvl="0" indent="0" algn="l" rtl="0">
              <a:lnSpc>
                <a:spcPct val="100000"/>
              </a:lnSpc>
              <a:spcBef>
                <a:spcPts val="0"/>
              </a:spcBef>
              <a:spcAft>
                <a:spcPts val="0"/>
              </a:spcAft>
              <a:buSzPts val="1100"/>
              <a:buNone/>
            </a:pPr>
            <a:r>
              <a:rPr lang="fr-FR" dirty="0"/>
              <a:t>L’approche progressive proposée permet de </a:t>
            </a:r>
          </a:p>
          <a:p>
            <a:pPr marL="0" lvl="0" indent="0" algn="l" rtl="0">
              <a:lnSpc>
                <a:spcPct val="100000"/>
              </a:lnSpc>
              <a:spcBef>
                <a:spcPts val="0"/>
              </a:spcBef>
              <a:spcAft>
                <a:spcPts val="0"/>
              </a:spcAft>
              <a:buSzPts val="1100"/>
              <a:buNone/>
            </a:pPr>
            <a:r>
              <a:rPr lang="fr-FR" dirty="0"/>
              <a:t>sécuriser le déploiement, </a:t>
            </a:r>
          </a:p>
          <a:p>
            <a:pPr marL="0" lvl="0" indent="0" algn="l" rtl="0">
              <a:lnSpc>
                <a:spcPct val="100000"/>
              </a:lnSpc>
              <a:spcBef>
                <a:spcPts val="0"/>
              </a:spcBef>
              <a:spcAft>
                <a:spcPts val="0"/>
              </a:spcAft>
              <a:buSzPts val="1100"/>
              <a:buNone/>
            </a:pPr>
            <a:r>
              <a:rPr lang="fr-FR" dirty="0"/>
              <a:t>de démontrer rapidement la valeur business </a:t>
            </a:r>
          </a:p>
          <a:p>
            <a:pPr marL="0" lvl="0" indent="0" algn="l" rtl="0">
              <a:lnSpc>
                <a:spcPct val="100000"/>
              </a:lnSpc>
              <a:spcBef>
                <a:spcPts val="0"/>
              </a:spcBef>
              <a:spcAft>
                <a:spcPts val="0"/>
              </a:spcAft>
              <a:buSzPts val="1100"/>
              <a:buNone/>
            </a:pPr>
            <a:r>
              <a:rPr lang="fr-FR" dirty="0"/>
              <a:t>et d’inscrire la gouvernance data dans la durée.</a:t>
            </a:r>
          </a:p>
          <a:p>
            <a:pPr marL="0" lvl="0" indent="0" algn="l" rtl="0">
              <a:lnSpc>
                <a:spcPct val="100000"/>
              </a:lnSpc>
              <a:spcBef>
                <a:spcPts val="0"/>
              </a:spcBef>
              <a:spcAft>
                <a:spcPts val="0"/>
              </a:spcAft>
              <a:buSzPts val="1100"/>
              <a:buNone/>
            </a:pPr>
            <a:endParaRPr lang="fr-FR"/>
          </a:p>
          <a:p>
            <a:pPr marL="0" lvl="0" indent="0" algn="l" rtl="0">
              <a:lnSpc>
                <a:spcPct val="100000"/>
              </a:lnSpc>
              <a:spcBef>
                <a:spcPts val="0"/>
              </a:spcBef>
              <a:spcAft>
                <a:spcPts val="0"/>
              </a:spcAft>
              <a:buSzPts val="1100"/>
              <a:buNone/>
            </a:pPr>
            <a:r>
              <a:rPr lang="fr-FR" dirty="0"/>
              <a:t> Ainsi, la gouvernance n’est pas un frein à l’innovation, mais un accélérateur de confiance, d’efficacité et de création de valeur à l’échelle mondiale</a:t>
            </a:r>
            <a:endParaRPr dirty="0"/>
          </a:p>
        </p:txBody>
      </p:sp>
    </p:spTree>
    <p:extLst>
      <p:ext uri="{BB962C8B-B14F-4D97-AF65-F5344CB8AC3E}">
        <p14:creationId xmlns:p14="http://schemas.microsoft.com/office/powerpoint/2010/main" val="14343540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77ed9f117a_2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77ed9f117a_2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4.emf"/><Relationship Id="rId5" Type="http://schemas.openxmlformats.org/officeDocument/2006/relationships/package" Target="../embeddings/Microsoft_Excel_Worksheet.xlsx"/><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5.emf"/></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hyperlink" Target="https://github.com/Davidjaoui/AIA-2025/blob/main/BLOC_1_DATA_GOUVERNANCE/02%20Rapport%20de%20maturit%C3%A9%20data%20.pdf" TargetMode="Externa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3.emf"/></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hyperlink" Target="https://github.com/Davidjaoui/AIA-2025/blob/main/BLOC_1_DATA_GOUVERNANCE/05%20Data%20Gouvernance%20Policy.pdf" TargetMode="Externa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github.com/Davidjaoui/AIA-2025/blob/main/BLOC_1_DATA_GOUVERNANCE/06%20plan%20d'implementation%203_etapes.pdf"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708992" y="712713"/>
            <a:ext cx="1726016" cy="61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fr" sz="4400" b="1" dirty="0">
                <a:solidFill>
                  <a:schemeClr val="tx1"/>
                </a:solidFill>
                <a:latin typeface="Aptos" panose="020B0004020202020204" pitchFamily="34" charset="0"/>
                <a:ea typeface="Inter Medium"/>
                <a:sym typeface="Inter SemiBold"/>
              </a:rPr>
              <a:t>Projet</a:t>
            </a:r>
            <a:endParaRPr sz="4400" b="1" dirty="0">
              <a:solidFill>
                <a:schemeClr val="tx1"/>
              </a:solidFill>
              <a:latin typeface="Aptos" panose="020B0004020202020204" pitchFamily="34" charset="0"/>
              <a:ea typeface="Inter Medium"/>
              <a:sym typeface="Inter SemiBold"/>
            </a:endParaRPr>
          </a:p>
        </p:txBody>
      </p:sp>
      <p:pic>
        <p:nvPicPr>
          <p:cNvPr id="56" name="Google Shape;56;p13"/>
          <p:cNvPicPr preferRelativeResize="0"/>
          <p:nvPr/>
        </p:nvPicPr>
        <p:blipFill>
          <a:blip r:embed="rId3">
            <a:alphaModFix/>
          </a:blip>
          <a:stretch>
            <a:fillRect/>
          </a:stretch>
        </p:blipFill>
        <p:spPr>
          <a:xfrm>
            <a:off x="76200" y="90544"/>
            <a:ext cx="973275" cy="651050"/>
          </a:xfrm>
          <a:prstGeom prst="rect">
            <a:avLst/>
          </a:prstGeom>
          <a:noFill/>
          <a:ln>
            <a:noFill/>
          </a:ln>
        </p:spPr>
      </p:pic>
      <p:sp>
        <p:nvSpPr>
          <p:cNvPr id="57" name="Google Shape;57;p13"/>
          <p:cNvSpPr txBox="1">
            <a:spLocks noGrp="1"/>
          </p:cNvSpPr>
          <p:nvPr>
            <p:ph type="ctrTitle"/>
          </p:nvPr>
        </p:nvSpPr>
        <p:spPr>
          <a:xfrm>
            <a:off x="1914449" y="3783490"/>
            <a:ext cx="5315102" cy="832139"/>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fr" sz="4400" b="1" dirty="0">
                <a:solidFill>
                  <a:schemeClr val="tx1"/>
                </a:solidFill>
                <a:latin typeface="Aptos" panose="020B0004020202020204" pitchFamily="34" charset="0"/>
                <a:ea typeface="Inter Medium"/>
                <a:cs typeface="Inter Medium"/>
                <a:sym typeface="Inter Medium"/>
              </a:rPr>
              <a:t>Data Gouvernance</a:t>
            </a:r>
            <a:endParaRPr sz="4400" b="1" dirty="0">
              <a:solidFill>
                <a:schemeClr val="tx1"/>
              </a:solidFill>
              <a:latin typeface="Aptos" panose="020B0004020202020204" pitchFamily="34" charset="0"/>
              <a:ea typeface="Inter Medium"/>
              <a:cs typeface="Inter Medium"/>
              <a:sym typeface="Inter Medium"/>
            </a:endParaRPr>
          </a:p>
        </p:txBody>
      </p:sp>
      <p:pic>
        <p:nvPicPr>
          <p:cNvPr id="5" name="Image 4">
            <a:extLst>
              <a:ext uri="{FF2B5EF4-FFF2-40B4-BE49-F238E27FC236}">
                <a16:creationId xmlns:a16="http://schemas.microsoft.com/office/drawing/2014/main" id="{C699ED71-FF27-F777-6420-EF8CE08C1AD0}"/>
              </a:ext>
            </a:extLst>
          </p:cNvPr>
          <p:cNvPicPr>
            <a:picLocks noChangeAspect="1"/>
          </p:cNvPicPr>
          <p:nvPr/>
        </p:nvPicPr>
        <p:blipFill>
          <a:blip r:embed="rId4"/>
          <a:stretch>
            <a:fillRect/>
          </a:stretch>
        </p:blipFill>
        <p:spPr>
          <a:xfrm>
            <a:off x="2153467" y="1641331"/>
            <a:ext cx="4837065" cy="145111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80">
          <a:extLst>
            <a:ext uri="{FF2B5EF4-FFF2-40B4-BE49-F238E27FC236}">
              <a16:creationId xmlns:a16="http://schemas.microsoft.com/office/drawing/2014/main" id="{83C140B6-A3CA-6AB9-FDFA-0920AA2E86C8}"/>
            </a:ext>
          </a:extLst>
        </p:cNvPr>
        <p:cNvGrpSpPr/>
        <p:nvPr/>
      </p:nvGrpSpPr>
      <p:grpSpPr>
        <a:xfrm>
          <a:off x="0" y="0"/>
          <a:ext cx="0" cy="0"/>
          <a:chOff x="0" y="0"/>
          <a:chExt cx="0" cy="0"/>
        </a:xfrm>
      </p:grpSpPr>
      <p:sp>
        <p:nvSpPr>
          <p:cNvPr id="81" name="Google Shape;81;p16">
            <a:extLst>
              <a:ext uri="{FF2B5EF4-FFF2-40B4-BE49-F238E27FC236}">
                <a16:creationId xmlns:a16="http://schemas.microsoft.com/office/drawing/2014/main" id="{0061F83D-46D6-88DB-E750-8C2BFD677B85}"/>
              </a:ext>
            </a:extLst>
          </p:cNvPr>
          <p:cNvSpPr/>
          <p:nvPr/>
        </p:nvSpPr>
        <p:spPr>
          <a:xfrm>
            <a:off x="-126879" y="-8850"/>
            <a:ext cx="3335400" cy="5161200"/>
          </a:xfrm>
          <a:prstGeom prst="rect">
            <a:avLst/>
          </a:prstGeom>
          <a:solidFill>
            <a:srgbClr val="C3FF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82" name="Google Shape;82;p16">
            <a:extLst>
              <a:ext uri="{FF2B5EF4-FFF2-40B4-BE49-F238E27FC236}">
                <a16:creationId xmlns:a16="http://schemas.microsoft.com/office/drawing/2014/main" id="{3CFAE3BB-29CE-41A1-DFE6-4170695F9169}"/>
              </a:ext>
            </a:extLst>
          </p:cNvPr>
          <p:cNvSpPr txBox="1">
            <a:spLocks noGrp="1"/>
          </p:cNvSpPr>
          <p:nvPr>
            <p:ph type="title"/>
          </p:nvPr>
        </p:nvSpPr>
        <p:spPr>
          <a:xfrm>
            <a:off x="129343" y="1920634"/>
            <a:ext cx="2513100" cy="909652"/>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fr" sz="2400" b="1" dirty="0">
                <a:solidFill>
                  <a:schemeClr val="tx1">
                    <a:lumMod val="65000"/>
                    <a:lumOff val="35000"/>
                  </a:schemeClr>
                </a:solidFill>
                <a:latin typeface="Aptos" panose="020B0004020202020204" pitchFamily="34" charset="0"/>
                <a:ea typeface="Inter"/>
                <a:cs typeface="Inter"/>
                <a:sym typeface="Inter"/>
              </a:rPr>
              <a:t>Contexte du projet</a:t>
            </a:r>
            <a:endParaRPr sz="2400" b="1" dirty="0">
              <a:solidFill>
                <a:schemeClr val="tx1">
                  <a:lumMod val="65000"/>
                  <a:lumOff val="35000"/>
                </a:schemeClr>
              </a:solidFill>
              <a:latin typeface="Aptos" panose="020B0004020202020204" pitchFamily="34" charset="0"/>
              <a:ea typeface="Inter"/>
              <a:cs typeface="Inter"/>
              <a:sym typeface="Inter"/>
            </a:endParaRPr>
          </a:p>
        </p:txBody>
      </p:sp>
      <p:sp>
        <p:nvSpPr>
          <p:cNvPr id="84" name="Google Shape;84;p16">
            <a:extLst>
              <a:ext uri="{FF2B5EF4-FFF2-40B4-BE49-F238E27FC236}">
                <a16:creationId xmlns:a16="http://schemas.microsoft.com/office/drawing/2014/main" id="{C1E338F8-25DE-A367-B69B-21AE27098E3C}"/>
              </a:ext>
            </a:extLst>
          </p:cNvPr>
          <p:cNvSpPr txBox="1">
            <a:spLocks noGrp="1"/>
          </p:cNvSpPr>
          <p:nvPr>
            <p:ph type="ctrTitle" idx="4294967295"/>
          </p:nvPr>
        </p:nvSpPr>
        <p:spPr>
          <a:xfrm>
            <a:off x="4158296" y="630758"/>
            <a:ext cx="4729395" cy="4038896"/>
          </a:xfrm>
          <a:prstGeom prst="rect">
            <a:avLst/>
          </a:prstGeom>
          <a:noFill/>
          <a:ln>
            <a:noFill/>
          </a:ln>
        </p:spPr>
        <p:txBody>
          <a:bodyPr spcFirstLastPara="1" wrap="square" lIns="91425" tIns="91425" rIns="91425" bIns="91425" anchor="t" anchorCtr="0">
            <a:noAutofit/>
          </a:bodyPr>
          <a:lstStyle/>
          <a:p>
            <a:r>
              <a:rPr lang="fr-FR" sz="1500" b="1" dirty="0">
                <a:solidFill>
                  <a:schemeClr val="tx1">
                    <a:lumMod val="65000"/>
                    <a:lumOff val="35000"/>
                  </a:schemeClr>
                </a:solidFill>
                <a:latin typeface="Aptos" panose="020B0004020202020204" pitchFamily="34" charset="0"/>
              </a:rPr>
              <a:t>Contexte actuel de Spotify</a:t>
            </a:r>
            <a:br>
              <a:rPr lang="fr-FR" sz="1500" b="1" dirty="0">
                <a:solidFill>
                  <a:schemeClr val="tx1">
                    <a:lumMod val="65000"/>
                    <a:lumOff val="35000"/>
                  </a:schemeClr>
                </a:solidFill>
                <a:latin typeface="Aptos" panose="020B0004020202020204" pitchFamily="34" charset="0"/>
              </a:rPr>
            </a:br>
            <a:br>
              <a:rPr lang="fr-FR" sz="1100" b="1" dirty="0"/>
            </a:br>
            <a:r>
              <a:rPr lang="fr-FR" sz="1200" dirty="0" err="1">
                <a:solidFill>
                  <a:schemeClr val="tx1">
                    <a:lumMod val="65000"/>
                    <a:lumOff val="35000"/>
                  </a:schemeClr>
                </a:solidFill>
                <a:latin typeface="Aptos" panose="020B0004020202020204" pitchFamily="34" charset="0"/>
              </a:rPr>
              <a:t>Spotify</a:t>
            </a:r>
            <a:r>
              <a:rPr lang="fr-FR" sz="1200" dirty="0">
                <a:solidFill>
                  <a:schemeClr val="tx1">
                    <a:lumMod val="65000"/>
                    <a:lumOff val="35000"/>
                  </a:schemeClr>
                </a:solidFill>
                <a:latin typeface="Aptos" panose="020B0004020202020204" pitchFamily="34" charset="0"/>
              </a:rPr>
              <a:t> est une plateforme mondiale fortement orientée produit et data, exploitant des volumes massifs de données en temps réel. </a:t>
            </a:r>
            <a:br>
              <a:rPr lang="fr-FR" sz="1200" dirty="0">
                <a:solidFill>
                  <a:schemeClr val="tx1">
                    <a:lumMod val="65000"/>
                    <a:lumOff val="35000"/>
                  </a:schemeClr>
                </a:solidFill>
                <a:latin typeface="Aptos" panose="020B0004020202020204" pitchFamily="34" charset="0"/>
              </a:rPr>
            </a:br>
            <a:br>
              <a:rPr lang="fr-FR" sz="1500" dirty="0">
                <a:solidFill>
                  <a:schemeClr val="tx1">
                    <a:lumMod val="65000"/>
                    <a:lumOff val="35000"/>
                  </a:schemeClr>
                </a:solidFill>
                <a:latin typeface="Aptos" panose="020B0004020202020204" pitchFamily="34" charset="0"/>
              </a:rPr>
            </a:br>
            <a:r>
              <a:rPr lang="fr-FR" sz="1200" dirty="0">
                <a:solidFill>
                  <a:schemeClr val="tx1">
                    <a:lumMod val="65000"/>
                    <a:lumOff val="35000"/>
                  </a:schemeClr>
                </a:solidFill>
                <a:latin typeface="Aptos" panose="020B0004020202020204" pitchFamily="34" charset="0"/>
              </a:rPr>
              <a:t>Ces données restent fragmentées entre équipes et régions, avec des pratiques hétérogènes. </a:t>
            </a:r>
            <a:br>
              <a:rPr lang="fr-FR" sz="1200" dirty="0">
                <a:solidFill>
                  <a:schemeClr val="tx1">
                    <a:lumMod val="65000"/>
                    <a:lumOff val="35000"/>
                  </a:schemeClr>
                </a:solidFill>
                <a:latin typeface="Aptos" panose="020B0004020202020204" pitchFamily="34" charset="0"/>
              </a:rPr>
            </a:br>
            <a:br>
              <a:rPr lang="fr-FR" sz="1200" dirty="0">
                <a:solidFill>
                  <a:schemeClr val="tx1">
                    <a:lumMod val="65000"/>
                    <a:lumOff val="35000"/>
                  </a:schemeClr>
                </a:solidFill>
                <a:latin typeface="Aptos" panose="020B0004020202020204" pitchFamily="34" charset="0"/>
              </a:rPr>
            </a:br>
            <a:r>
              <a:rPr lang="fr-FR" sz="1200" dirty="0">
                <a:solidFill>
                  <a:schemeClr val="tx1">
                    <a:lumMod val="65000"/>
                    <a:lumOff val="35000"/>
                  </a:schemeClr>
                </a:solidFill>
                <a:latin typeface="Aptos" panose="020B0004020202020204" pitchFamily="34" charset="0"/>
              </a:rPr>
              <a:t>Un cadre commun est nécessaire pour structurer standards, méthodes et responsabilités.</a:t>
            </a:r>
            <a:br>
              <a:rPr lang="fr-FR" sz="1200" dirty="0">
                <a:latin typeface="Aptos" panose="020B0004020202020204" pitchFamily="34" charset="0"/>
              </a:rPr>
            </a:br>
            <a:br>
              <a:rPr lang="fr-FR" sz="1200" dirty="0">
                <a:latin typeface="Aptos" panose="020B0004020202020204" pitchFamily="34" charset="0"/>
              </a:rPr>
            </a:br>
            <a:br>
              <a:rPr lang="fr-FR" sz="1500" dirty="0">
                <a:solidFill>
                  <a:schemeClr val="tx1">
                    <a:lumMod val="65000"/>
                    <a:lumOff val="35000"/>
                  </a:schemeClr>
                </a:solidFill>
                <a:latin typeface="Aptos" panose="020B0004020202020204" pitchFamily="34" charset="0"/>
              </a:rPr>
            </a:br>
            <a:r>
              <a:rPr lang="fr-FR" sz="1500" b="1" dirty="0">
                <a:solidFill>
                  <a:schemeClr val="tx1">
                    <a:lumMod val="65000"/>
                    <a:lumOff val="35000"/>
                  </a:schemeClr>
                </a:solidFill>
                <a:latin typeface="Aptos" panose="020B0004020202020204" pitchFamily="34" charset="0"/>
              </a:rPr>
              <a:t>Objectif du projet</a:t>
            </a:r>
            <a:br>
              <a:rPr lang="fr-FR" sz="1500" b="1" dirty="0">
                <a:solidFill>
                  <a:schemeClr val="tx1">
                    <a:lumMod val="65000"/>
                    <a:lumOff val="35000"/>
                  </a:schemeClr>
                </a:solidFill>
                <a:latin typeface="Aptos" panose="020B0004020202020204" pitchFamily="34" charset="0"/>
              </a:rPr>
            </a:br>
            <a:br>
              <a:rPr lang="fr-FR" sz="1100" b="1" dirty="0"/>
            </a:br>
            <a:r>
              <a:rPr lang="fr-FR" sz="1200" dirty="0">
                <a:solidFill>
                  <a:schemeClr val="tx1">
                    <a:lumMod val="65000"/>
                    <a:lumOff val="35000"/>
                  </a:schemeClr>
                </a:solidFill>
                <a:latin typeface="Aptos" panose="020B0004020202020204" pitchFamily="34" charset="0"/>
              </a:rPr>
              <a:t>L’objectif est de structurer une gouvernance data globale permettant de garantir la fiabilité, la cohérence et la conformité des données, et de préserver l’agilité des équipes produit.</a:t>
            </a:r>
            <a:br>
              <a:rPr lang="fr-FR" sz="1200" dirty="0">
                <a:solidFill>
                  <a:schemeClr val="tx1">
                    <a:lumMod val="65000"/>
                    <a:lumOff val="35000"/>
                  </a:schemeClr>
                </a:solidFill>
                <a:latin typeface="Aptos" panose="020B0004020202020204" pitchFamily="34" charset="0"/>
              </a:rPr>
            </a:br>
            <a:br>
              <a:rPr lang="fr-FR" sz="1200" dirty="0">
                <a:solidFill>
                  <a:schemeClr val="tx1">
                    <a:lumMod val="65000"/>
                    <a:lumOff val="35000"/>
                  </a:schemeClr>
                </a:solidFill>
                <a:latin typeface="Aptos" panose="020B0004020202020204" pitchFamily="34" charset="0"/>
              </a:rPr>
            </a:br>
            <a:r>
              <a:rPr lang="fr-FR" sz="1200" dirty="0">
                <a:solidFill>
                  <a:schemeClr val="tx1">
                    <a:lumMod val="65000"/>
                    <a:lumOff val="35000"/>
                  </a:schemeClr>
                </a:solidFill>
                <a:latin typeface="Aptos" panose="020B0004020202020204" pitchFamily="34" charset="0"/>
              </a:rPr>
              <a:t>La mise en place d’un Data Center of Excellence vise à maximiser la création de valeur business à partir de la donnée.</a:t>
            </a:r>
            <a:br>
              <a:rPr lang="fr-FR" sz="1200" dirty="0">
                <a:solidFill>
                  <a:schemeClr val="tx1">
                    <a:lumMod val="65000"/>
                    <a:lumOff val="35000"/>
                  </a:schemeClr>
                </a:solidFill>
                <a:latin typeface="Aptos" panose="020B0004020202020204" pitchFamily="34" charset="0"/>
              </a:rPr>
            </a:br>
            <a:endParaRPr lang="fr-FR" sz="1200" dirty="0">
              <a:solidFill>
                <a:schemeClr val="tx1">
                  <a:lumMod val="65000"/>
                  <a:lumOff val="35000"/>
                </a:schemeClr>
              </a:solidFill>
              <a:latin typeface="Aptos" panose="020B0004020202020204" pitchFamily="34" charset="0"/>
              <a:sym typeface="Inter"/>
            </a:endParaRPr>
          </a:p>
        </p:txBody>
      </p:sp>
      <p:sp>
        <p:nvSpPr>
          <p:cNvPr id="85" name="Google Shape;85;p16">
            <a:extLst>
              <a:ext uri="{FF2B5EF4-FFF2-40B4-BE49-F238E27FC236}">
                <a16:creationId xmlns:a16="http://schemas.microsoft.com/office/drawing/2014/main" id="{19711759-8150-2454-E693-FCC33CAD5770}"/>
              </a:ext>
            </a:extLst>
          </p:cNvPr>
          <p:cNvSpPr/>
          <p:nvPr/>
        </p:nvSpPr>
        <p:spPr>
          <a:xfrm rot="-355994" flipV="1">
            <a:off x="3743032" y="875330"/>
            <a:ext cx="261199" cy="45719"/>
          </a:xfrm>
          <a:prstGeom prst="roundRect">
            <a:avLst>
              <a:gd name="adj" fmla="val 50000"/>
            </a:avLst>
          </a:prstGeom>
          <a:solidFill>
            <a:srgbClr val="C3FF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89" name="Google Shape;89;p16">
            <a:extLst>
              <a:ext uri="{FF2B5EF4-FFF2-40B4-BE49-F238E27FC236}">
                <a16:creationId xmlns:a16="http://schemas.microsoft.com/office/drawing/2014/main" id="{9E5E8B43-AF83-D9B3-A37B-077E3A12A957}"/>
              </a:ext>
            </a:extLst>
          </p:cNvPr>
          <p:cNvSpPr/>
          <p:nvPr/>
        </p:nvSpPr>
        <p:spPr>
          <a:xfrm rot="-355994" flipV="1">
            <a:off x="3722938" y="3149198"/>
            <a:ext cx="261199" cy="45719"/>
          </a:xfrm>
          <a:prstGeom prst="roundRect">
            <a:avLst>
              <a:gd name="adj" fmla="val 50000"/>
            </a:avLst>
          </a:prstGeom>
          <a:solidFill>
            <a:srgbClr val="C3FF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pic>
        <p:nvPicPr>
          <p:cNvPr id="2" name="Google Shape;56;p13">
            <a:extLst>
              <a:ext uri="{FF2B5EF4-FFF2-40B4-BE49-F238E27FC236}">
                <a16:creationId xmlns:a16="http://schemas.microsoft.com/office/drawing/2014/main" id="{E64216D7-3B34-5736-8E0E-02E706BC4E31}"/>
              </a:ext>
            </a:extLst>
          </p:cNvPr>
          <p:cNvPicPr preferRelativeResize="0"/>
          <p:nvPr/>
        </p:nvPicPr>
        <p:blipFill>
          <a:blip r:embed="rId3">
            <a:alphaModFix/>
          </a:blip>
          <a:stretch>
            <a:fillRect/>
          </a:stretch>
        </p:blipFill>
        <p:spPr>
          <a:xfrm>
            <a:off x="76200" y="90544"/>
            <a:ext cx="973275" cy="651050"/>
          </a:xfrm>
          <a:prstGeom prst="rect">
            <a:avLst/>
          </a:prstGeom>
          <a:noFill/>
          <a:ln>
            <a:noFill/>
          </a:ln>
        </p:spPr>
      </p:pic>
    </p:spTree>
    <p:extLst>
      <p:ext uri="{BB962C8B-B14F-4D97-AF65-F5344CB8AC3E}">
        <p14:creationId xmlns:p14="http://schemas.microsoft.com/office/powerpoint/2010/main" val="1301013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80">
          <a:extLst>
            <a:ext uri="{FF2B5EF4-FFF2-40B4-BE49-F238E27FC236}">
              <a16:creationId xmlns:a16="http://schemas.microsoft.com/office/drawing/2014/main" id="{83C140B6-A3CA-6AB9-FDFA-0920AA2E86C8}"/>
            </a:ext>
          </a:extLst>
        </p:cNvPr>
        <p:cNvGrpSpPr/>
        <p:nvPr/>
      </p:nvGrpSpPr>
      <p:grpSpPr>
        <a:xfrm>
          <a:off x="0" y="0"/>
          <a:ext cx="0" cy="0"/>
          <a:chOff x="0" y="0"/>
          <a:chExt cx="0" cy="0"/>
        </a:xfrm>
      </p:grpSpPr>
      <p:sp>
        <p:nvSpPr>
          <p:cNvPr id="81" name="Google Shape;81;p16">
            <a:extLst>
              <a:ext uri="{FF2B5EF4-FFF2-40B4-BE49-F238E27FC236}">
                <a16:creationId xmlns:a16="http://schemas.microsoft.com/office/drawing/2014/main" id="{0061F83D-46D6-88DB-E750-8C2BFD677B85}"/>
              </a:ext>
            </a:extLst>
          </p:cNvPr>
          <p:cNvSpPr/>
          <p:nvPr/>
        </p:nvSpPr>
        <p:spPr>
          <a:xfrm>
            <a:off x="-126879" y="-8850"/>
            <a:ext cx="3335400" cy="5161200"/>
          </a:xfrm>
          <a:prstGeom prst="rect">
            <a:avLst/>
          </a:prstGeom>
          <a:solidFill>
            <a:srgbClr val="C3FF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16">
            <a:extLst>
              <a:ext uri="{FF2B5EF4-FFF2-40B4-BE49-F238E27FC236}">
                <a16:creationId xmlns:a16="http://schemas.microsoft.com/office/drawing/2014/main" id="{3CFAE3BB-29CE-41A1-DFE6-4170695F9169}"/>
              </a:ext>
            </a:extLst>
          </p:cNvPr>
          <p:cNvSpPr txBox="1">
            <a:spLocks noGrp="1"/>
          </p:cNvSpPr>
          <p:nvPr>
            <p:ph type="title"/>
          </p:nvPr>
        </p:nvSpPr>
        <p:spPr>
          <a:xfrm>
            <a:off x="129343" y="1920633"/>
            <a:ext cx="2513100" cy="1252057"/>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fr-FR" sz="2400" b="1" dirty="0">
                <a:solidFill>
                  <a:schemeClr val="tx1">
                    <a:lumMod val="65000"/>
                    <a:lumOff val="35000"/>
                  </a:schemeClr>
                </a:solidFill>
                <a:latin typeface="Aptos" panose="020B0004020202020204" pitchFamily="34" charset="0"/>
                <a:cs typeface="Inter"/>
              </a:rPr>
              <a:t>Présentation des 3 étapes du projet</a:t>
            </a:r>
            <a:endParaRPr sz="2400" b="1" dirty="0">
              <a:solidFill>
                <a:schemeClr val="tx1">
                  <a:lumMod val="65000"/>
                  <a:lumOff val="35000"/>
                </a:schemeClr>
              </a:solidFill>
              <a:latin typeface="Aptos" panose="020B0004020202020204" pitchFamily="34" charset="0"/>
              <a:ea typeface="Inter"/>
              <a:cs typeface="Inter"/>
              <a:sym typeface="Inter"/>
            </a:endParaRPr>
          </a:p>
        </p:txBody>
      </p:sp>
      <p:sp>
        <p:nvSpPr>
          <p:cNvPr id="84" name="Google Shape;84;p16">
            <a:extLst>
              <a:ext uri="{FF2B5EF4-FFF2-40B4-BE49-F238E27FC236}">
                <a16:creationId xmlns:a16="http://schemas.microsoft.com/office/drawing/2014/main" id="{C1E338F8-25DE-A367-B69B-21AE27098E3C}"/>
              </a:ext>
            </a:extLst>
          </p:cNvPr>
          <p:cNvSpPr txBox="1">
            <a:spLocks noGrp="1"/>
          </p:cNvSpPr>
          <p:nvPr>
            <p:ph type="ctrTitle" idx="4294967295"/>
          </p:nvPr>
        </p:nvSpPr>
        <p:spPr>
          <a:xfrm>
            <a:off x="3989620" y="932599"/>
            <a:ext cx="4729395" cy="3781915"/>
          </a:xfrm>
          <a:prstGeom prst="rect">
            <a:avLst/>
          </a:prstGeom>
          <a:noFill/>
          <a:ln>
            <a:noFill/>
          </a:ln>
        </p:spPr>
        <p:txBody>
          <a:bodyPr spcFirstLastPara="1" wrap="square" lIns="91425" tIns="91425" rIns="91425" bIns="91425" anchor="t" anchorCtr="0">
            <a:noAutofit/>
          </a:bodyPr>
          <a:lstStyle/>
          <a:p>
            <a:r>
              <a:rPr lang="fr-FR" sz="1500" b="1" dirty="0">
                <a:solidFill>
                  <a:schemeClr val="tx1">
                    <a:lumMod val="65000"/>
                    <a:lumOff val="35000"/>
                  </a:schemeClr>
                </a:solidFill>
                <a:latin typeface="Aptos" panose="020B0004020202020204" pitchFamily="34" charset="0"/>
              </a:rPr>
              <a:t>Diagnostic &amp; cadrage</a:t>
            </a:r>
            <a:br>
              <a:rPr lang="fr-FR" sz="1500" dirty="0">
                <a:solidFill>
                  <a:schemeClr val="tx1">
                    <a:lumMod val="65000"/>
                    <a:lumOff val="35000"/>
                  </a:schemeClr>
                </a:solidFill>
                <a:latin typeface="Aptos" panose="020B0004020202020204" pitchFamily="34" charset="0"/>
              </a:rPr>
            </a:br>
            <a:r>
              <a:rPr lang="fr-FR" sz="1500" dirty="0">
                <a:solidFill>
                  <a:schemeClr val="tx1">
                    <a:lumMod val="65000"/>
                    <a:lumOff val="35000"/>
                  </a:schemeClr>
                </a:solidFill>
                <a:latin typeface="Aptos" panose="020B0004020202020204" pitchFamily="34" charset="0"/>
              </a:rPr>
              <a:t>Analyser l’existant pour identifier les écarts de maturité et définir une gouvernance data cible</a:t>
            </a:r>
            <a:r>
              <a:rPr lang="fr-FR" sz="1200" dirty="0">
                <a:solidFill>
                  <a:schemeClr val="tx1">
                    <a:lumMod val="65000"/>
                    <a:lumOff val="35000"/>
                  </a:schemeClr>
                </a:solidFill>
                <a:latin typeface="Aptos" panose="020B0004020202020204" pitchFamily="34" charset="0"/>
              </a:rPr>
              <a:t>.</a:t>
            </a:r>
            <a:br>
              <a:rPr lang="fr-FR" sz="1200" dirty="0">
                <a:solidFill>
                  <a:schemeClr val="tx1">
                    <a:lumMod val="65000"/>
                    <a:lumOff val="35000"/>
                  </a:schemeClr>
                </a:solidFill>
                <a:latin typeface="Aptos" panose="020B0004020202020204" pitchFamily="34" charset="0"/>
              </a:rPr>
            </a:br>
            <a:br>
              <a:rPr lang="fr-FR" sz="1500" dirty="0">
                <a:solidFill>
                  <a:schemeClr val="tx1">
                    <a:lumMod val="65000"/>
                    <a:lumOff val="35000"/>
                  </a:schemeClr>
                </a:solidFill>
                <a:latin typeface="Aptos" panose="020B0004020202020204" pitchFamily="34" charset="0"/>
              </a:rPr>
            </a:br>
            <a:br>
              <a:rPr lang="fr-FR" altLang="fr-FR" sz="1500" dirty="0">
                <a:solidFill>
                  <a:schemeClr val="tx1">
                    <a:lumMod val="65000"/>
                    <a:lumOff val="35000"/>
                  </a:schemeClr>
                </a:solidFill>
                <a:latin typeface="Aptos" panose="020B0004020202020204" pitchFamily="34" charset="0"/>
              </a:rPr>
            </a:br>
            <a:r>
              <a:rPr lang="fr-FR" sz="1500" b="1" dirty="0">
                <a:solidFill>
                  <a:schemeClr val="tx1">
                    <a:lumMod val="65000"/>
                    <a:lumOff val="35000"/>
                  </a:schemeClr>
                </a:solidFill>
                <a:latin typeface="Aptos" panose="020B0004020202020204" pitchFamily="34" charset="0"/>
              </a:rPr>
              <a:t>Mise en place du modèle cible</a:t>
            </a:r>
            <a:br>
              <a:rPr lang="fr-FR" sz="1500" dirty="0">
                <a:solidFill>
                  <a:schemeClr val="tx1">
                    <a:lumMod val="65000"/>
                    <a:lumOff val="35000"/>
                  </a:schemeClr>
                </a:solidFill>
                <a:latin typeface="Aptos" panose="020B0004020202020204" pitchFamily="34" charset="0"/>
              </a:rPr>
            </a:br>
            <a:r>
              <a:rPr lang="fr-FR" sz="1500" dirty="0">
                <a:solidFill>
                  <a:schemeClr val="tx1">
                    <a:lumMod val="65000"/>
                    <a:lumOff val="35000"/>
                  </a:schemeClr>
                </a:solidFill>
                <a:latin typeface="Aptos" panose="020B0004020202020204" pitchFamily="34" charset="0"/>
              </a:rPr>
              <a:t>Déployer un Data Center of Excellence et clarifier les rôles pour structurer la gouvernance data..</a:t>
            </a:r>
            <a:br>
              <a:rPr lang="fr-FR" sz="1200" dirty="0">
                <a:solidFill>
                  <a:schemeClr val="tx1">
                    <a:lumMod val="65000"/>
                    <a:lumOff val="35000"/>
                  </a:schemeClr>
                </a:solidFill>
                <a:latin typeface="Aptos" panose="020B0004020202020204" pitchFamily="34" charset="0"/>
              </a:rPr>
            </a:br>
            <a:br>
              <a:rPr lang="fr-FR" sz="1500" dirty="0">
                <a:solidFill>
                  <a:schemeClr val="tx1">
                    <a:lumMod val="65000"/>
                    <a:lumOff val="35000"/>
                  </a:schemeClr>
                </a:solidFill>
                <a:latin typeface="Aptos" panose="020B0004020202020204" pitchFamily="34" charset="0"/>
              </a:rPr>
            </a:br>
            <a:br>
              <a:rPr lang="fr-FR" sz="1500" dirty="0">
                <a:solidFill>
                  <a:schemeClr val="tx1">
                    <a:lumMod val="65000"/>
                    <a:lumOff val="35000"/>
                  </a:schemeClr>
                </a:solidFill>
                <a:latin typeface="Aptos" panose="020B0004020202020204" pitchFamily="34" charset="0"/>
              </a:rPr>
            </a:br>
            <a:r>
              <a:rPr lang="fr-FR" sz="1500" b="1" dirty="0">
                <a:solidFill>
                  <a:schemeClr val="tx1">
                    <a:lumMod val="65000"/>
                    <a:lumOff val="35000"/>
                  </a:schemeClr>
                </a:solidFill>
                <a:latin typeface="Aptos" panose="020B0004020202020204" pitchFamily="34" charset="0"/>
              </a:rPr>
              <a:t>Déploiement &amp; pilotage</a:t>
            </a:r>
            <a:br>
              <a:rPr lang="fr-FR" sz="1500" dirty="0">
                <a:solidFill>
                  <a:schemeClr val="tx1">
                    <a:lumMod val="65000"/>
                    <a:lumOff val="35000"/>
                  </a:schemeClr>
                </a:solidFill>
                <a:latin typeface="Aptos" panose="020B0004020202020204" pitchFamily="34" charset="0"/>
              </a:rPr>
            </a:br>
            <a:r>
              <a:rPr lang="fr-FR" sz="1500" dirty="0">
                <a:solidFill>
                  <a:schemeClr val="tx1">
                    <a:lumMod val="65000"/>
                    <a:lumOff val="35000"/>
                  </a:schemeClr>
                </a:solidFill>
                <a:latin typeface="Aptos" panose="020B0004020202020204" pitchFamily="34" charset="0"/>
              </a:rPr>
              <a:t>Déployer le modèle à l’échelle globale, mesurer la valeur business et piloter l’amélioration continue.</a:t>
            </a:r>
            <a:br>
              <a:rPr lang="fr-FR" sz="1500" dirty="0">
                <a:solidFill>
                  <a:schemeClr val="tx1">
                    <a:lumMod val="65000"/>
                    <a:lumOff val="35000"/>
                  </a:schemeClr>
                </a:solidFill>
                <a:latin typeface="Aptos" panose="020B0004020202020204" pitchFamily="34" charset="0"/>
              </a:rPr>
            </a:br>
            <a:br>
              <a:rPr lang="fr-FR" sz="1200" dirty="0">
                <a:solidFill>
                  <a:schemeClr val="tx1">
                    <a:lumMod val="65000"/>
                    <a:lumOff val="35000"/>
                  </a:schemeClr>
                </a:solidFill>
                <a:latin typeface="Aptos" panose="020B0004020202020204" pitchFamily="34" charset="0"/>
              </a:rPr>
            </a:br>
            <a:endParaRPr lang="fr-FR" sz="1200" dirty="0">
              <a:solidFill>
                <a:schemeClr val="tx1">
                  <a:lumMod val="65000"/>
                  <a:lumOff val="35000"/>
                </a:schemeClr>
              </a:solidFill>
              <a:latin typeface="Aptos" panose="020B0004020202020204" pitchFamily="34" charset="0"/>
              <a:sym typeface="Inter"/>
            </a:endParaRPr>
          </a:p>
        </p:txBody>
      </p:sp>
      <p:sp>
        <p:nvSpPr>
          <p:cNvPr id="85" name="Google Shape;85;p16">
            <a:extLst>
              <a:ext uri="{FF2B5EF4-FFF2-40B4-BE49-F238E27FC236}">
                <a16:creationId xmlns:a16="http://schemas.microsoft.com/office/drawing/2014/main" id="{19711759-8150-2454-E693-FCC33CAD5770}"/>
              </a:ext>
            </a:extLst>
          </p:cNvPr>
          <p:cNvSpPr/>
          <p:nvPr/>
        </p:nvSpPr>
        <p:spPr>
          <a:xfrm rot="-355994" flipV="1">
            <a:off x="3574356" y="1177171"/>
            <a:ext cx="261199" cy="45719"/>
          </a:xfrm>
          <a:prstGeom prst="roundRect">
            <a:avLst>
              <a:gd name="adj" fmla="val 50000"/>
            </a:avLst>
          </a:prstGeom>
          <a:solidFill>
            <a:srgbClr val="C3FF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16">
            <a:extLst>
              <a:ext uri="{FF2B5EF4-FFF2-40B4-BE49-F238E27FC236}">
                <a16:creationId xmlns:a16="http://schemas.microsoft.com/office/drawing/2014/main" id="{9E5E8B43-AF83-D9B3-A37B-077E3A12A957}"/>
              </a:ext>
            </a:extLst>
          </p:cNvPr>
          <p:cNvSpPr/>
          <p:nvPr/>
        </p:nvSpPr>
        <p:spPr>
          <a:xfrm rot="-355994" flipV="1">
            <a:off x="3554262" y="3459380"/>
            <a:ext cx="261199" cy="45719"/>
          </a:xfrm>
          <a:prstGeom prst="roundRect">
            <a:avLst>
              <a:gd name="adj" fmla="val 50000"/>
            </a:avLst>
          </a:prstGeom>
          <a:solidFill>
            <a:srgbClr val="C3FF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 name="Google Shape;56;p13">
            <a:extLst>
              <a:ext uri="{FF2B5EF4-FFF2-40B4-BE49-F238E27FC236}">
                <a16:creationId xmlns:a16="http://schemas.microsoft.com/office/drawing/2014/main" id="{E64216D7-3B34-5736-8E0E-02E706BC4E31}"/>
              </a:ext>
            </a:extLst>
          </p:cNvPr>
          <p:cNvPicPr preferRelativeResize="0"/>
          <p:nvPr/>
        </p:nvPicPr>
        <p:blipFill>
          <a:blip r:embed="rId3">
            <a:alphaModFix/>
          </a:blip>
          <a:stretch>
            <a:fillRect/>
          </a:stretch>
        </p:blipFill>
        <p:spPr>
          <a:xfrm>
            <a:off x="76200" y="90544"/>
            <a:ext cx="973275" cy="651050"/>
          </a:xfrm>
          <a:prstGeom prst="rect">
            <a:avLst/>
          </a:prstGeom>
          <a:noFill/>
          <a:ln>
            <a:noFill/>
          </a:ln>
        </p:spPr>
      </p:pic>
      <p:sp>
        <p:nvSpPr>
          <p:cNvPr id="3" name="Google Shape;85;p16">
            <a:extLst>
              <a:ext uri="{FF2B5EF4-FFF2-40B4-BE49-F238E27FC236}">
                <a16:creationId xmlns:a16="http://schemas.microsoft.com/office/drawing/2014/main" id="{CE1EE781-E7A0-665D-ECFF-9A15DFD00C64}"/>
              </a:ext>
            </a:extLst>
          </p:cNvPr>
          <p:cNvSpPr/>
          <p:nvPr/>
        </p:nvSpPr>
        <p:spPr>
          <a:xfrm rot="21244006" flipV="1">
            <a:off x="3581284" y="2250824"/>
            <a:ext cx="261199" cy="45719"/>
          </a:xfrm>
          <a:prstGeom prst="roundRect">
            <a:avLst>
              <a:gd name="adj" fmla="val 50000"/>
            </a:avLst>
          </a:prstGeom>
          <a:solidFill>
            <a:srgbClr val="C3FF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8834838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93"/>
        <p:cNvGrpSpPr/>
        <p:nvPr/>
      </p:nvGrpSpPr>
      <p:grpSpPr>
        <a:xfrm>
          <a:off x="0" y="0"/>
          <a:ext cx="0" cy="0"/>
          <a:chOff x="0" y="0"/>
          <a:chExt cx="0" cy="0"/>
        </a:xfrm>
      </p:grpSpPr>
      <p:pic>
        <p:nvPicPr>
          <p:cNvPr id="24" name="Image 23">
            <a:extLst>
              <a:ext uri="{FF2B5EF4-FFF2-40B4-BE49-F238E27FC236}">
                <a16:creationId xmlns:a16="http://schemas.microsoft.com/office/drawing/2014/main" id="{D03B941A-9C78-10B7-F622-267DBEEC9AD4}"/>
              </a:ext>
            </a:extLst>
          </p:cNvPr>
          <p:cNvPicPr>
            <a:picLocks noChangeAspect="1"/>
          </p:cNvPicPr>
          <p:nvPr/>
        </p:nvPicPr>
        <p:blipFill>
          <a:blip r:embed="rId3"/>
          <a:stretch>
            <a:fillRect/>
          </a:stretch>
        </p:blipFill>
        <p:spPr>
          <a:xfrm>
            <a:off x="2315430" y="1777250"/>
            <a:ext cx="6766925" cy="2507073"/>
          </a:xfrm>
          <a:prstGeom prst="rect">
            <a:avLst/>
          </a:prstGeom>
          <a:solidFill>
            <a:schemeClr val="bg1"/>
          </a:solidFill>
          <a:ln>
            <a:solidFill>
              <a:schemeClr val="bg1"/>
            </a:solidFill>
          </a:ln>
        </p:spPr>
      </p:pic>
      <p:sp>
        <p:nvSpPr>
          <p:cNvPr id="53" name="ZoneTexte 52">
            <a:extLst>
              <a:ext uri="{FF2B5EF4-FFF2-40B4-BE49-F238E27FC236}">
                <a16:creationId xmlns:a16="http://schemas.microsoft.com/office/drawing/2014/main" id="{FF827886-FCCE-F7C8-C491-5514F1FD31BC}"/>
              </a:ext>
            </a:extLst>
          </p:cNvPr>
          <p:cNvSpPr txBox="1"/>
          <p:nvPr/>
        </p:nvSpPr>
        <p:spPr>
          <a:xfrm>
            <a:off x="6549787" y="1746961"/>
            <a:ext cx="723535" cy="400110"/>
          </a:xfrm>
          <a:prstGeom prst="rect">
            <a:avLst/>
          </a:prstGeom>
          <a:noFill/>
        </p:spPr>
        <p:txBody>
          <a:bodyPr wrap="square" rtlCol="0">
            <a:spAutoFit/>
          </a:bodyPr>
          <a:lstStyle/>
          <a:p>
            <a:pPr algn="ctr"/>
            <a:r>
              <a:rPr lang="fr-FR" sz="1000" b="1" dirty="0">
                <a:solidFill>
                  <a:schemeClr val="accent5">
                    <a:lumMod val="75000"/>
                  </a:schemeClr>
                </a:solidFill>
                <a:latin typeface="Aptos" panose="020B0004020202020204" pitchFamily="34" charset="0"/>
                <a:ea typeface="Inter" panose="020B0604020202020204" charset="0"/>
              </a:rPr>
              <a:t>Note                    </a:t>
            </a:r>
          </a:p>
          <a:p>
            <a:pPr algn="ctr"/>
            <a:r>
              <a:rPr lang="fr-FR" sz="1000" b="1" dirty="0">
                <a:solidFill>
                  <a:schemeClr val="accent5">
                    <a:lumMod val="75000"/>
                  </a:schemeClr>
                </a:solidFill>
                <a:latin typeface="Aptos" panose="020B0004020202020204" pitchFamily="34" charset="0"/>
                <a:ea typeface="Inter" panose="020B0604020202020204" charset="0"/>
              </a:rPr>
              <a:t>3,2 / 5 </a:t>
            </a:r>
          </a:p>
        </p:txBody>
      </p:sp>
      <p:sp>
        <p:nvSpPr>
          <p:cNvPr id="95" name="Google Shape;95;p17"/>
          <p:cNvSpPr txBox="1">
            <a:spLocks noGrp="1"/>
          </p:cNvSpPr>
          <p:nvPr>
            <p:ph type="ctrTitle" idx="4294967295"/>
          </p:nvPr>
        </p:nvSpPr>
        <p:spPr>
          <a:xfrm>
            <a:off x="1146982" y="8826"/>
            <a:ext cx="6850036" cy="496784"/>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chemeClr val="dk1"/>
              </a:buClr>
              <a:buSzPts val="2800"/>
              <a:buFont typeface="Arial"/>
              <a:buNone/>
            </a:pPr>
            <a:r>
              <a:rPr lang="fr-FR" sz="2000" dirty="0">
                <a:solidFill>
                  <a:schemeClr val="tx1">
                    <a:lumMod val="65000"/>
                    <a:lumOff val="35000"/>
                  </a:schemeClr>
                </a:solidFill>
                <a:latin typeface="Aptos" panose="020B0004020202020204" pitchFamily="34" charset="0"/>
                <a:ea typeface="Inter"/>
                <a:cs typeface="Inter"/>
                <a:sym typeface="Inter"/>
              </a:rPr>
              <a:t>Partie 1 - </a:t>
            </a:r>
            <a:r>
              <a:rPr lang="fr-FR" sz="2000" dirty="0">
                <a:solidFill>
                  <a:schemeClr val="tx1">
                    <a:lumMod val="65000"/>
                    <a:lumOff val="35000"/>
                  </a:schemeClr>
                </a:solidFill>
                <a:latin typeface="Aptos" panose="020B0004020202020204" pitchFamily="34" charset="0"/>
              </a:rPr>
              <a:t>Diagnostic &amp; cadrage:</a:t>
            </a:r>
            <a:r>
              <a:rPr lang="fr-FR" sz="2000" b="1" dirty="0">
                <a:solidFill>
                  <a:schemeClr val="tx1">
                    <a:lumMod val="65000"/>
                    <a:lumOff val="35000"/>
                  </a:schemeClr>
                </a:solidFill>
                <a:latin typeface="Aptos" panose="020B0004020202020204" pitchFamily="34" charset="0"/>
                <a:ea typeface="Inter"/>
                <a:cs typeface="Inter"/>
                <a:sym typeface="Inter"/>
              </a:rPr>
              <a:t>  Niveau de maturité Spotify</a:t>
            </a:r>
            <a:endParaRPr lang="fr-FR" sz="2000" b="1" i="0" u="none" strike="noStrike" cap="none" dirty="0">
              <a:solidFill>
                <a:schemeClr val="tx1">
                  <a:lumMod val="65000"/>
                  <a:lumOff val="35000"/>
                </a:schemeClr>
              </a:solidFill>
              <a:latin typeface="Aptos" panose="020B0004020202020204" pitchFamily="34" charset="0"/>
              <a:ea typeface="Inter"/>
              <a:cs typeface="Inter"/>
              <a:sym typeface="Inter"/>
            </a:endParaRPr>
          </a:p>
        </p:txBody>
      </p:sp>
      <p:pic>
        <p:nvPicPr>
          <p:cNvPr id="2" name="Google Shape;56;p13">
            <a:extLst>
              <a:ext uri="{FF2B5EF4-FFF2-40B4-BE49-F238E27FC236}">
                <a16:creationId xmlns:a16="http://schemas.microsoft.com/office/drawing/2014/main" id="{29AF42A0-D3B7-10B5-470C-4D627B891DF8}"/>
              </a:ext>
            </a:extLst>
          </p:cNvPr>
          <p:cNvPicPr preferRelativeResize="0"/>
          <p:nvPr/>
        </p:nvPicPr>
        <p:blipFill>
          <a:blip r:embed="rId4">
            <a:alphaModFix/>
          </a:blip>
          <a:stretch>
            <a:fillRect/>
          </a:stretch>
        </p:blipFill>
        <p:spPr>
          <a:xfrm>
            <a:off x="76200" y="90544"/>
            <a:ext cx="973275" cy="651050"/>
          </a:xfrm>
          <a:prstGeom prst="rect">
            <a:avLst/>
          </a:prstGeom>
          <a:noFill/>
          <a:ln>
            <a:noFill/>
          </a:ln>
        </p:spPr>
      </p:pic>
      <p:graphicFrame>
        <p:nvGraphicFramePr>
          <p:cNvPr id="18" name="Objet 17">
            <a:extLst>
              <a:ext uri="{FF2B5EF4-FFF2-40B4-BE49-F238E27FC236}">
                <a16:creationId xmlns:a16="http://schemas.microsoft.com/office/drawing/2014/main" id="{AF06465E-3E44-56F3-5DC5-12CE5BEC90FB}"/>
              </a:ext>
            </a:extLst>
          </p:cNvPr>
          <p:cNvGraphicFramePr>
            <a:graphicFrameLocks noChangeAspect="1"/>
          </p:cNvGraphicFramePr>
          <p:nvPr/>
        </p:nvGraphicFramePr>
        <p:xfrm>
          <a:off x="280325" y="830645"/>
          <a:ext cx="1894402" cy="4180749"/>
        </p:xfrm>
        <a:graphic>
          <a:graphicData uri="http://schemas.openxmlformats.org/presentationml/2006/ole">
            <mc:AlternateContent xmlns:mc="http://schemas.openxmlformats.org/markup-compatibility/2006">
              <mc:Choice xmlns:v="urn:schemas-microsoft-com:vml" Requires="v">
                <p:oleObj name="Worksheet" r:id="rId5" imgW="4229246" imgH="9342191" progId="Excel.Sheet.12">
                  <p:embed/>
                </p:oleObj>
              </mc:Choice>
              <mc:Fallback>
                <p:oleObj name="Worksheet" r:id="rId5" imgW="4229246" imgH="9342191" progId="Excel.Sheet.12">
                  <p:embed/>
                  <p:pic>
                    <p:nvPicPr>
                      <p:cNvPr id="18" name="Objet 17">
                        <a:extLst>
                          <a:ext uri="{FF2B5EF4-FFF2-40B4-BE49-F238E27FC236}">
                            <a16:creationId xmlns:a16="http://schemas.microsoft.com/office/drawing/2014/main" id="{AF06465E-3E44-56F3-5DC5-12CE5BEC90FB}"/>
                          </a:ext>
                        </a:extLst>
                      </p:cNvPr>
                      <p:cNvPicPr/>
                      <p:nvPr/>
                    </p:nvPicPr>
                    <p:blipFill>
                      <a:blip r:embed="rId6"/>
                      <a:stretch>
                        <a:fillRect/>
                      </a:stretch>
                    </p:blipFill>
                    <p:spPr>
                      <a:xfrm>
                        <a:off x="280325" y="830645"/>
                        <a:ext cx="1894402" cy="4180749"/>
                      </a:xfrm>
                      <a:prstGeom prst="rect">
                        <a:avLst/>
                      </a:prstGeom>
                    </p:spPr>
                  </p:pic>
                </p:oleObj>
              </mc:Fallback>
            </mc:AlternateContent>
          </a:graphicData>
        </a:graphic>
      </p:graphicFrame>
      <p:pic>
        <p:nvPicPr>
          <p:cNvPr id="47" name="Image 46">
            <a:extLst>
              <a:ext uri="{FF2B5EF4-FFF2-40B4-BE49-F238E27FC236}">
                <a16:creationId xmlns:a16="http://schemas.microsoft.com/office/drawing/2014/main" id="{1B04BE5E-CF1A-58ED-7801-537D2EA44410}"/>
              </a:ext>
            </a:extLst>
          </p:cNvPr>
          <p:cNvPicPr>
            <a:picLocks noChangeAspect="1"/>
          </p:cNvPicPr>
          <p:nvPr/>
        </p:nvPicPr>
        <p:blipFill>
          <a:blip r:embed="rId7"/>
          <a:stretch>
            <a:fillRect/>
          </a:stretch>
        </p:blipFill>
        <p:spPr>
          <a:xfrm>
            <a:off x="6131849" y="1252470"/>
            <a:ext cx="835875" cy="239673"/>
          </a:xfrm>
          <a:prstGeom prst="rect">
            <a:avLst/>
          </a:prstGeom>
        </p:spPr>
      </p:pic>
      <p:cxnSp>
        <p:nvCxnSpPr>
          <p:cNvPr id="49" name="Connecteur droit avec flèche 48">
            <a:extLst>
              <a:ext uri="{FF2B5EF4-FFF2-40B4-BE49-F238E27FC236}">
                <a16:creationId xmlns:a16="http://schemas.microsoft.com/office/drawing/2014/main" id="{A2F1A358-7FB2-5C6A-17BC-8397DB321D48}"/>
              </a:ext>
            </a:extLst>
          </p:cNvPr>
          <p:cNvCxnSpPr>
            <a:cxnSpLocks/>
          </p:cNvCxnSpPr>
          <p:nvPr/>
        </p:nvCxnSpPr>
        <p:spPr>
          <a:xfrm>
            <a:off x="6549787" y="1507288"/>
            <a:ext cx="0" cy="677483"/>
          </a:xfrm>
          <a:prstGeom prst="straightConnector1">
            <a:avLst/>
          </a:prstGeom>
          <a:ln w="38100" cap="flat" cmpd="sng" algn="ctr">
            <a:solidFill>
              <a:srgbClr val="FDD25D"/>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 name="Rectangle 3">
            <a:extLst>
              <a:ext uri="{FF2B5EF4-FFF2-40B4-BE49-F238E27FC236}">
                <a16:creationId xmlns:a16="http://schemas.microsoft.com/office/drawing/2014/main" id="{B739F8D5-C0C5-17BF-BB07-F4C5FEA733FC}"/>
              </a:ext>
            </a:extLst>
          </p:cNvPr>
          <p:cNvSpPr>
            <a:spLocks noChangeArrowheads="1"/>
          </p:cNvSpPr>
          <p:nvPr/>
        </p:nvSpPr>
        <p:spPr bwMode="auto">
          <a:xfrm>
            <a:off x="6283602" y="4314612"/>
            <a:ext cx="1255903" cy="753416"/>
          </a:xfrm>
          <a:prstGeom prst="rect">
            <a:avLst/>
          </a:prstGeom>
          <a:ln w="19050" cap="rnd">
            <a:solidFill>
              <a:schemeClr val="accent1"/>
            </a:solidFill>
            <a:prstDash val="solid"/>
          </a:ln>
        </p:spPr>
        <p:style>
          <a:lnRef idx="2">
            <a:schemeClr val="accent1"/>
          </a:lnRef>
          <a:fillRef idx="1">
            <a:schemeClr val="lt1"/>
          </a:fillRef>
          <a:effectRef idx="0">
            <a:schemeClr val="accent1"/>
          </a:effectRef>
          <a:fontRef idx="minor">
            <a:schemeClr val="dk1"/>
          </a:fontRef>
        </p:style>
        <p:txBody>
          <a:bodyPr vert="horz" wrap="square" lIns="0" tIns="-7935" rIns="0" bIns="-7935" numCol="1" anchor="ctr" anchorCtr="0" compatLnSpc="1">
            <a:prstTxWarp prst="textNoShape">
              <a:avLst/>
            </a:prstTxWarp>
            <a:spAutoFit/>
          </a:bodyPr>
          <a:lstStyle/>
          <a:p>
            <a:pPr lvl="0" algn="ctr" defTabSz="914400" eaLnBrk="0" fontAlgn="base" latinLnBrk="0" hangingPunct="0">
              <a:spcBef>
                <a:spcPct val="0"/>
              </a:spcBef>
              <a:spcAft>
                <a:spcPct val="0"/>
              </a:spcAft>
              <a:buClrTx/>
              <a:buSzTx/>
              <a:tabLst/>
            </a:pPr>
            <a:r>
              <a:rPr lang="fr-FR" altLang="fr-FR" sz="800" dirty="0">
                <a:solidFill>
                  <a:srgbClr val="1F1F1F"/>
                </a:solidFill>
                <a:latin typeface="Aptos" panose="020B0004020202020204" pitchFamily="34" charset="0"/>
              </a:rPr>
              <a:t>Les politiques sont connues </a:t>
            </a:r>
          </a:p>
          <a:p>
            <a:pPr lvl="0" algn="ctr" defTabSz="914400" eaLnBrk="0" fontAlgn="base" latinLnBrk="0" hangingPunct="0">
              <a:spcBef>
                <a:spcPct val="0"/>
              </a:spcBef>
              <a:spcAft>
                <a:spcPct val="0"/>
              </a:spcAft>
              <a:buClrTx/>
              <a:buSzTx/>
              <a:tabLst/>
            </a:pPr>
            <a:endParaRPr lang="fr-FR" altLang="fr-FR" sz="500" dirty="0">
              <a:solidFill>
                <a:srgbClr val="1F1F1F"/>
              </a:solidFill>
              <a:latin typeface="Aptos" panose="020B0004020202020204" pitchFamily="34" charset="0"/>
            </a:endParaRPr>
          </a:p>
          <a:p>
            <a:pPr lvl="0" algn="ctr" defTabSz="914400" eaLnBrk="0" fontAlgn="base" latinLnBrk="0" hangingPunct="0">
              <a:spcBef>
                <a:spcPct val="0"/>
              </a:spcBef>
              <a:spcAft>
                <a:spcPct val="0"/>
              </a:spcAft>
              <a:buClrTx/>
              <a:buSzTx/>
              <a:tabLst/>
            </a:pPr>
            <a:r>
              <a:rPr lang="fr-FR" altLang="fr-FR" sz="800" dirty="0">
                <a:solidFill>
                  <a:srgbClr val="1F1F1F"/>
                </a:solidFill>
                <a:latin typeface="Aptos" panose="020B0004020202020204" pitchFamily="34" charset="0"/>
              </a:rPr>
              <a:t>La gestion des données est maîtrisée</a:t>
            </a:r>
          </a:p>
          <a:p>
            <a:pPr lvl="0" algn="ctr" defTabSz="914400" eaLnBrk="0" fontAlgn="base" latinLnBrk="0" hangingPunct="0">
              <a:spcBef>
                <a:spcPct val="0"/>
              </a:spcBef>
              <a:spcAft>
                <a:spcPct val="0"/>
              </a:spcAft>
              <a:buClrTx/>
              <a:buSzTx/>
              <a:tabLst/>
            </a:pPr>
            <a:endParaRPr lang="fr-FR" altLang="fr-FR" sz="500" dirty="0">
              <a:solidFill>
                <a:srgbClr val="1F1F1F"/>
              </a:solidFill>
              <a:latin typeface="Aptos" panose="020B0004020202020204" pitchFamily="34" charset="0"/>
            </a:endParaRPr>
          </a:p>
          <a:p>
            <a:pPr lvl="0" algn="ctr" defTabSz="914400" eaLnBrk="0" fontAlgn="base" latinLnBrk="0" hangingPunct="0">
              <a:spcBef>
                <a:spcPct val="0"/>
              </a:spcBef>
              <a:spcAft>
                <a:spcPct val="0"/>
              </a:spcAft>
              <a:buClrTx/>
              <a:buSzTx/>
              <a:tabLst/>
            </a:pPr>
            <a:r>
              <a:rPr lang="fr-FR" altLang="fr-FR" sz="800" dirty="0">
                <a:solidFill>
                  <a:srgbClr val="1F1F1F"/>
                </a:solidFill>
                <a:latin typeface="Aptos" panose="020B0004020202020204" pitchFamily="34" charset="0"/>
              </a:rPr>
              <a:t>La sécurité est </a:t>
            </a:r>
          </a:p>
          <a:p>
            <a:pPr lvl="0" algn="ctr" defTabSz="914400" eaLnBrk="0" fontAlgn="base" latinLnBrk="0" hangingPunct="0">
              <a:spcBef>
                <a:spcPct val="0"/>
              </a:spcBef>
              <a:spcAft>
                <a:spcPct val="0"/>
              </a:spcAft>
              <a:buClrTx/>
              <a:buSzTx/>
              <a:tabLst/>
            </a:pPr>
            <a:r>
              <a:rPr lang="fr-FR" altLang="fr-FR" sz="800" dirty="0">
                <a:solidFill>
                  <a:srgbClr val="1F1F1F"/>
                </a:solidFill>
                <a:latin typeface="Aptos" panose="020B0004020202020204" pitchFamily="34" charset="0"/>
              </a:rPr>
              <a:t>contrôlée</a:t>
            </a:r>
          </a:p>
        </p:txBody>
      </p:sp>
    </p:spTree>
    <p:extLst>
      <p:ext uri="{BB962C8B-B14F-4D97-AF65-F5344CB8AC3E}">
        <p14:creationId xmlns:p14="http://schemas.microsoft.com/office/powerpoint/2010/main" val="3782483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93">
          <a:extLst>
            <a:ext uri="{FF2B5EF4-FFF2-40B4-BE49-F238E27FC236}">
              <a16:creationId xmlns:a16="http://schemas.microsoft.com/office/drawing/2014/main" id="{57C345A0-647E-7977-678F-7CE109FB9CF9}"/>
            </a:ext>
          </a:extLst>
        </p:cNvPr>
        <p:cNvGrpSpPr/>
        <p:nvPr/>
      </p:nvGrpSpPr>
      <p:grpSpPr>
        <a:xfrm>
          <a:off x="0" y="0"/>
          <a:ext cx="0" cy="0"/>
          <a:chOff x="0" y="0"/>
          <a:chExt cx="0" cy="0"/>
        </a:xfrm>
      </p:grpSpPr>
      <p:pic>
        <p:nvPicPr>
          <p:cNvPr id="2" name="Google Shape;56;p13">
            <a:extLst>
              <a:ext uri="{FF2B5EF4-FFF2-40B4-BE49-F238E27FC236}">
                <a16:creationId xmlns:a16="http://schemas.microsoft.com/office/drawing/2014/main" id="{E6BF5565-36E5-9F75-A2AD-0E0DBE77D6F1}"/>
              </a:ext>
            </a:extLst>
          </p:cNvPr>
          <p:cNvPicPr preferRelativeResize="0"/>
          <p:nvPr/>
        </p:nvPicPr>
        <p:blipFill>
          <a:blip r:embed="rId3">
            <a:alphaModFix/>
          </a:blip>
          <a:stretch>
            <a:fillRect/>
          </a:stretch>
        </p:blipFill>
        <p:spPr>
          <a:xfrm>
            <a:off x="76200" y="90544"/>
            <a:ext cx="973275" cy="651050"/>
          </a:xfrm>
          <a:prstGeom prst="rect">
            <a:avLst/>
          </a:prstGeom>
          <a:noFill/>
          <a:ln>
            <a:noFill/>
          </a:ln>
        </p:spPr>
      </p:pic>
      <p:pic>
        <p:nvPicPr>
          <p:cNvPr id="3" name="Image 2">
            <a:extLst>
              <a:ext uri="{FF2B5EF4-FFF2-40B4-BE49-F238E27FC236}">
                <a16:creationId xmlns:a16="http://schemas.microsoft.com/office/drawing/2014/main" id="{62EFEDB9-A73B-A8A1-78FD-5E6DB00A9AA8}"/>
              </a:ext>
            </a:extLst>
          </p:cNvPr>
          <p:cNvPicPr>
            <a:picLocks noChangeAspect="1"/>
          </p:cNvPicPr>
          <p:nvPr/>
        </p:nvPicPr>
        <p:blipFill>
          <a:blip r:embed="rId4"/>
          <a:stretch>
            <a:fillRect/>
          </a:stretch>
        </p:blipFill>
        <p:spPr>
          <a:xfrm>
            <a:off x="905392" y="589266"/>
            <a:ext cx="5878488" cy="4463690"/>
          </a:xfrm>
          <a:prstGeom prst="rect">
            <a:avLst/>
          </a:prstGeom>
        </p:spPr>
      </p:pic>
      <p:sp>
        <p:nvSpPr>
          <p:cNvPr id="4" name="Google Shape;95;p17">
            <a:extLst>
              <a:ext uri="{FF2B5EF4-FFF2-40B4-BE49-F238E27FC236}">
                <a16:creationId xmlns:a16="http://schemas.microsoft.com/office/drawing/2014/main" id="{37F14566-5BAF-8517-AA61-C331FC0BEDCD}"/>
              </a:ext>
            </a:extLst>
          </p:cNvPr>
          <p:cNvSpPr txBox="1">
            <a:spLocks/>
          </p:cNvSpPr>
          <p:nvPr/>
        </p:nvSpPr>
        <p:spPr>
          <a:xfrm>
            <a:off x="1098232" y="0"/>
            <a:ext cx="6947536" cy="47537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fr-FR" sz="2000" dirty="0">
                <a:solidFill>
                  <a:schemeClr val="tx1">
                    <a:lumMod val="65000"/>
                    <a:lumOff val="35000"/>
                  </a:schemeClr>
                </a:solidFill>
                <a:latin typeface="Aptos" panose="020B0004020202020204" pitchFamily="34" charset="0"/>
                <a:ea typeface="Inter"/>
                <a:cs typeface="Inter"/>
                <a:sym typeface="Inter"/>
              </a:rPr>
              <a:t>Partie 1 - </a:t>
            </a:r>
            <a:r>
              <a:rPr lang="fr-FR" sz="2000" dirty="0">
                <a:solidFill>
                  <a:schemeClr val="tx1">
                    <a:lumMod val="65000"/>
                    <a:lumOff val="35000"/>
                  </a:schemeClr>
                </a:solidFill>
                <a:latin typeface="Aptos" panose="020B0004020202020204" pitchFamily="34" charset="0"/>
              </a:rPr>
              <a:t>Diagnostic &amp; cadrage </a:t>
            </a:r>
            <a:r>
              <a:rPr lang="fr-FR" sz="2000" b="1" dirty="0">
                <a:solidFill>
                  <a:schemeClr val="tx1">
                    <a:lumMod val="65000"/>
                    <a:lumOff val="35000"/>
                  </a:schemeClr>
                </a:solidFill>
                <a:latin typeface="Aptos" panose="020B0004020202020204" pitchFamily="34" charset="0"/>
              </a:rPr>
              <a:t>: </a:t>
            </a:r>
            <a:r>
              <a:rPr lang="fr" sz="2000" b="1" dirty="0">
                <a:solidFill>
                  <a:schemeClr val="tx1">
                    <a:lumMod val="65000"/>
                    <a:lumOff val="35000"/>
                  </a:schemeClr>
                </a:solidFill>
                <a:latin typeface="Aptos" panose="020B0004020202020204" pitchFamily="34" charset="0"/>
                <a:ea typeface="Inter"/>
                <a:sym typeface="Inter"/>
              </a:rPr>
              <a:t>Les Forces et les Faiblesses</a:t>
            </a:r>
            <a:endParaRPr lang="fr-FR" sz="2000" b="1" dirty="0">
              <a:solidFill>
                <a:schemeClr val="tx1">
                  <a:lumMod val="65000"/>
                  <a:lumOff val="35000"/>
                </a:schemeClr>
              </a:solidFill>
              <a:latin typeface="Aptos" panose="020B0004020202020204" pitchFamily="34" charset="0"/>
              <a:ea typeface="Inter"/>
              <a:cs typeface="Inter"/>
              <a:sym typeface="Inter"/>
            </a:endParaRPr>
          </a:p>
        </p:txBody>
      </p:sp>
    </p:spTree>
    <p:extLst>
      <p:ext uri="{BB962C8B-B14F-4D97-AF65-F5344CB8AC3E}">
        <p14:creationId xmlns:p14="http://schemas.microsoft.com/office/powerpoint/2010/main" val="5454727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93">
          <a:extLst>
            <a:ext uri="{FF2B5EF4-FFF2-40B4-BE49-F238E27FC236}">
              <a16:creationId xmlns:a16="http://schemas.microsoft.com/office/drawing/2014/main" id="{57C345A0-647E-7977-678F-7CE109FB9CF9}"/>
            </a:ext>
          </a:extLst>
        </p:cNvPr>
        <p:cNvGrpSpPr/>
        <p:nvPr/>
      </p:nvGrpSpPr>
      <p:grpSpPr>
        <a:xfrm>
          <a:off x="0" y="0"/>
          <a:ext cx="0" cy="0"/>
          <a:chOff x="0" y="0"/>
          <a:chExt cx="0" cy="0"/>
        </a:xfrm>
      </p:grpSpPr>
      <p:pic>
        <p:nvPicPr>
          <p:cNvPr id="2" name="Google Shape;56;p13">
            <a:extLst>
              <a:ext uri="{FF2B5EF4-FFF2-40B4-BE49-F238E27FC236}">
                <a16:creationId xmlns:a16="http://schemas.microsoft.com/office/drawing/2014/main" id="{E6BF5565-36E5-9F75-A2AD-0E0DBE77D6F1}"/>
              </a:ext>
            </a:extLst>
          </p:cNvPr>
          <p:cNvPicPr preferRelativeResize="0"/>
          <p:nvPr/>
        </p:nvPicPr>
        <p:blipFill>
          <a:blip r:embed="rId3">
            <a:alphaModFix/>
          </a:blip>
          <a:stretch>
            <a:fillRect/>
          </a:stretch>
        </p:blipFill>
        <p:spPr>
          <a:xfrm>
            <a:off x="76200" y="90544"/>
            <a:ext cx="973275" cy="651050"/>
          </a:xfrm>
          <a:prstGeom prst="rect">
            <a:avLst/>
          </a:prstGeom>
          <a:noFill/>
          <a:ln>
            <a:noFill/>
          </a:ln>
        </p:spPr>
      </p:pic>
      <p:sp>
        <p:nvSpPr>
          <p:cNvPr id="7" name="Rectangle 3">
            <a:extLst>
              <a:ext uri="{FF2B5EF4-FFF2-40B4-BE49-F238E27FC236}">
                <a16:creationId xmlns:a16="http://schemas.microsoft.com/office/drawing/2014/main" id="{CE6C3C4E-9395-F30F-9935-93854CD62CD5}"/>
              </a:ext>
            </a:extLst>
          </p:cNvPr>
          <p:cNvSpPr>
            <a:spLocks noChangeArrowheads="1"/>
          </p:cNvSpPr>
          <p:nvPr/>
        </p:nvSpPr>
        <p:spPr bwMode="auto">
          <a:xfrm>
            <a:off x="249342" y="1062386"/>
            <a:ext cx="8645315" cy="3370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sz="1300" b="1" dirty="0">
                <a:solidFill>
                  <a:schemeClr val="tx1">
                    <a:lumMod val="65000"/>
                    <a:lumOff val="35000"/>
                  </a:schemeClr>
                </a:solidFill>
                <a:latin typeface="Aptos" panose="020B0004020202020204" pitchFamily="34" charset="0"/>
                <a:ea typeface="Inter"/>
              </a:rPr>
              <a:t>Data </a:t>
            </a:r>
            <a:r>
              <a:rPr lang="fr-FR" altLang="fr-FR" sz="1300" b="1" dirty="0" err="1">
                <a:solidFill>
                  <a:schemeClr val="tx1">
                    <a:lumMod val="65000"/>
                    <a:lumOff val="35000"/>
                  </a:schemeClr>
                </a:solidFill>
                <a:latin typeface="Aptos" panose="020B0004020202020204" pitchFamily="34" charset="0"/>
                <a:ea typeface="Inter"/>
              </a:rPr>
              <a:t>Governance</a:t>
            </a:r>
            <a:r>
              <a:rPr lang="fr-FR" altLang="fr-FR" sz="1300" b="1" dirty="0">
                <a:solidFill>
                  <a:schemeClr val="tx1">
                    <a:lumMod val="65000"/>
                    <a:lumOff val="35000"/>
                  </a:schemeClr>
                </a:solidFill>
                <a:latin typeface="Aptos" panose="020B0004020202020204" pitchFamily="34" charset="0"/>
                <a:ea typeface="Inter"/>
              </a:rPr>
              <a:t> </a:t>
            </a:r>
            <a:r>
              <a:rPr lang="fr-FR" altLang="fr-FR" sz="1100" dirty="0">
                <a:solidFill>
                  <a:schemeClr val="tx1">
                    <a:lumMod val="65000"/>
                    <a:lumOff val="35000"/>
                  </a:schemeClr>
                </a:solidFill>
                <a:latin typeface="Aptos" panose="020B0004020202020204" pitchFamily="34" charset="0"/>
                <a:ea typeface="Inter"/>
              </a:rPr>
              <a:t>: Gouvernance fragmentée limitant l’alignement stratégique et la cohérence des décisions produit.</a:t>
            </a:r>
          </a:p>
          <a:p>
            <a:pPr marL="0" marR="0" lvl="0" indent="0" algn="l" defTabSz="914400" rtl="0" eaLnBrk="0" fontAlgn="base" latinLnBrk="0" hangingPunct="0">
              <a:lnSpc>
                <a:spcPct val="100000"/>
              </a:lnSpc>
              <a:spcBef>
                <a:spcPct val="0"/>
              </a:spcBef>
              <a:spcAft>
                <a:spcPct val="0"/>
              </a:spcAft>
              <a:buClrTx/>
              <a:buSzTx/>
              <a:buFontTx/>
              <a:buChar char="•"/>
              <a:tabLst/>
            </a:pPr>
            <a:endParaRPr lang="fr-FR" altLang="fr-FR" sz="1100" dirty="0">
              <a:solidFill>
                <a:schemeClr val="tx1">
                  <a:lumMod val="65000"/>
                  <a:lumOff val="35000"/>
                </a:schemeClr>
              </a:solidFill>
              <a:latin typeface="Aptos" panose="020B00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b="1" dirty="0">
                <a:solidFill>
                  <a:schemeClr val="tx1">
                    <a:lumMod val="65000"/>
                    <a:lumOff val="35000"/>
                  </a:schemeClr>
                </a:solidFill>
                <a:latin typeface="Aptos" panose="020B0004020202020204" pitchFamily="34" charset="0"/>
                <a:ea typeface="Inter"/>
              </a:rPr>
              <a:t>Data </a:t>
            </a:r>
            <a:r>
              <a:rPr lang="fr-FR" altLang="fr-FR" b="1" dirty="0" err="1">
                <a:solidFill>
                  <a:schemeClr val="tx1">
                    <a:lumMod val="65000"/>
                    <a:lumOff val="35000"/>
                  </a:schemeClr>
                </a:solidFill>
                <a:latin typeface="Aptos" panose="020B0004020202020204" pitchFamily="34" charset="0"/>
                <a:ea typeface="Inter"/>
              </a:rPr>
              <a:t>Quality</a:t>
            </a:r>
            <a:r>
              <a:rPr lang="fr-FR" altLang="fr-FR" b="1" dirty="0">
                <a:solidFill>
                  <a:schemeClr val="tx1">
                    <a:lumMod val="65000"/>
                    <a:lumOff val="35000"/>
                  </a:schemeClr>
                </a:solidFill>
                <a:latin typeface="Aptos" panose="020B0004020202020204" pitchFamily="34" charset="0"/>
                <a:ea typeface="Inter"/>
              </a:rPr>
              <a:t> </a:t>
            </a:r>
            <a:r>
              <a:rPr lang="fr-FR" altLang="fr-FR" sz="1100" dirty="0">
                <a:solidFill>
                  <a:schemeClr val="tx1">
                    <a:lumMod val="65000"/>
                    <a:lumOff val="35000"/>
                  </a:schemeClr>
                </a:solidFill>
                <a:latin typeface="Aptos" panose="020B0004020202020204" pitchFamily="34" charset="0"/>
                <a:ea typeface="Inter"/>
              </a:rPr>
              <a:t>: Qualité des données critique car directement liée à la performance des recommandations et à l’engagement utilisateur.</a:t>
            </a:r>
          </a:p>
          <a:p>
            <a:pPr marL="0" marR="0" lvl="0" indent="0" algn="l" defTabSz="914400" rtl="0" eaLnBrk="0" fontAlgn="base" latinLnBrk="0" hangingPunct="0">
              <a:lnSpc>
                <a:spcPct val="100000"/>
              </a:lnSpc>
              <a:spcBef>
                <a:spcPct val="0"/>
              </a:spcBef>
              <a:spcAft>
                <a:spcPct val="0"/>
              </a:spcAft>
              <a:buClrTx/>
              <a:buSzTx/>
              <a:buFontTx/>
              <a:buChar char="•"/>
              <a:tabLst/>
            </a:pPr>
            <a:endParaRPr lang="fr-FR" altLang="fr-FR" sz="1100" dirty="0">
              <a:solidFill>
                <a:schemeClr val="tx1">
                  <a:lumMod val="65000"/>
                  <a:lumOff val="35000"/>
                </a:schemeClr>
              </a:solidFill>
              <a:latin typeface="Aptos" panose="020B00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b="1" dirty="0">
                <a:solidFill>
                  <a:schemeClr val="tx1">
                    <a:lumMod val="65000"/>
                    <a:lumOff val="35000"/>
                  </a:schemeClr>
                </a:solidFill>
                <a:latin typeface="Aptos" panose="020B0004020202020204" pitchFamily="34" charset="0"/>
                <a:ea typeface="Inter"/>
              </a:rPr>
              <a:t>Data Architecture </a:t>
            </a:r>
            <a:r>
              <a:rPr lang="fr-FR" altLang="fr-FR" sz="1100" dirty="0">
                <a:solidFill>
                  <a:schemeClr val="tx1">
                    <a:lumMod val="65000"/>
                    <a:lumOff val="35000"/>
                  </a:schemeClr>
                </a:solidFill>
                <a:latin typeface="Aptos" panose="020B0004020202020204" pitchFamily="34" charset="0"/>
                <a:ea typeface="Inter"/>
              </a:rPr>
              <a:t>: Architecture puissante mais complexe, pouvant freiner l’industrialisation rapide des cas d’usage.</a:t>
            </a:r>
          </a:p>
          <a:p>
            <a:pPr marL="0" marR="0" lvl="0" indent="0" algn="l" defTabSz="914400" rtl="0" eaLnBrk="0" fontAlgn="base" latinLnBrk="0" hangingPunct="0">
              <a:lnSpc>
                <a:spcPct val="100000"/>
              </a:lnSpc>
              <a:spcBef>
                <a:spcPct val="0"/>
              </a:spcBef>
              <a:spcAft>
                <a:spcPct val="0"/>
              </a:spcAft>
              <a:buClrTx/>
              <a:buSzTx/>
              <a:buFontTx/>
              <a:buChar char="•"/>
              <a:tabLst/>
            </a:pPr>
            <a:endParaRPr lang="fr-FR" altLang="fr-FR" sz="1100" b="1" dirty="0">
              <a:solidFill>
                <a:schemeClr val="tx1">
                  <a:lumMod val="65000"/>
                  <a:lumOff val="35000"/>
                </a:schemeClr>
              </a:solidFill>
              <a:latin typeface="Aptos" panose="020B00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b="1" dirty="0">
                <a:solidFill>
                  <a:schemeClr val="tx1">
                    <a:lumMod val="65000"/>
                    <a:lumOff val="35000"/>
                  </a:schemeClr>
                </a:solidFill>
                <a:latin typeface="Aptos" panose="020B0004020202020204" pitchFamily="34" charset="0"/>
                <a:ea typeface="Inter"/>
              </a:rPr>
              <a:t>Compliance &amp; </a:t>
            </a:r>
            <a:r>
              <a:rPr lang="fr-FR" altLang="fr-FR" b="1" dirty="0" err="1">
                <a:solidFill>
                  <a:schemeClr val="tx1">
                    <a:lumMod val="65000"/>
                    <a:lumOff val="35000"/>
                  </a:schemeClr>
                </a:solidFill>
                <a:latin typeface="Aptos" panose="020B0004020202020204" pitchFamily="34" charset="0"/>
                <a:ea typeface="Inter"/>
              </a:rPr>
              <a:t>Privacy</a:t>
            </a:r>
            <a:r>
              <a:rPr lang="fr-FR" altLang="fr-FR" b="1" dirty="0">
                <a:solidFill>
                  <a:schemeClr val="tx1">
                    <a:lumMod val="65000"/>
                    <a:lumOff val="35000"/>
                  </a:schemeClr>
                </a:solidFill>
                <a:latin typeface="Aptos" panose="020B0004020202020204" pitchFamily="34" charset="0"/>
                <a:ea typeface="Inter"/>
              </a:rPr>
              <a:t> </a:t>
            </a:r>
            <a:r>
              <a:rPr lang="fr-FR" altLang="fr-FR" sz="1100" dirty="0">
                <a:solidFill>
                  <a:schemeClr val="tx1">
                    <a:lumMod val="65000"/>
                    <a:lumOff val="35000"/>
                  </a:schemeClr>
                </a:solidFill>
                <a:latin typeface="Aptos" panose="020B0004020202020204" pitchFamily="34" charset="0"/>
                <a:ea typeface="Inter"/>
              </a:rPr>
              <a:t>: Conformité RGPD/CCPA complexe nécessitant une intégration renforcée du </a:t>
            </a:r>
            <a:r>
              <a:rPr lang="fr-FR" altLang="fr-FR" sz="1100" dirty="0" err="1">
                <a:solidFill>
                  <a:schemeClr val="tx1">
                    <a:lumMod val="65000"/>
                    <a:lumOff val="35000"/>
                  </a:schemeClr>
                </a:solidFill>
                <a:latin typeface="Aptos" panose="020B0004020202020204" pitchFamily="34" charset="0"/>
                <a:ea typeface="Inter"/>
              </a:rPr>
              <a:t>privacy</a:t>
            </a:r>
            <a:r>
              <a:rPr lang="fr-FR" altLang="fr-FR" sz="1100" dirty="0">
                <a:solidFill>
                  <a:schemeClr val="tx1">
                    <a:lumMod val="65000"/>
                    <a:lumOff val="35000"/>
                  </a:schemeClr>
                </a:solidFill>
                <a:latin typeface="Aptos" panose="020B0004020202020204" pitchFamily="34" charset="0"/>
                <a:ea typeface="Inter"/>
              </a:rPr>
              <a:t> by design.</a:t>
            </a:r>
          </a:p>
          <a:p>
            <a:pPr marL="0" marR="0" lvl="0" indent="0" algn="l" defTabSz="914400" rtl="0" eaLnBrk="0" fontAlgn="base" latinLnBrk="0" hangingPunct="0">
              <a:lnSpc>
                <a:spcPct val="100000"/>
              </a:lnSpc>
              <a:spcBef>
                <a:spcPct val="0"/>
              </a:spcBef>
              <a:spcAft>
                <a:spcPct val="0"/>
              </a:spcAft>
              <a:buClrTx/>
              <a:buSzTx/>
              <a:buFontTx/>
              <a:buChar char="•"/>
              <a:tabLst/>
            </a:pPr>
            <a:endParaRPr lang="fr-FR" altLang="fr-FR" sz="1100" dirty="0">
              <a:solidFill>
                <a:schemeClr val="tx1">
                  <a:lumMod val="65000"/>
                  <a:lumOff val="35000"/>
                </a:schemeClr>
              </a:solidFill>
              <a:latin typeface="Aptos" panose="020B00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b="1" dirty="0">
                <a:solidFill>
                  <a:schemeClr val="tx1">
                    <a:lumMod val="65000"/>
                    <a:lumOff val="35000"/>
                  </a:schemeClr>
                </a:solidFill>
                <a:latin typeface="Aptos" panose="020B0004020202020204" pitchFamily="34" charset="0"/>
                <a:ea typeface="Inter"/>
              </a:rPr>
              <a:t>Data Usage &amp; </a:t>
            </a:r>
            <a:r>
              <a:rPr lang="fr-FR" altLang="fr-FR" b="1" dirty="0" err="1">
                <a:solidFill>
                  <a:schemeClr val="tx1">
                    <a:lumMod val="65000"/>
                    <a:lumOff val="35000"/>
                  </a:schemeClr>
                </a:solidFill>
                <a:latin typeface="Aptos" panose="020B0004020202020204" pitchFamily="34" charset="0"/>
                <a:ea typeface="Inter"/>
              </a:rPr>
              <a:t>Accessibility</a:t>
            </a:r>
            <a:r>
              <a:rPr lang="fr-FR" altLang="fr-FR" sz="1100" b="1" dirty="0">
                <a:solidFill>
                  <a:schemeClr val="tx1">
                    <a:lumMod val="65000"/>
                    <a:lumOff val="35000"/>
                  </a:schemeClr>
                </a:solidFill>
                <a:latin typeface="Aptos" panose="020B0004020202020204" pitchFamily="34" charset="0"/>
                <a:ea typeface="Inter"/>
              </a:rPr>
              <a:t> </a:t>
            </a:r>
            <a:r>
              <a:rPr lang="fr-FR" altLang="fr-FR" sz="1100" dirty="0">
                <a:solidFill>
                  <a:schemeClr val="tx1">
                    <a:lumMod val="65000"/>
                    <a:lumOff val="35000"/>
                  </a:schemeClr>
                </a:solidFill>
                <a:latin typeface="Aptos" panose="020B0004020202020204" pitchFamily="34" charset="0"/>
                <a:ea typeface="Inter"/>
              </a:rPr>
              <a:t>: Accès aux données inégal, réduisant l’autonomie décisionnelle des équipes produit.</a:t>
            </a:r>
          </a:p>
          <a:p>
            <a:pPr marL="0" marR="0" lvl="0" indent="0" algn="l" defTabSz="914400" rtl="0" eaLnBrk="0" fontAlgn="base" latinLnBrk="0" hangingPunct="0">
              <a:lnSpc>
                <a:spcPct val="100000"/>
              </a:lnSpc>
              <a:spcBef>
                <a:spcPct val="0"/>
              </a:spcBef>
              <a:spcAft>
                <a:spcPct val="0"/>
              </a:spcAft>
              <a:buClrTx/>
              <a:buSzTx/>
              <a:buFontTx/>
              <a:buChar char="•"/>
              <a:tabLst/>
            </a:pPr>
            <a:endParaRPr lang="fr-FR" altLang="fr-FR" sz="1100" dirty="0">
              <a:solidFill>
                <a:schemeClr val="tx1">
                  <a:lumMod val="65000"/>
                  <a:lumOff val="35000"/>
                </a:schemeClr>
              </a:solidFill>
              <a:latin typeface="Aptos" panose="020B00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b="1" dirty="0">
                <a:solidFill>
                  <a:schemeClr val="tx1">
                    <a:lumMod val="65000"/>
                    <a:lumOff val="35000"/>
                  </a:schemeClr>
                </a:solidFill>
                <a:latin typeface="Aptos" panose="020B0004020202020204" pitchFamily="34" charset="0"/>
                <a:ea typeface="Inter"/>
              </a:rPr>
              <a:t>Data Security </a:t>
            </a:r>
            <a:r>
              <a:rPr lang="fr-FR" altLang="fr-FR" sz="1100" dirty="0">
                <a:solidFill>
                  <a:schemeClr val="tx1">
                    <a:lumMod val="65000"/>
                    <a:lumOff val="35000"/>
                  </a:schemeClr>
                </a:solidFill>
                <a:latin typeface="Aptos" panose="020B0004020202020204" pitchFamily="34" charset="0"/>
                <a:ea typeface="Inter"/>
              </a:rPr>
              <a:t>: Besoin d’équilibrer protection des données sensibles et agilité de l’innovation.</a:t>
            </a:r>
          </a:p>
          <a:p>
            <a:pPr marL="0" marR="0" lvl="0" indent="0" algn="l" defTabSz="914400" rtl="0" eaLnBrk="0" fontAlgn="base" latinLnBrk="0" hangingPunct="0">
              <a:lnSpc>
                <a:spcPct val="100000"/>
              </a:lnSpc>
              <a:spcBef>
                <a:spcPct val="0"/>
              </a:spcBef>
              <a:spcAft>
                <a:spcPct val="0"/>
              </a:spcAft>
              <a:buClrTx/>
              <a:buSzTx/>
              <a:buFontTx/>
              <a:buChar char="•"/>
              <a:tabLst/>
            </a:pPr>
            <a:endParaRPr lang="fr-FR" altLang="fr-FR" sz="1100" dirty="0">
              <a:solidFill>
                <a:schemeClr val="tx1">
                  <a:lumMod val="65000"/>
                  <a:lumOff val="35000"/>
                </a:schemeClr>
              </a:solidFill>
              <a:latin typeface="Aptos" panose="020B00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b="1" dirty="0">
                <a:solidFill>
                  <a:schemeClr val="tx1">
                    <a:lumMod val="65000"/>
                    <a:lumOff val="35000"/>
                  </a:schemeClr>
                </a:solidFill>
                <a:latin typeface="Aptos" panose="020B0004020202020204" pitchFamily="34" charset="0"/>
                <a:ea typeface="Inter"/>
              </a:rPr>
              <a:t>Data </a:t>
            </a:r>
            <a:r>
              <a:rPr lang="fr-FR" altLang="fr-FR" b="1" dirty="0" err="1">
                <a:solidFill>
                  <a:schemeClr val="tx1">
                    <a:lumMod val="65000"/>
                    <a:lumOff val="35000"/>
                  </a:schemeClr>
                </a:solidFill>
                <a:latin typeface="Aptos" panose="020B0004020202020204" pitchFamily="34" charset="0"/>
                <a:ea typeface="Inter"/>
              </a:rPr>
              <a:t>Literacy</a:t>
            </a:r>
            <a:r>
              <a:rPr lang="fr-FR" altLang="fr-FR" b="1" dirty="0">
                <a:solidFill>
                  <a:schemeClr val="tx1">
                    <a:lumMod val="65000"/>
                    <a:lumOff val="35000"/>
                  </a:schemeClr>
                </a:solidFill>
                <a:latin typeface="Aptos" panose="020B0004020202020204" pitchFamily="34" charset="0"/>
                <a:ea typeface="Inter"/>
              </a:rPr>
              <a:t> </a:t>
            </a:r>
            <a:r>
              <a:rPr lang="fr-FR" altLang="fr-FR" sz="1100" dirty="0">
                <a:solidFill>
                  <a:schemeClr val="tx1">
                    <a:lumMod val="65000"/>
                    <a:lumOff val="35000"/>
                  </a:schemeClr>
                </a:solidFill>
                <a:latin typeface="Aptos" panose="020B0004020202020204" pitchFamily="34" charset="0"/>
                <a:ea typeface="Inter"/>
              </a:rPr>
              <a:t>: Hétérogénéité des compétences data impactant la qualité des décisions.</a:t>
            </a:r>
          </a:p>
          <a:p>
            <a:pPr marL="0" marR="0" lvl="0" indent="0" algn="l" defTabSz="914400" rtl="0" eaLnBrk="0" fontAlgn="base" latinLnBrk="0" hangingPunct="0">
              <a:lnSpc>
                <a:spcPct val="100000"/>
              </a:lnSpc>
              <a:spcBef>
                <a:spcPct val="0"/>
              </a:spcBef>
              <a:spcAft>
                <a:spcPct val="0"/>
              </a:spcAft>
              <a:buClrTx/>
              <a:buSzTx/>
              <a:buFontTx/>
              <a:buChar char="•"/>
              <a:tabLst/>
            </a:pPr>
            <a:endParaRPr lang="fr-FR" altLang="fr-FR" sz="1100" dirty="0">
              <a:solidFill>
                <a:schemeClr val="tx1">
                  <a:lumMod val="65000"/>
                  <a:lumOff val="35000"/>
                </a:schemeClr>
              </a:solidFill>
              <a:latin typeface="Aptos" panose="020B00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b="1" dirty="0">
                <a:solidFill>
                  <a:schemeClr val="tx1">
                    <a:lumMod val="65000"/>
                    <a:lumOff val="35000"/>
                  </a:schemeClr>
                </a:solidFill>
                <a:latin typeface="Aptos" panose="020B0004020202020204" pitchFamily="34" charset="0"/>
                <a:ea typeface="Inter"/>
              </a:rPr>
              <a:t>Data </a:t>
            </a:r>
            <a:r>
              <a:rPr lang="fr-FR" altLang="fr-FR" b="1" dirty="0" err="1">
                <a:solidFill>
                  <a:schemeClr val="tx1">
                    <a:lumMod val="65000"/>
                    <a:lumOff val="35000"/>
                  </a:schemeClr>
                </a:solidFill>
                <a:latin typeface="Aptos" panose="020B0004020202020204" pitchFamily="34" charset="0"/>
                <a:ea typeface="Inter"/>
              </a:rPr>
              <a:t>Integration</a:t>
            </a:r>
            <a:r>
              <a:rPr lang="fr-FR" altLang="fr-FR" b="1" dirty="0">
                <a:solidFill>
                  <a:schemeClr val="tx1">
                    <a:lumMod val="65000"/>
                    <a:lumOff val="35000"/>
                  </a:schemeClr>
                </a:solidFill>
                <a:latin typeface="Aptos" panose="020B0004020202020204" pitchFamily="34" charset="0"/>
                <a:ea typeface="Inter"/>
              </a:rPr>
              <a:t> </a:t>
            </a:r>
            <a:r>
              <a:rPr lang="fr-FR" altLang="fr-FR" sz="1100" dirty="0">
                <a:solidFill>
                  <a:schemeClr val="tx1">
                    <a:lumMod val="65000"/>
                    <a:lumOff val="35000"/>
                  </a:schemeClr>
                </a:solidFill>
                <a:latin typeface="Aptos" panose="020B0004020202020204" pitchFamily="34" charset="0"/>
                <a:ea typeface="Inter"/>
              </a:rPr>
              <a:t>: Manque de vision unifiée du parcours utilisateur dû à la fragmentation des données.</a:t>
            </a:r>
          </a:p>
          <a:p>
            <a:pPr marL="0" marR="0" lvl="0" indent="0" algn="l" defTabSz="914400" rtl="0" eaLnBrk="0" fontAlgn="base" latinLnBrk="0" hangingPunct="0">
              <a:lnSpc>
                <a:spcPct val="100000"/>
              </a:lnSpc>
              <a:spcBef>
                <a:spcPct val="0"/>
              </a:spcBef>
              <a:spcAft>
                <a:spcPct val="0"/>
              </a:spcAft>
              <a:buClrTx/>
              <a:buSzTx/>
              <a:buFontTx/>
              <a:buChar char="•"/>
              <a:tabLst/>
            </a:pPr>
            <a:endParaRPr lang="fr-FR" altLang="fr-FR" sz="1100" dirty="0">
              <a:solidFill>
                <a:schemeClr val="tx1">
                  <a:lumMod val="65000"/>
                  <a:lumOff val="35000"/>
                </a:schemeClr>
              </a:solidFill>
              <a:latin typeface="Aptos" panose="020B00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b="1" dirty="0">
                <a:solidFill>
                  <a:schemeClr val="tx1">
                    <a:lumMod val="65000"/>
                    <a:lumOff val="35000"/>
                  </a:schemeClr>
                </a:solidFill>
                <a:latin typeface="Aptos" panose="020B0004020202020204" pitchFamily="34" charset="0"/>
                <a:ea typeface="Inter"/>
              </a:rPr>
              <a:t>Analytics &amp; BI </a:t>
            </a:r>
            <a:r>
              <a:rPr lang="fr-FR" altLang="fr-FR" sz="1100" dirty="0">
                <a:solidFill>
                  <a:schemeClr val="tx1">
                    <a:lumMod val="65000"/>
                    <a:lumOff val="35000"/>
                  </a:schemeClr>
                </a:solidFill>
                <a:latin typeface="Aptos" panose="020B0004020202020204" pitchFamily="34" charset="0"/>
                <a:ea typeface="Inter"/>
              </a:rPr>
              <a:t>: Forte capacité analytique dépendante de la cohérence et de la fiabilité des données en amont.</a:t>
            </a:r>
          </a:p>
        </p:txBody>
      </p:sp>
      <p:sp>
        <p:nvSpPr>
          <p:cNvPr id="3" name="ZoneTexte 2">
            <a:extLst>
              <a:ext uri="{FF2B5EF4-FFF2-40B4-BE49-F238E27FC236}">
                <a16:creationId xmlns:a16="http://schemas.microsoft.com/office/drawing/2014/main" id="{63CAC0B5-EB23-4A05-2FD5-126CE91E518C}"/>
              </a:ext>
            </a:extLst>
          </p:cNvPr>
          <p:cNvSpPr txBox="1"/>
          <p:nvPr/>
        </p:nvSpPr>
        <p:spPr>
          <a:xfrm>
            <a:off x="7051832" y="4719255"/>
            <a:ext cx="2092168" cy="246221"/>
          </a:xfrm>
          <a:prstGeom prst="rect">
            <a:avLst/>
          </a:prstGeom>
          <a:noFill/>
        </p:spPr>
        <p:txBody>
          <a:bodyPr wrap="square" rtlCol="0">
            <a:spAutoFit/>
          </a:bodyPr>
          <a:lstStyle/>
          <a:p>
            <a:pPr marL="285750" indent="-285750">
              <a:buFont typeface="Wingdings" panose="05000000000000000000" pitchFamily="2" charset="2"/>
              <a:buChar char="ü"/>
            </a:pPr>
            <a:r>
              <a:rPr lang="fr-FR" sz="1000" dirty="0">
                <a:solidFill>
                  <a:schemeClr val="tx1">
                    <a:lumMod val="65000"/>
                    <a:lumOff val="35000"/>
                  </a:schemeClr>
                </a:solidFill>
                <a:latin typeface="Aptos" panose="020B0004020202020204" pitchFamily="34" charset="0"/>
                <a:ea typeface="Inter"/>
                <a:hlinkClick r:id="rId4"/>
              </a:rPr>
              <a:t>Lien vers le Rapport complet</a:t>
            </a:r>
            <a:endParaRPr lang="fr-FR" sz="1000" dirty="0">
              <a:solidFill>
                <a:schemeClr val="tx1">
                  <a:lumMod val="65000"/>
                  <a:lumOff val="35000"/>
                </a:schemeClr>
              </a:solidFill>
              <a:latin typeface="Aptos" panose="020B0004020202020204" pitchFamily="34" charset="0"/>
              <a:ea typeface="Inter"/>
            </a:endParaRPr>
          </a:p>
        </p:txBody>
      </p:sp>
      <p:sp>
        <p:nvSpPr>
          <p:cNvPr id="5" name="ZoneTexte 4">
            <a:extLst>
              <a:ext uri="{FF2B5EF4-FFF2-40B4-BE49-F238E27FC236}">
                <a16:creationId xmlns:a16="http://schemas.microsoft.com/office/drawing/2014/main" id="{C609120C-7BB4-3132-3FD8-42535B836810}"/>
              </a:ext>
            </a:extLst>
          </p:cNvPr>
          <p:cNvSpPr txBox="1"/>
          <p:nvPr/>
        </p:nvSpPr>
        <p:spPr>
          <a:xfrm>
            <a:off x="1991591" y="0"/>
            <a:ext cx="5160819" cy="400110"/>
          </a:xfrm>
          <a:prstGeom prst="rect">
            <a:avLst/>
          </a:prstGeom>
          <a:noFill/>
        </p:spPr>
        <p:txBody>
          <a:bodyPr wrap="square">
            <a:spAutoFit/>
          </a:bodyPr>
          <a:lstStyle/>
          <a:p>
            <a:pPr>
              <a:buClr>
                <a:schemeClr val="dk1"/>
              </a:buClr>
              <a:buSzPts val="2800"/>
            </a:pPr>
            <a:r>
              <a:rPr lang="fr-FR" sz="2000" dirty="0">
                <a:solidFill>
                  <a:schemeClr val="tx1">
                    <a:lumMod val="65000"/>
                    <a:lumOff val="35000"/>
                  </a:schemeClr>
                </a:solidFill>
                <a:latin typeface="Aptos" panose="020B0004020202020204" pitchFamily="34" charset="0"/>
                <a:ea typeface="Inter"/>
                <a:sym typeface="Inter"/>
              </a:rPr>
              <a:t>Partie 1 - </a:t>
            </a:r>
            <a:r>
              <a:rPr lang="fr-FR" sz="2000" dirty="0">
                <a:solidFill>
                  <a:schemeClr val="tx1">
                    <a:lumMod val="65000"/>
                    <a:lumOff val="35000"/>
                  </a:schemeClr>
                </a:solidFill>
                <a:latin typeface="Aptos" panose="020B0004020202020204" pitchFamily="34" charset="0"/>
                <a:ea typeface="Inter"/>
              </a:rPr>
              <a:t>Diagnostic &amp; cadrage : </a:t>
            </a:r>
            <a:r>
              <a:rPr lang="fr-FR" sz="2000" b="1" dirty="0">
                <a:solidFill>
                  <a:schemeClr val="tx1">
                    <a:lumMod val="65000"/>
                    <a:lumOff val="35000"/>
                  </a:schemeClr>
                </a:solidFill>
                <a:latin typeface="Aptos" panose="020B0004020202020204" pitchFamily="34" charset="0"/>
                <a:ea typeface="Inter"/>
              </a:rPr>
              <a:t>En synthèse</a:t>
            </a:r>
            <a:endParaRPr lang="fr-FR" sz="2000" b="1" dirty="0">
              <a:solidFill>
                <a:schemeClr val="tx1">
                  <a:lumMod val="65000"/>
                  <a:lumOff val="35000"/>
                </a:schemeClr>
              </a:solidFill>
              <a:latin typeface="Aptos" panose="020B0004020202020204" pitchFamily="34" charset="0"/>
              <a:ea typeface="Inter"/>
              <a:sym typeface="Inter"/>
            </a:endParaRPr>
          </a:p>
        </p:txBody>
      </p:sp>
    </p:spTree>
    <p:extLst>
      <p:ext uri="{BB962C8B-B14F-4D97-AF65-F5344CB8AC3E}">
        <p14:creationId xmlns:p14="http://schemas.microsoft.com/office/powerpoint/2010/main" val="24048973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93">
          <a:extLst>
            <a:ext uri="{FF2B5EF4-FFF2-40B4-BE49-F238E27FC236}">
              <a16:creationId xmlns:a16="http://schemas.microsoft.com/office/drawing/2014/main" id="{57C345A0-647E-7977-678F-7CE109FB9CF9}"/>
            </a:ext>
          </a:extLst>
        </p:cNvPr>
        <p:cNvGrpSpPr/>
        <p:nvPr/>
      </p:nvGrpSpPr>
      <p:grpSpPr>
        <a:xfrm>
          <a:off x="0" y="0"/>
          <a:ext cx="0" cy="0"/>
          <a:chOff x="0" y="0"/>
          <a:chExt cx="0" cy="0"/>
        </a:xfrm>
      </p:grpSpPr>
      <p:pic>
        <p:nvPicPr>
          <p:cNvPr id="2" name="Google Shape;56;p13">
            <a:extLst>
              <a:ext uri="{FF2B5EF4-FFF2-40B4-BE49-F238E27FC236}">
                <a16:creationId xmlns:a16="http://schemas.microsoft.com/office/drawing/2014/main" id="{E6BF5565-36E5-9F75-A2AD-0E0DBE77D6F1}"/>
              </a:ext>
            </a:extLst>
          </p:cNvPr>
          <p:cNvPicPr preferRelativeResize="0"/>
          <p:nvPr/>
        </p:nvPicPr>
        <p:blipFill>
          <a:blip r:embed="rId3">
            <a:alphaModFix/>
          </a:blip>
          <a:stretch>
            <a:fillRect/>
          </a:stretch>
        </p:blipFill>
        <p:spPr>
          <a:xfrm>
            <a:off x="76200" y="90544"/>
            <a:ext cx="973275" cy="651050"/>
          </a:xfrm>
          <a:prstGeom prst="rect">
            <a:avLst/>
          </a:prstGeom>
          <a:noFill/>
          <a:ln>
            <a:noFill/>
          </a:ln>
        </p:spPr>
      </p:pic>
      <p:sp>
        <p:nvSpPr>
          <p:cNvPr id="3" name="ZoneTexte 2">
            <a:extLst>
              <a:ext uri="{FF2B5EF4-FFF2-40B4-BE49-F238E27FC236}">
                <a16:creationId xmlns:a16="http://schemas.microsoft.com/office/drawing/2014/main" id="{D30E5FF6-BE9A-CBFE-B0CA-CFCE481CD358}"/>
              </a:ext>
            </a:extLst>
          </p:cNvPr>
          <p:cNvSpPr txBox="1"/>
          <p:nvPr/>
        </p:nvSpPr>
        <p:spPr>
          <a:xfrm>
            <a:off x="1070839" y="17500"/>
            <a:ext cx="7002323" cy="400110"/>
          </a:xfrm>
          <a:prstGeom prst="rect">
            <a:avLst/>
          </a:prstGeom>
          <a:noFill/>
        </p:spPr>
        <p:txBody>
          <a:bodyPr wrap="square">
            <a:spAutoFit/>
          </a:bodyPr>
          <a:lstStyle/>
          <a:p>
            <a:pPr>
              <a:buClr>
                <a:schemeClr val="dk1"/>
              </a:buClr>
              <a:buSzPts val="2800"/>
            </a:pPr>
            <a:r>
              <a:rPr lang="fr-FR" sz="2000" dirty="0">
                <a:solidFill>
                  <a:schemeClr val="tx1">
                    <a:lumMod val="65000"/>
                    <a:lumOff val="35000"/>
                  </a:schemeClr>
                </a:solidFill>
                <a:latin typeface="Aptos" panose="020B0004020202020204" pitchFamily="34" charset="0"/>
                <a:ea typeface="Inter"/>
                <a:sym typeface="Inter"/>
              </a:rPr>
              <a:t>Partie 1 - </a:t>
            </a:r>
            <a:r>
              <a:rPr lang="fr-FR" sz="2000" dirty="0">
                <a:solidFill>
                  <a:schemeClr val="tx1">
                    <a:lumMod val="65000"/>
                    <a:lumOff val="35000"/>
                  </a:schemeClr>
                </a:solidFill>
                <a:latin typeface="Aptos" panose="020B0004020202020204" pitchFamily="34" charset="0"/>
                <a:ea typeface="Inter"/>
              </a:rPr>
              <a:t>Diagnostic &amp; cadrage : </a:t>
            </a:r>
            <a:r>
              <a:rPr lang="fr-FR" sz="2000" b="1" dirty="0">
                <a:solidFill>
                  <a:schemeClr val="tx1">
                    <a:lumMod val="65000"/>
                    <a:lumOff val="35000"/>
                  </a:schemeClr>
                </a:solidFill>
                <a:latin typeface="Aptos" panose="020B0004020202020204" pitchFamily="34" charset="0"/>
                <a:ea typeface="Inter"/>
              </a:rPr>
              <a:t>La compliance et ses enjeux</a:t>
            </a:r>
            <a:endParaRPr lang="fr-FR" sz="2000" b="1" dirty="0">
              <a:solidFill>
                <a:schemeClr val="tx1">
                  <a:lumMod val="65000"/>
                  <a:lumOff val="35000"/>
                </a:schemeClr>
              </a:solidFill>
              <a:latin typeface="Aptos" panose="020B0004020202020204" pitchFamily="34" charset="0"/>
              <a:ea typeface="Inter"/>
              <a:sym typeface="Inter"/>
            </a:endParaRPr>
          </a:p>
        </p:txBody>
      </p:sp>
      <p:pic>
        <p:nvPicPr>
          <p:cNvPr id="16" name="Image 15">
            <a:extLst>
              <a:ext uri="{FF2B5EF4-FFF2-40B4-BE49-F238E27FC236}">
                <a16:creationId xmlns:a16="http://schemas.microsoft.com/office/drawing/2014/main" id="{80864B22-3452-86B0-701C-0E015ADA15E5}"/>
              </a:ext>
            </a:extLst>
          </p:cNvPr>
          <p:cNvPicPr>
            <a:picLocks noChangeAspect="1"/>
          </p:cNvPicPr>
          <p:nvPr/>
        </p:nvPicPr>
        <p:blipFill>
          <a:blip r:embed="rId4"/>
          <a:stretch>
            <a:fillRect/>
          </a:stretch>
        </p:blipFill>
        <p:spPr>
          <a:xfrm>
            <a:off x="431084" y="809903"/>
            <a:ext cx="2982058" cy="1080875"/>
          </a:xfrm>
          <a:prstGeom prst="rect">
            <a:avLst/>
          </a:prstGeom>
        </p:spPr>
      </p:pic>
      <p:pic>
        <p:nvPicPr>
          <p:cNvPr id="17" name="Image 16">
            <a:extLst>
              <a:ext uri="{FF2B5EF4-FFF2-40B4-BE49-F238E27FC236}">
                <a16:creationId xmlns:a16="http://schemas.microsoft.com/office/drawing/2014/main" id="{B10C0604-F9EA-60F7-DB04-909E72DD5EA3}"/>
              </a:ext>
            </a:extLst>
          </p:cNvPr>
          <p:cNvPicPr>
            <a:picLocks noChangeAspect="1"/>
          </p:cNvPicPr>
          <p:nvPr/>
        </p:nvPicPr>
        <p:blipFill>
          <a:blip r:embed="rId5"/>
          <a:stretch>
            <a:fillRect/>
          </a:stretch>
        </p:blipFill>
        <p:spPr>
          <a:xfrm>
            <a:off x="5749312" y="921386"/>
            <a:ext cx="2414225" cy="902286"/>
          </a:xfrm>
          <a:prstGeom prst="rect">
            <a:avLst/>
          </a:prstGeom>
        </p:spPr>
      </p:pic>
      <p:pic>
        <p:nvPicPr>
          <p:cNvPr id="18" name="Image 17">
            <a:extLst>
              <a:ext uri="{FF2B5EF4-FFF2-40B4-BE49-F238E27FC236}">
                <a16:creationId xmlns:a16="http://schemas.microsoft.com/office/drawing/2014/main" id="{2E21ED99-12A3-4778-5AAB-CF4F618FC912}"/>
              </a:ext>
            </a:extLst>
          </p:cNvPr>
          <p:cNvPicPr>
            <a:picLocks noChangeAspect="1"/>
          </p:cNvPicPr>
          <p:nvPr/>
        </p:nvPicPr>
        <p:blipFill>
          <a:blip r:embed="rId6"/>
          <a:stretch>
            <a:fillRect/>
          </a:stretch>
        </p:blipFill>
        <p:spPr>
          <a:xfrm>
            <a:off x="76200" y="2373308"/>
            <a:ext cx="2950720" cy="798645"/>
          </a:xfrm>
          <a:prstGeom prst="rect">
            <a:avLst/>
          </a:prstGeom>
        </p:spPr>
      </p:pic>
      <p:pic>
        <p:nvPicPr>
          <p:cNvPr id="19" name="Image 18">
            <a:extLst>
              <a:ext uri="{FF2B5EF4-FFF2-40B4-BE49-F238E27FC236}">
                <a16:creationId xmlns:a16="http://schemas.microsoft.com/office/drawing/2014/main" id="{CBECEA5E-E453-8611-8B3C-E0DD961DFB0B}"/>
              </a:ext>
            </a:extLst>
          </p:cNvPr>
          <p:cNvPicPr>
            <a:picLocks noChangeAspect="1"/>
          </p:cNvPicPr>
          <p:nvPr/>
        </p:nvPicPr>
        <p:blipFill>
          <a:blip r:embed="rId7"/>
          <a:stretch>
            <a:fillRect/>
          </a:stretch>
        </p:blipFill>
        <p:spPr>
          <a:xfrm>
            <a:off x="5683502" y="3958552"/>
            <a:ext cx="2414225" cy="1176630"/>
          </a:xfrm>
          <a:prstGeom prst="rect">
            <a:avLst/>
          </a:prstGeom>
        </p:spPr>
      </p:pic>
      <p:pic>
        <p:nvPicPr>
          <p:cNvPr id="24" name="Image 23">
            <a:extLst>
              <a:ext uri="{FF2B5EF4-FFF2-40B4-BE49-F238E27FC236}">
                <a16:creationId xmlns:a16="http://schemas.microsoft.com/office/drawing/2014/main" id="{BE64F1E9-4100-0714-CD6A-F99DB1C39B23}"/>
              </a:ext>
            </a:extLst>
          </p:cNvPr>
          <p:cNvPicPr>
            <a:picLocks noChangeAspect="1"/>
          </p:cNvPicPr>
          <p:nvPr/>
        </p:nvPicPr>
        <p:blipFill>
          <a:blip r:embed="rId8"/>
          <a:stretch>
            <a:fillRect/>
          </a:stretch>
        </p:blipFill>
        <p:spPr>
          <a:xfrm>
            <a:off x="1223523" y="3601796"/>
            <a:ext cx="2530059" cy="1213209"/>
          </a:xfrm>
          <a:prstGeom prst="rect">
            <a:avLst/>
          </a:prstGeom>
        </p:spPr>
      </p:pic>
      <p:cxnSp>
        <p:nvCxnSpPr>
          <p:cNvPr id="38" name="Connecteur droit avec flèche 37">
            <a:extLst>
              <a:ext uri="{FF2B5EF4-FFF2-40B4-BE49-F238E27FC236}">
                <a16:creationId xmlns:a16="http://schemas.microsoft.com/office/drawing/2014/main" id="{81F19B7E-4314-BF9B-B59B-89DBFBFD45BD}"/>
              </a:ext>
            </a:extLst>
          </p:cNvPr>
          <p:cNvCxnSpPr>
            <a:cxnSpLocks/>
          </p:cNvCxnSpPr>
          <p:nvPr/>
        </p:nvCxnSpPr>
        <p:spPr>
          <a:xfrm flipH="1" flipV="1">
            <a:off x="3413142" y="1890778"/>
            <a:ext cx="806750" cy="7102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9" name="Connecteur droit avec flèche 38">
            <a:extLst>
              <a:ext uri="{FF2B5EF4-FFF2-40B4-BE49-F238E27FC236}">
                <a16:creationId xmlns:a16="http://schemas.microsoft.com/office/drawing/2014/main" id="{12CE65C8-CB86-3F31-CFDA-6745BE2605B2}"/>
              </a:ext>
            </a:extLst>
          </p:cNvPr>
          <p:cNvCxnSpPr>
            <a:cxnSpLocks/>
          </p:cNvCxnSpPr>
          <p:nvPr/>
        </p:nvCxnSpPr>
        <p:spPr>
          <a:xfrm flipH="1">
            <a:off x="3013116" y="2938751"/>
            <a:ext cx="942588"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3" name="Connecteur droit avec flèche 42">
            <a:extLst>
              <a:ext uri="{FF2B5EF4-FFF2-40B4-BE49-F238E27FC236}">
                <a16:creationId xmlns:a16="http://schemas.microsoft.com/office/drawing/2014/main" id="{F8D259F0-FDF9-7E9E-0C33-ED5D2D8D742E}"/>
              </a:ext>
            </a:extLst>
          </p:cNvPr>
          <p:cNvCxnSpPr>
            <a:cxnSpLocks/>
          </p:cNvCxnSpPr>
          <p:nvPr/>
        </p:nvCxnSpPr>
        <p:spPr>
          <a:xfrm flipH="1">
            <a:off x="3762973" y="3364371"/>
            <a:ext cx="385462" cy="5980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0" name="Connecteur droit avec flèche 49">
            <a:extLst>
              <a:ext uri="{FF2B5EF4-FFF2-40B4-BE49-F238E27FC236}">
                <a16:creationId xmlns:a16="http://schemas.microsoft.com/office/drawing/2014/main" id="{04301EF6-2118-4E10-1B50-321F484FFB78}"/>
              </a:ext>
            </a:extLst>
          </p:cNvPr>
          <p:cNvCxnSpPr>
            <a:cxnSpLocks/>
          </p:cNvCxnSpPr>
          <p:nvPr/>
        </p:nvCxnSpPr>
        <p:spPr>
          <a:xfrm flipV="1">
            <a:off x="5167745" y="1823672"/>
            <a:ext cx="581567" cy="68228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3" name="Connecteur droit avec flèche 52">
            <a:extLst>
              <a:ext uri="{FF2B5EF4-FFF2-40B4-BE49-F238E27FC236}">
                <a16:creationId xmlns:a16="http://schemas.microsoft.com/office/drawing/2014/main" id="{1F1862D5-512D-7C33-0603-DBBA1A0FDA29}"/>
              </a:ext>
            </a:extLst>
          </p:cNvPr>
          <p:cNvCxnSpPr>
            <a:cxnSpLocks/>
          </p:cNvCxnSpPr>
          <p:nvPr/>
        </p:nvCxnSpPr>
        <p:spPr>
          <a:xfrm>
            <a:off x="5104399" y="3339155"/>
            <a:ext cx="572176" cy="61708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pic>
        <p:nvPicPr>
          <p:cNvPr id="72" name="Image 71">
            <a:extLst>
              <a:ext uri="{FF2B5EF4-FFF2-40B4-BE49-F238E27FC236}">
                <a16:creationId xmlns:a16="http://schemas.microsoft.com/office/drawing/2014/main" id="{47CDFB7A-4374-110A-433D-ECE3C45A5A1E}"/>
              </a:ext>
            </a:extLst>
          </p:cNvPr>
          <p:cNvPicPr>
            <a:picLocks noChangeAspect="1"/>
          </p:cNvPicPr>
          <p:nvPr/>
        </p:nvPicPr>
        <p:blipFill>
          <a:blip r:embed="rId9"/>
          <a:stretch>
            <a:fillRect/>
          </a:stretch>
        </p:blipFill>
        <p:spPr>
          <a:xfrm>
            <a:off x="3812465" y="2195103"/>
            <a:ext cx="1646063" cy="1487553"/>
          </a:xfrm>
          <a:prstGeom prst="rect">
            <a:avLst/>
          </a:prstGeom>
        </p:spPr>
      </p:pic>
      <p:cxnSp>
        <p:nvCxnSpPr>
          <p:cNvPr id="75" name="Connecteur droit avec flèche 74">
            <a:extLst>
              <a:ext uri="{FF2B5EF4-FFF2-40B4-BE49-F238E27FC236}">
                <a16:creationId xmlns:a16="http://schemas.microsoft.com/office/drawing/2014/main" id="{626A8227-B0B6-1AC0-ED46-14E4D3F79E07}"/>
              </a:ext>
            </a:extLst>
          </p:cNvPr>
          <p:cNvCxnSpPr>
            <a:cxnSpLocks/>
          </p:cNvCxnSpPr>
          <p:nvPr/>
        </p:nvCxnSpPr>
        <p:spPr>
          <a:xfrm>
            <a:off x="5390487" y="2948348"/>
            <a:ext cx="830204"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pic>
        <p:nvPicPr>
          <p:cNvPr id="85" name="Image 84">
            <a:extLst>
              <a:ext uri="{FF2B5EF4-FFF2-40B4-BE49-F238E27FC236}">
                <a16:creationId xmlns:a16="http://schemas.microsoft.com/office/drawing/2014/main" id="{844C4B01-524E-2807-3F39-24D5C5D4BAA3}"/>
              </a:ext>
            </a:extLst>
          </p:cNvPr>
          <p:cNvPicPr>
            <a:picLocks noChangeAspect="1"/>
          </p:cNvPicPr>
          <p:nvPr/>
        </p:nvPicPr>
        <p:blipFill>
          <a:blip r:embed="rId10"/>
          <a:stretch>
            <a:fillRect/>
          </a:stretch>
        </p:blipFill>
        <p:spPr>
          <a:xfrm>
            <a:off x="6244073" y="2619765"/>
            <a:ext cx="2414225" cy="719390"/>
          </a:xfrm>
          <a:prstGeom prst="rect">
            <a:avLst/>
          </a:prstGeom>
        </p:spPr>
      </p:pic>
    </p:spTree>
    <p:extLst>
      <p:ext uri="{BB962C8B-B14F-4D97-AF65-F5344CB8AC3E}">
        <p14:creationId xmlns:p14="http://schemas.microsoft.com/office/powerpoint/2010/main" val="15992693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93">
          <a:extLst>
            <a:ext uri="{FF2B5EF4-FFF2-40B4-BE49-F238E27FC236}">
              <a16:creationId xmlns:a16="http://schemas.microsoft.com/office/drawing/2014/main" id="{57C345A0-647E-7977-678F-7CE109FB9CF9}"/>
            </a:ext>
          </a:extLst>
        </p:cNvPr>
        <p:cNvGrpSpPr/>
        <p:nvPr/>
      </p:nvGrpSpPr>
      <p:grpSpPr>
        <a:xfrm>
          <a:off x="0" y="0"/>
          <a:ext cx="0" cy="0"/>
          <a:chOff x="0" y="0"/>
          <a:chExt cx="0" cy="0"/>
        </a:xfrm>
      </p:grpSpPr>
      <p:pic>
        <p:nvPicPr>
          <p:cNvPr id="2" name="Google Shape;56;p13">
            <a:extLst>
              <a:ext uri="{FF2B5EF4-FFF2-40B4-BE49-F238E27FC236}">
                <a16:creationId xmlns:a16="http://schemas.microsoft.com/office/drawing/2014/main" id="{E6BF5565-36E5-9F75-A2AD-0E0DBE77D6F1}"/>
              </a:ext>
            </a:extLst>
          </p:cNvPr>
          <p:cNvPicPr preferRelativeResize="0"/>
          <p:nvPr/>
        </p:nvPicPr>
        <p:blipFill>
          <a:blip r:embed="rId3">
            <a:alphaModFix/>
          </a:blip>
          <a:stretch>
            <a:fillRect/>
          </a:stretch>
        </p:blipFill>
        <p:spPr>
          <a:xfrm>
            <a:off x="76200" y="90544"/>
            <a:ext cx="973275" cy="651050"/>
          </a:xfrm>
          <a:prstGeom prst="rect">
            <a:avLst/>
          </a:prstGeom>
          <a:noFill/>
          <a:ln>
            <a:noFill/>
          </a:ln>
        </p:spPr>
      </p:pic>
      <p:sp>
        <p:nvSpPr>
          <p:cNvPr id="3" name="ZoneTexte 2">
            <a:extLst>
              <a:ext uri="{FF2B5EF4-FFF2-40B4-BE49-F238E27FC236}">
                <a16:creationId xmlns:a16="http://schemas.microsoft.com/office/drawing/2014/main" id="{6C77410D-68F0-1376-4328-CEA979EDEB39}"/>
              </a:ext>
            </a:extLst>
          </p:cNvPr>
          <p:cNvSpPr txBox="1"/>
          <p:nvPr/>
        </p:nvSpPr>
        <p:spPr>
          <a:xfrm>
            <a:off x="1333500" y="0"/>
            <a:ext cx="6477001" cy="400110"/>
          </a:xfrm>
          <a:prstGeom prst="rect">
            <a:avLst/>
          </a:prstGeom>
          <a:noFill/>
        </p:spPr>
        <p:txBody>
          <a:bodyPr wrap="square">
            <a:spAutoFit/>
          </a:bodyPr>
          <a:lstStyle/>
          <a:p>
            <a:pPr>
              <a:buClr>
                <a:schemeClr val="dk1"/>
              </a:buClr>
              <a:buSzPts val="2800"/>
            </a:pPr>
            <a:r>
              <a:rPr lang="fr-FR" sz="2000" dirty="0">
                <a:solidFill>
                  <a:schemeClr val="tx1">
                    <a:lumMod val="65000"/>
                    <a:lumOff val="35000"/>
                  </a:schemeClr>
                </a:solidFill>
                <a:latin typeface="Aptos" panose="020B0004020202020204" pitchFamily="34" charset="0"/>
                <a:ea typeface="Inter"/>
                <a:sym typeface="Inter"/>
              </a:rPr>
              <a:t>Partie 1 - </a:t>
            </a:r>
            <a:r>
              <a:rPr lang="fr-FR" sz="2000" dirty="0">
                <a:solidFill>
                  <a:schemeClr val="tx1">
                    <a:lumMod val="65000"/>
                    <a:lumOff val="35000"/>
                  </a:schemeClr>
                </a:solidFill>
                <a:latin typeface="Aptos" panose="020B0004020202020204" pitchFamily="34" charset="0"/>
                <a:ea typeface="Inter"/>
              </a:rPr>
              <a:t>Diagnostic &amp; cadrage : </a:t>
            </a:r>
            <a:r>
              <a:rPr lang="fr-FR" sz="2000" b="1" dirty="0">
                <a:solidFill>
                  <a:schemeClr val="tx1">
                    <a:lumMod val="65000"/>
                    <a:lumOff val="35000"/>
                  </a:schemeClr>
                </a:solidFill>
                <a:latin typeface="Aptos" panose="020B0004020202020204" pitchFamily="34" charset="0"/>
                <a:ea typeface="Inter"/>
              </a:rPr>
              <a:t>La compliance SPOTIFY</a:t>
            </a:r>
            <a:endParaRPr lang="fr-FR" sz="2000" b="1" dirty="0">
              <a:solidFill>
                <a:schemeClr val="tx1">
                  <a:lumMod val="65000"/>
                  <a:lumOff val="35000"/>
                </a:schemeClr>
              </a:solidFill>
              <a:latin typeface="Aptos" panose="020B0004020202020204" pitchFamily="34" charset="0"/>
              <a:ea typeface="Inter"/>
              <a:sym typeface="Inter"/>
            </a:endParaRPr>
          </a:p>
        </p:txBody>
      </p:sp>
      <p:sp>
        <p:nvSpPr>
          <p:cNvPr id="11" name="ZoneTexte 10">
            <a:extLst>
              <a:ext uri="{FF2B5EF4-FFF2-40B4-BE49-F238E27FC236}">
                <a16:creationId xmlns:a16="http://schemas.microsoft.com/office/drawing/2014/main" id="{4DB7AB02-9845-355B-4FE6-961750F402A2}"/>
              </a:ext>
            </a:extLst>
          </p:cNvPr>
          <p:cNvSpPr txBox="1"/>
          <p:nvPr/>
        </p:nvSpPr>
        <p:spPr>
          <a:xfrm>
            <a:off x="2419499" y="3804231"/>
            <a:ext cx="4305003" cy="1015663"/>
          </a:xfrm>
          <a:prstGeom prst="rect">
            <a:avLst/>
          </a:prstGeom>
          <a:noFill/>
        </p:spPr>
        <p:txBody>
          <a:bodyPr wrap="square" rtlCol="0">
            <a:spAutoFit/>
          </a:bodyPr>
          <a:lstStyle/>
          <a:p>
            <a:r>
              <a:rPr lang="fr-FR" sz="1000" b="1" dirty="0">
                <a:solidFill>
                  <a:schemeClr val="accent5">
                    <a:lumMod val="75000"/>
                  </a:schemeClr>
                </a:solidFill>
              </a:rPr>
              <a:t>Une bonne compliance à renforcer sur certains points : </a:t>
            </a:r>
          </a:p>
          <a:p>
            <a:endParaRPr lang="fr-FR" sz="1000" dirty="0">
              <a:solidFill>
                <a:schemeClr val="tx1"/>
              </a:solidFill>
            </a:endParaRPr>
          </a:p>
          <a:p>
            <a:pPr marL="285750" lvl="4" indent="-285750">
              <a:buFont typeface="Courier New" panose="02070309020205020404" pitchFamily="49" charset="0"/>
              <a:buChar char="o"/>
            </a:pPr>
            <a:r>
              <a:rPr lang="fr-FR" sz="1000" dirty="0">
                <a:solidFill>
                  <a:schemeClr val="accent5">
                    <a:lumMod val="75000"/>
                  </a:schemeClr>
                </a:solidFill>
              </a:rPr>
              <a:t>Centraliser la gestion du consentement utilisateur</a:t>
            </a:r>
          </a:p>
          <a:p>
            <a:pPr marL="285750" lvl="4" indent="-285750">
              <a:buFont typeface="Courier New" panose="02070309020205020404" pitchFamily="49" charset="0"/>
              <a:buChar char="o"/>
            </a:pPr>
            <a:r>
              <a:rPr lang="fr-FR" sz="1000" dirty="0">
                <a:solidFill>
                  <a:schemeClr val="accent5">
                    <a:lumMod val="75000"/>
                  </a:schemeClr>
                </a:solidFill>
              </a:rPr>
              <a:t>Clarifier les mécanismes d’opt-out des données personnelles.</a:t>
            </a:r>
          </a:p>
          <a:p>
            <a:pPr marL="285750" lvl="4" indent="-285750">
              <a:buFont typeface="Courier New" panose="02070309020205020404" pitchFamily="49" charset="0"/>
              <a:buChar char="o"/>
            </a:pPr>
            <a:r>
              <a:rPr lang="fr-FR" sz="1000" dirty="0">
                <a:solidFill>
                  <a:schemeClr val="accent5">
                    <a:lumMod val="75000"/>
                  </a:schemeClr>
                </a:solidFill>
              </a:rPr>
              <a:t>Formaliser un programme de tests de sécurité. </a:t>
            </a:r>
          </a:p>
          <a:p>
            <a:pPr marL="285750" lvl="4" indent="-285750">
              <a:buFont typeface="Courier New" panose="02070309020205020404" pitchFamily="49" charset="0"/>
              <a:buChar char="o"/>
            </a:pPr>
            <a:r>
              <a:rPr lang="fr-FR" sz="1000" dirty="0">
                <a:solidFill>
                  <a:schemeClr val="accent5">
                    <a:lumMod val="75000"/>
                  </a:schemeClr>
                </a:solidFill>
              </a:rPr>
              <a:t>Déployer des formations régulières en sécurité informatique. </a:t>
            </a:r>
          </a:p>
        </p:txBody>
      </p:sp>
      <p:pic>
        <p:nvPicPr>
          <p:cNvPr id="12" name="Image 11">
            <a:extLst>
              <a:ext uri="{FF2B5EF4-FFF2-40B4-BE49-F238E27FC236}">
                <a16:creationId xmlns:a16="http://schemas.microsoft.com/office/drawing/2014/main" id="{D8FB522C-BFDD-833A-4AE9-7A648DBBE25A}"/>
              </a:ext>
            </a:extLst>
          </p:cNvPr>
          <p:cNvPicPr>
            <a:picLocks noChangeAspect="1"/>
          </p:cNvPicPr>
          <p:nvPr/>
        </p:nvPicPr>
        <p:blipFill>
          <a:blip r:embed="rId4"/>
          <a:stretch>
            <a:fillRect/>
          </a:stretch>
        </p:blipFill>
        <p:spPr>
          <a:xfrm>
            <a:off x="0" y="1040628"/>
            <a:ext cx="9144000" cy="2549626"/>
          </a:xfrm>
          <a:prstGeom prst="rect">
            <a:avLst/>
          </a:prstGeom>
        </p:spPr>
      </p:pic>
    </p:spTree>
    <p:extLst>
      <p:ext uri="{BB962C8B-B14F-4D97-AF65-F5344CB8AC3E}">
        <p14:creationId xmlns:p14="http://schemas.microsoft.com/office/powerpoint/2010/main" val="23648111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93">
          <a:extLst>
            <a:ext uri="{FF2B5EF4-FFF2-40B4-BE49-F238E27FC236}">
              <a16:creationId xmlns:a16="http://schemas.microsoft.com/office/drawing/2014/main" id="{57C345A0-647E-7977-678F-7CE109FB9CF9}"/>
            </a:ext>
          </a:extLst>
        </p:cNvPr>
        <p:cNvGrpSpPr/>
        <p:nvPr/>
      </p:nvGrpSpPr>
      <p:grpSpPr>
        <a:xfrm>
          <a:off x="0" y="0"/>
          <a:ext cx="0" cy="0"/>
          <a:chOff x="0" y="0"/>
          <a:chExt cx="0" cy="0"/>
        </a:xfrm>
      </p:grpSpPr>
      <p:pic>
        <p:nvPicPr>
          <p:cNvPr id="2" name="Google Shape;56;p13">
            <a:extLst>
              <a:ext uri="{FF2B5EF4-FFF2-40B4-BE49-F238E27FC236}">
                <a16:creationId xmlns:a16="http://schemas.microsoft.com/office/drawing/2014/main" id="{E6BF5565-36E5-9F75-A2AD-0E0DBE77D6F1}"/>
              </a:ext>
            </a:extLst>
          </p:cNvPr>
          <p:cNvPicPr preferRelativeResize="0"/>
          <p:nvPr/>
        </p:nvPicPr>
        <p:blipFill>
          <a:blip r:embed="rId3">
            <a:alphaModFix/>
          </a:blip>
          <a:stretch>
            <a:fillRect/>
          </a:stretch>
        </p:blipFill>
        <p:spPr>
          <a:xfrm>
            <a:off x="76200" y="90544"/>
            <a:ext cx="973275" cy="651050"/>
          </a:xfrm>
          <a:prstGeom prst="rect">
            <a:avLst/>
          </a:prstGeom>
          <a:noFill/>
          <a:ln>
            <a:noFill/>
          </a:ln>
        </p:spPr>
      </p:pic>
      <p:sp>
        <p:nvSpPr>
          <p:cNvPr id="3" name="ZoneTexte 2">
            <a:extLst>
              <a:ext uri="{FF2B5EF4-FFF2-40B4-BE49-F238E27FC236}">
                <a16:creationId xmlns:a16="http://schemas.microsoft.com/office/drawing/2014/main" id="{0D356A53-4476-CE7E-887F-2105D9DCBD3E}"/>
              </a:ext>
            </a:extLst>
          </p:cNvPr>
          <p:cNvSpPr txBox="1"/>
          <p:nvPr/>
        </p:nvSpPr>
        <p:spPr>
          <a:xfrm>
            <a:off x="1120488" y="0"/>
            <a:ext cx="7387936" cy="400110"/>
          </a:xfrm>
          <a:prstGeom prst="rect">
            <a:avLst/>
          </a:prstGeom>
          <a:noFill/>
        </p:spPr>
        <p:txBody>
          <a:bodyPr wrap="square">
            <a:spAutoFit/>
          </a:bodyPr>
          <a:lstStyle/>
          <a:p>
            <a:pPr>
              <a:buClr>
                <a:schemeClr val="dk1"/>
              </a:buClr>
              <a:buSzPts val="2800"/>
            </a:pPr>
            <a:r>
              <a:rPr lang="fr-FR" sz="2000" dirty="0">
                <a:solidFill>
                  <a:schemeClr val="tx1">
                    <a:lumMod val="65000"/>
                    <a:lumOff val="35000"/>
                  </a:schemeClr>
                </a:solidFill>
                <a:latin typeface="Aptos" panose="020B0004020202020204" pitchFamily="34" charset="0"/>
                <a:ea typeface="Inter"/>
                <a:sym typeface="Inter"/>
              </a:rPr>
              <a:t>Partie 2 - </a:t>
            </a:r>
            <a:r>
              <a:rPr lang="fr-FR" sz="2000" dirty="0">
                <a:solidFill>
                  <a:schemeClr val="tx1">
                    <a:lumMod val="65000"/>
                    <a:lumOff val="35000"/>
                  </a:schemeClr>
                </a:solidFill>
                <a:latin typeface="Aptos" panose="020B0004020202020204" pitchFamily="34" charset="0"/>
              </a:rPr>
              <a:t>Mise en place du modèle cible </a:t>
            </a:r>
            <a:r>
              <a:rPr lang="fr-FR" sz="2000" dirty="0">
                <a:solidFill>
                  <a:schemeClr val="tx1">
                    <a:lumMod val="65000"/>
                    <a:lumOff val="35000"/>
                  </a:schemeClr>
                </a:solidFill>
                <a:latin typeface="Aptos" panose="020B0004020202020204" pitchFamily="34" charset="0"/>
                <a:ea typeface="Inter"/>
              </a:rPr>
              <a:t>: </a:t>
            </a:r>
            <a:r>
              <a:rPr lang="fr-FR" sz="2000" b="1" dirty="0">
                <a:solidFill>
                  <a:schemeClr val="tx1">
                    <a:lumMod val="65000"/>
                    <a:lumOff val="35000"/>
                  </a:schemeClr>
                </a:solidFill>
                <a:latin typeface="Aptos" panose="020B0004020202020204" pitchFamily="34" charset="0"/>
                <a:ea typeface="Inter"/>
              </a:rPr>
              <a:t>Cadre de Gouvernance</a:t>
            </a:r>
            <a:endParaRPr lang="fr-FR" sz="2000" b="1" dirty="0">
              <a:solidFill>
                <a:schemeClr val="tx1">
                  <a:lumMod val="65000"/>
                  <a:lumOff val="35000"/>
                </a:schemeClr>
              </a:solidFill>
              <a:latin typeface="Aptos" panose="020B0004020202020204" pitchFamily="34" charset="0"/>
              <a:ea typeface="Inter"/>
              <a:sym typeface="Inter"/>
            </a:endParaRPr>
          </a:p>
        </p:txBody>
      </p:sp>
      <p:pic>
        <p:nvPicPr>
          <p:cNvPr id="5" name="Image 4" descr="Une image contenant texte, capture d’écran, logo, cercle&#10;&#10;Le contenu généré par l’IA peut être incorrect.">
            <a:extLst>
              <a:ext uri="{FF2B5EF4-FFF2-40B4-BE49-F238E27FC236}">
                <a16:creationId xmlns:a16="http://schemas.microsoft.com/office/drawing/2014/main" id="{B07F8D7A-75EA-4383-1BA1-0A9C964B514D}"/>
              </a:ext>
            </a:extLst>
          </p:cNvPr>
          <p:cNvPicPr>
            <a:picLocks noChangeAspect="1"/>
          </p:cNvPicPr>
          <p:nvPr/>
        </p:nvPicPr>
        <p:blipFill>
          <a:blip r:embed="rId4"/>
          <a:stretch>
            <a:fillRect/>
          </a:stretch>
        </p:blipFill>
        <p:spPr>
          <a:xfrm>
            <a:off x="1633107" y="806890"/>
            <a:ext cx="2296999" cy="2202440"/>
          </a:xfrm>
          <a:prstGeom prst="rect">
            <a:avLst/>
          </a:prstGeom>
        </p:spPr>
      </p:pic>
      <p:pic>
        <p:nvPicPr>
          <p:cNvPr id="7" name="Image 6" descr="Une image contenant texte, capture d’écran, logo, cercle&#10;&#10;Le contenu généré par l’IA peut être incorrect.">
            <a:extLst>
              <a:ext uri="{FF2B5EF4-FFF2-40B4-BE49-F238E27FC236}">
                <a16:creationId xmlns:a16="http://schemas.microsoft.com/office/drawing/2014/main" id="{F2E4256F-C8DD-606C-E675-A4682748B129}"/>
              </a:ext>
            </a:extLst>
          </p:cNvPr>
          <p:cNvPicPr>
            <a:picLocks noChangeAspect="1"/>
          </p:cNvPicPr>
          <p:nvPr/>
        </p:nvPicPr>
        <p:blipFill>
          <a:blip r:embed="rId5"/>
          <a:stretch>
            <a:fillRect/>
          </a:stretch>
        </p:blipFill>
        <p:spPr>
          <a:xfrm>
            <a:off x="5218578" y="806890"/>
            <a:ext cx="2141833" cy="2202440"/>
          </a:xfrm>
          <a:prstGeom prst="rect">
            <a:avLst/>
          </a:prstGeom>
        </p:spPr>
      </p:pic>
      <p:sp>
        <p:nvSpPr>
          <p:cNvPr id="8" name="Flèche : droite 7">
            <a:extLst>
              <a:ext uri="{FF2B5EF4-FFF2-40B4-BE49-F238E27FC236}">
                <a16:creationId xmlns:a16="http://schemas.microsoft.com/office/drawing/2014/main" id="{F75C49F0-5D90-B67C-7AB6-E7699D9C1AF2}"/>
              </a:ext>
            </a:extLst>
          </p:cNvPr>
          <p:cNvSpPr/>
          <p:nvPr/>
        </p:nvSpPr>
        <p:spPr>
          <a:xfrm>
            <a:off x="4125261" y="1837454"/>
            <a:ext cx="997835" cy="25752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1">
            <a:extLst>
              <a:ext uri="{FF2B5EF4-FFF2-40B4-BE49-F238E27FC236}">
                <a16:creationId xmlns:a16="http://schemas.microsoft.com/office/drawing/2014/main" id="{5E386C6D-274A-E739-F837-37B028ABDA78}"/>
              </a:ext>
            </a:extLst>
          </p:cNvPr>
          <p:cNvSpPr>
            <a:spLocks noChangeArrowheads="1"/>
          </p:cNvSpPr>
          <p:nvPr/>
        </p:nvSpPr>
        <p:spPr bwMode="auto">
          <a:xfrm>
            <a:off x="895351" y="3532320"/>
            <a:ext cx="7613073" cy="1246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sz="1500" b="1" dirty="0">
                <a:solidFill>
                  <a:schemeClr val="tx1">
                    <a:lumMod val="65000"/>
                    <a:lumOff val="35000"/>
                  </a:schemeClr>
                </a:solidFill>
                <a:latin typeface="Aptos" panose="020B0004020202020204" pitchFamily="34" charset="0"/>
              </a:rPr>
              <a:t>Analyser l’existant </a:t>
            </a:r>
            <a:r>
              <a:rPr lang="fr-FR" altLang="fr-FR" sz="1500" dirty="0">
                <a:solidFill>
                  <a:schemeClr val="tx1">
                    <a:lumMod val="65000"/>
                    <a:lumOff val="35000"/>
                  </a:schemeClr>
                </a:solidFill>
                <a:latin typeface="Aptos" panose="020B0004020202020204" pitchFamily="34" charset="0"/>
              </a:rPr>
              <a:t>pour comprendre les limites du modèle </a:t>
            </a:r>
            <a:r>
              <a:rPr lang="fr-FR" altLang="fr-FR" sz="1500" dirty="0" err="1">
                <a:solidFill>
                  <a:schemeClr val="tx1">
                    <a:lumMod val="65000"/>
                    <a:lumOff val="35000"/>
                  </a:schemeClr>
                </a:solidFill>
                <a:latin typeface="Aptos" panose="020B0004020202020204" pitchFamily="34" charset="0"/>
              </a:rPr>
              <a:t>embedded</a:t>
            </a:r>
            <a:r>
              <a:rPr lang="fr-FR" altLang="fr-FR" sz="1500" dirty="0">
                <a:solidFill>
                  <a:schemeClr val="tx1">
                    <a:lumMod val="65000"/>
                    <a:lumOff val="35000"/>
                  </a:schemeClr>
                </a:solidFill>
                <a:latin typeface="Aptos" panose="020B00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sz="1500" b="1" dirty="0">
                <a:solidFill>
                  <a:schemeClr val="tx1">
                    <a:lumMod val="65000"/>
                    <a:lumOff val="35000"/>
                  </a:schemeClr>
                </a:solidFill>
                <a:latin typeface="Aptos" panose="020B0004020202020204" pitchFamily="34" charset="0"/>
              </a:rPr>
              <a:t>Définir des règles communes </a:t>
            </a:r>
            <a:r>
              <a:rPr lang="fr-FR" altLang="fr-FR" sz="1500" dirty="0">
                <a:solidFill>
                  <a:schemeClr val="tx1">
                    <a:lumMod val="65000"/>
                    <a:lumOff val="35000"/>
                  </a:schemeClr>
                </a:solidFill>
                <a:latin typeface="Aptos" panose="020B0004020202020204" pitchFamily="34" charset="0"/>
              </a:rPr>
              <a:t>pour harmoniser les pratiques data.</a:t>
            </a:r>
          </a:p>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sz="1500" b="1" dirty="0">
                <a:solidFill>
                  <a:schemeClr val="tx1">
                    <a:lumMod val="65000"/>
                    <a:lumOff val="35000"/>
                  </a:schemeClr>
                </a:solidFill>
                <a:latin typeface="Aptos" panose="020B0004020202020204" pitchFamily="34" charset="0"/>
              </a:rPr>
              <a:t>Créer un Centre d’Excellence data </a:t>
            </a:r>
            <a:r>
              <a:rPr lang="fr-FR" altLang="fr-FR" sz="1500" dirty="0">
                <a:solidFill>
                  <a:schemeClr val="tx1">
                    <a:lumMod val="65000"/>
                    <a:lumOff val="35000"/>
                  </a:schemeClr>
                </a:solidFill>
                <a:latin typeface="Aptos" panose="020B0004020202020204" pitchFamily="34" charset="0"/>
              </a:rPr>
              <a:t>pour structurer méthodes et outils.</a:t>
            </a:r>
          </a:p>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sz="1500" b="1" dirty="0">
                <a:solidFill>
                  <a:schemeClr val="tx1">
                    <a:lumMod val="65000"/>
                    <a:lumOff val="35000"/>
                  </a:schemeClr>
                </a:solidFill>
                <a:latin typeface="Aptos" panose="020B0004020202020204" pitchFamily="34" charset="0"/>
              </a:rPr>
              <a:t>Tester le modèle</a:t>
            </a:r>
            <a:r>
              <a:rPr lang="fr-FR" altLang="fr-FR" sz="1500" dirty="0">
                <a:solidFill>
                  <a:schemeClr val="tx1">
                    <a:lumMod val="65000"/>
                    <a:lumOff val="35000"/>
                  </a:schemeClr>
                </a:solidFill>
                <a:latin typeface="Aptos" panose="020B0004020202020204" pitchFamily="34" charset="0"/>
              </a:rPr>
              <a:t> </a:t>
            </a:r>
            <a:r>
              <a:rPr lang="fr-FR" altLang="fr-FR" sz="1500" b="1" dirty="0">
                <a:solidFill>
                  <a:schemeClr val="tx1">
                    <a:lumMod val="65000"/>
                    <a:lumOff val="35000"/>
                  </a:schemeClr>
                </a:solidFill>
                <a:latin typeface="Aptos" panose="020B0004020202020204" pitchFamily="34" charset="0"/>
              </a:rPr>
              <a:t>sur des périmètres clés </a:t>
            </a:r>
            <a:r>
              <a:rPr lang="fr-FR" altLang="fr-FR" sz="1500" dirty="0">
                <a:solidFill>
                  <a:schemeClr val="tx1">
                    <a:lumMod val="65000"/>
                    <a:lumOff val="35000"/>
                  </a:schemeClr>
                </a:solidFill>
                <a:latin typeface="Aptos" panose="020B0004020202020204" pitchFamily="34" charset="0"/>
              </a:rPr>
              <a:t>avant généralisation.</a:t>
            </a:r>
          </a:p>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sz="1500" b="1" dirty="0">
                <a:solidFill>
                  <a:schemeClr val="tx1">
                    <a:lumMod val="65000"/>
                    <a:lumOff val="35000"/>
                  </a:schemeClr>
                </a:solidFill>
                <a:latin typeface="Aptos" panose="020B0004020202020204" pitchFamily="34" charset="0"/>
              </a:rPr>
              <a:t>Déployer et piloter </a:t>
            </a:r>
            <a:r>
              <a:rPr lang="fr-FR" altLang="fr-FR" sz="1500" dirty="0">
                <a:solidFill>
                  <a:schemeClr val="tx1">
                    <a:lumMod val="65000"/>
                    <a:lumOff val="35000"/>
                  </a:schemeClr>
                </a:solidFill>
                <a:latin typeface="Aptos" panose="020B0004020202020204" pitchFamily="34" charset="0"/>
              </a:rPr>
              <a:t>dans la durée pour assurer l’adoption.</a:t>
            </a:r>
          </a:p>
        </p:txBody>
      </p:sp>
    </p:spTree>
    <p:extLst>
      <p:ext uri="{BB962C8B-B14F-4D97-AF65-F5344CB8AC3E}">
        <p14:creationId xmlns:p14="http://schemas.microsoft.com/office/powerpoint/2010/main" val="11418166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102"/>
        <p:cNvGrpSpPr/>
        <p:nvPr/>
      </p:nvGrpSpPr>
      <p:grpSpPr>
        <a:xfrm>
          <a:off x="0" y="0"/>
          <a:ext cx="0" cy="0"/>
          <a:chOff x="0" y="0"/>
          <a:chExt cx="0" cy="0"/>
        </a:xfrm>
      </p:grpSpPr>
      <p:pic>
        <p:nvPicPr>
          <p:cNvPr id="5" name="Google Shape;56;p13">
            <a:extLst>
              <a:ext uri="{FF2B5EF4-FFF2-40B4-BE49-F238E27FC236}">
                <a16:creationId xmlns:a16="http://schemas.microsoft.com/office/drawing/2014/main" id="{CBC21C7B-992C-ECA4-CA06-6A9AAECFDD59}"/>
              </a:ext>
            </a:extLst>
          </p:cNvPr>
          <p:cNvPicPr preferRelativeResize="0"/>
          <p:nvPr/>
        </p:nvPicPr>
        <p:blipFill>
          <a:blip r:embed="rId3">
            <a:alphaModFix/>
          </a:blip>
          <a:stretch>
            <a:fillRect/>
          </a:stretch>
        </p:blipFill>
        <p:spPr>
          <a:xfrm>
            <a:off x="76200" y="90544"/>
            <a:ext cx="973275" cy="651050"/>
          </a:xfrm>
          <a:prstGeom prst="rect">
            <a:avLst/>
          </a:prstGeom>
          <a:noFill/>
          <a:ln>
            <a:noFill/>
          </a:ln>
        </p:spPr>
      </p:pic>
      <p:sp>
        <p:nvSpPr>
          <p:cNvPr id="3" name="ZoneTexte 2">
            <a:extLst>
              <a:ext uri="{FF2B5EF4-FFF2-40B4-BE49-F238E27FC236}">
                <a16:creationId xmlns:a16="http://schemas.microsoft.com/office/drawing/2014/main" id="{552B6A39-7007-534C-18A0-C9FEDD7CE6E6}"/>
              </a:ext>
            </a:extLst>
          </p:cNvPr>
          <p:cNvSpPr txBox="1"/>
          <p:nvPr/>
        </p:nvSpPr>
        <p:spPr>
          <a:xfrm>
            <a:off x="1120487" y="0"/>
            <a:ext cx="7670221" cy="400110"/>
          </a:xfrm>
          <a:prstGeom prst="rect">
            <a:avLst/>
          </a:prstGeom>
          <a:noFill/>
        </p:spPr>
        <p:txBody>
          <a:bodyPr wrap="square">
            <a:spAutoFit/>
          </a:bodyPr>
          <a:lstStyle/>
          <a:p>
            <a:pPr>
              <a:buClr>
                <a:schemeClr val="dk1"/>
              </a:buClr>
              <a:buSzPts val="2800"/>
            </a:pPr>
            <a:r>
              <a:rPr lang="fr-FR" sz="2000" dirty="0">
                <a:solidFill>
                  <a:schemeClr val="tx1">
                    <a:lumMod val="65000"/>
                    <a:lumOff val="35000"/>
                  </a:schemeClr>
                </a:solidFill>
                <a:latin typeface="Aptos" panose="020B0004020202020204" pitchFamily="34" charset="0"/>
                <a:ea typeface="Inter"/>
                <a:sym typeface="Inter"/>
              </a:rPr>
              <a:t>Partie 2 - </a:t>
            </a:r>
            <a:r>
              <a:rPr lang="fr-FR" sz="2000" dirty="0">
                <a:solidFill>
                  <a:schemeClr val="tx1">
                    <a:lumMod val="65000"/>
                    <a:lumOff val="35000"/>
                  </a:schemeClr>
                </a:solidFill>
                <a:latin typeface="Aptos" panose="020B0004020202020204" pitchFamily="34" charset="0"/>
              </a:rPr>
              <a:t>Mise en place du modèle cible </a:t>
            </a:r>
            <a:r>
              <a:rPr lang="fr-FR" sz="2000" dirty="0">
                <a:solidFill>
                  <a:schemeClr val="tx1">
                    <a:lumMod val="65000"/>
                    <a:lumOff val="35000"/>
                  </a:schemeClr>
                </a:solidFill>
                <a:latin typeface="Aptos" panose="020B0004020202020204" pitchFamily="34" charset="0"/>
                <a:ea typeface="Inter"/>
              </a:rPr>
              <a:t>: </a:t>
            </a:r>
            <a:r>
              <a:rPr lang="fr-FR" sz="2000" b="1" dirty="0">
                <a:solidFill>
                  <a:schemeClr val="tx1">
                    <a:lumMod val="65000"/>
                    <a:lumOff val="35000"/>
                  </a:schemeClr>
                </a:solidFill>
                <a:latin typeface="Aptos" panose="020B0004020202020204" pitchFamily="34" charset="0"/>
                <a:ea typeface="Inter"/>
              </a:rPr>
              <a:t>Organigramme préconisé</a:t>
            </a:r>
            <a:endParaRPr lang="fr-FR" sz="2000" b="1" dirty="0">
              <a:solidFill>
                <a:schemeClr val="tx1">
                  <a:lumMod val="65000"/>
                  <a:lumOff val="35000"/>
                </a:schemeClr>
              </a:solidFill>
              <a:latin typeface="Aptos" panose="020B0004020202020204" pitchFamily="34" charset="0"/>
              <a:ea typeface="Inter"/>
              <a:sym typeface="Inter"/>
            </a:endParaRPr>
          </a:p>
        </p:txBody>
      </p:sp>
      <p:pic>
        <p:nvPicPr>
          <p:cNvPr id="73" name="Image 72">
            <a:extLst>
              <a:ext uri="{FF2B5EF4-FFF2-40B4-BE49-F238E27FC236}">
                <a16:creationId xmlns:a16="http://schemas.microsoft.com/office/drawing/2014/main" id="{266C7A8B-4CC1-61E8-1872-7238384D406E}"/>
              </a:ext>
            </a:extLst>
          </p:cNvPr>
          <p:cNvPicPr>
            <a:picLocks noChangeAspect="1"/>
          </p:cNvPicPr>
          <p:nvPr/>
        </p:nvPicPr>
        <p:blipFill>
          <a:blip r:embed="rId4"/>
          <a:stretch>
            <a:fillRect/>
          </a:stretch>
        </p:blipFill>
        <p:spPr>
          <a:xfrm>
            <a:off x="1049475" y="626997"/>
            <a:ext cx="6198957" cy="4343321"/>
          </a:xfrm>
          <a:prstGeom prst="rect">
            <a:avLst/>
          </a:prstGeom>
        </p:spPr>
      </p:pic>
      <p:sp>
        <p:nvSpPr>
          <p:cNvPr id="4" name="ZoneTexte 3">
            <a:extLst>
              <a:ext uri="{FF2B5EF4-FFF2-40B4-BE49-F238E27FC236}">
                <a16:creationId xmlns:a16="http://schemas.microsoft.com/office/drawing/2014/main" id="{4208964F-1899-DED3-922C-A04E6E48F350}"/>
              </a:ext>
            </a:extLst>
          </p:cNvPr>
          <p:cNvSpPr txBox="1"/>
          <p:nvPr/>
        </p:nvSpPr>
        <p:spPr>
          <a:xfrm>
            <a:off x="7402181" y="4638193"/>
            <a:ext cx="1954603" cy="400110"/>
          </a:xfrm>
          <a:prstGeom prst="rect">
            <a:avLst/>
          </a:prstGeom>
          <a:noFill/>
        </p:spPr>
        <p:txBody>
          <a:bodyPr wrap="square" rtlCol="0">
            <a:spAutoFit/>
          </a:bodyPr>
          <a:lstStyle/>
          <a:p>
            <a:pPr marL="285750" indent="-285750">
              <a:buFont typeface="Wingdings" panose="05000000000000000000" pitchFamily="2" charset="2"/>
              <a:buChar char="ü"/>
            </a:pPr>
            <a:r>
              <a:rPr lang="fr-FR" sz="1000" dirty="0">
                <a:solidFill>
                  <a:schemeClr val="tx1">
                    <a:lumMod val="65000"/>
                    <a:lumOff val="35000"/>
                  </a:schemeClr>
                </a:solidFill>
                <a:latin typeface="Aptos" panose="020B0004020202020204" pitchFamily="34" charset="0"/>
                <a:ea typeface="Inter"/>
                <a:hlinkClick r:id="rId5"/>
              </a:rPr>
              <a:t>Lien vers la Politique détaillée</a:t>
            </a:r>
            <a:endParaRPr lang="fr-FR" sz="1000" dirty="0">
              <a:solidFill>
                <a:schemeClr val="tx1">
                  <a:lumMod val="65000"/>
                  <a:lumOff val="35000"/>
                </a:schemeClr>
              </a:solidFill>
              <a:latin typeface="Aptos" panose="020B0004020202020204" pitchFamily="34" charset="0"/>
              <a:ea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102"/>
        <p:cNvGrpSpPr/>
        <p:nvPr/>
      </p:nvGrpSpPr>
      <p:grpSpPr>
        <a:xfrm>
          <a:off x="0" y="0"/>
          <a:ext cx="0" cy="0"/>
          <a:chOff x="0" y="0"/>
          <a:chExt cx="0" cy="0"/>
        </a:xfrm>
      </p:grpSpPr>
      <p:pic>
        <p:nvPicPr>
          <p:cNvPr id="5" name="Google Shape;56;p13">
            <a:extLst>
              <a:ext uri="{FF2B5EF4-FFF2-40B4-BE49-F238E27FC236}">
                <a16:creationId xmlns:a16="http://schemas.microsoft.com/office/drawing/2014/main" id="{CBC21C7B-992C-ECA4-CA06-6A9AAECFDD59}"/>
              </a:ext>
            </a:extLst>
          </p:cNvPr>
          <p:cNvPicPr preferRelativeResize="0"/>
          <p:nvPr/>
        </p:nvPicPr>
        <p:blipFill>
          <a:blip r:embed="rId3">
            <a:alphaModFix/>
          </a:blip>
          <a:stretch>
            <a:fillRect/>
          </a:stretch>
        </p:blipFill>
        <p:spPr>
          <a:xfrm>
            <a:off x="76200" y="90544"/>
            <a:ext cx="973275" cy="651050"/>
          </a:xfrm>
          <a:prstGeom prst="rect">
            <a:avLst/>
          </a:prstGeom>
          <a:noFill/>
          <a:ln>
            <a:noFill/>
          </a:ln>
        </p:spPr>
      </p:pic>
      <p:sp>
        <p:nvSpPr>
          <p:cNvPr id="3" name="ZoneTexte 2">
            <a:extLst>
              <a:ext uri="{FF2B5EF4-FFF2-40B4-BE49-F238E27FC236}">
                <a16:creationId xmlns:a16="http://schemas.microsoft.com/office/drawing/2014/main" id="{552B6A39-7007-534C-18A0-C9FEDD7CE6E6}"/>
              </a:ext>
            </a:extLst>
          </p:cNvPr>
          <p:cNvSpPr txBox="1"/>
          <p:nvPr/>
        </p:nvSpPr>
        <p:spPr>
          <a:xfrm>
            <a:off x="1120487" y="0"/>
            <a:ext cx="7670221"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Arial"/>
              <a:buNone/>
              <a:tabLst/>
              <a:defRPr/>
            </a:pPr>
            <a:r>
              <a:rPr kumimoji="0" lang="fr-FR" sz="2000" b="0" i="0" u="none" strike="noStrike" kern="0" cap="none" spc="0" normalizeH="0" baseline="0" noProof="0" dirty="0">
                <a:ln>
                  <a:noFill/>
                </a:ln>
                <a:solidFill>
                  <a:srgbClr val="000000">
                    <a:lumMod val="65000"/>
                    <a:lumOff val="35000"/>
                  </a:srgbClr>
                </a:solidFill>
                <a:effectLst/>
                <a:uLnTx/>
                <a:uFillTx/>
                <a:latin typeface="Aptos" panose="020B0004020202020204" pitchFamily="34" charset="0"/>
                <a:ea typeface="Inter"/>
                <a:cs typeface="Arial"/>
                <a:sym typeface="Inter"/>
              </a:rPr>
              <a:t>Partie </a:t>
            </a:r>
            <a:r>
              <a:rPr lang="fr-FR" sz="2000" dirty="0">
                <a:solidFill>
                  <a:srgbClr val="000000">
                    <a:lumMod val="65000"/>
                    <a:lumOff val="35000"/>
                  </a:srgbClr>
                </a:solidFill>
                <a:latin typeface="Aptos" panose="020B0004020202020204" pitchFamily="34" charset="0"/>
                <a:ea typeface="Inter"/>
                <a:sym typeface="Inter"/>
              </a:rPr>
              <a:t>3</a:t>
            </a:r>
            <a:r>
              <a:rPr kumimoji="0" lang="fr-FR" sz="2000" b="0" i="0" u="none" strike="noStrike" kern="0" cap="none" spc="0" normalizeH="0" baseline="0" noProof="0" dirty="0">
                <a:ln>
                  <a:noFill/>
                </a:ln>
                <a:solidFill>
                  <a:srgbClr val="000000">
                    <a:lumMod val="65000"/>
                    <a:lumOff val="35000"/>
                  </a:srgbClr>
                </a:solidFill>
                <a:effectLst/>
                <a:uLnTx/>
                <a:uFillTx/>
                <a:latin typeface="Aptos" panose="020B0004020202020204" pitchFamily="34" charset="0"/>
                <a:ea typeface="Inter"/>
                <a:cs typeface="Arial"/>
                <a:sym typeface="Inter"/>
              </a:rPr>
              <a:t> - </a:t>
            </a:r>
            <a:r>
              <a:rPr lang="fr-FR" sz="2000" dirty="0">
                <a:solidFill>
                  <a:schemeClr val="tx1">
                    <a:lumMod val="65000"/>
                    <a:lumOff val="35000"/>
                  </a:schemeClr>
                </a:solidFill>
                <a:latin typeface="Aptos" panose="020B0004020202020204" pitchFamily="34" charset="0"/>
              </a:rPr>
              <a:t>Déploiement &amp; pilotage </a:t>
            </a:r>
            <a:r>
              <a:rPr kumimoji="0" lang="fr-FR" sz="2000" b="0" i="0" u="none" strike="noStrike" kern="0" cap="none" spc="0" normalizeH="0" baseline="0" noProof="0" dirty="0">
                <a:ln>
                  <a:noFill/>
                </a:ln>
                <a:solidFill>
                  <a:srgbClr val="000000">
                    <a:lumMod val="65000"/>
                    <a:lumOff val="35000"/>
                  </a:srgbClr>
                </a:solidFill>
                <a:effectLst/>
                <a:uLnTx/>
                <a:uFillTx/>
                <a:latin typeface="Aptos" panose="020B0004020202020204" pitchFamily="34" charset="0"/>
                <a:cs typeface="Arial"/>
                <a:sym typeface="Arial"/>
              </a:rPr>
              <a:t> </a:t>
            </a:r>
            <a:r>
              <a:rPr kumimoji="0" lang="fr-FR" sz="2000" b="0" i="0" u="none" strike="noStrike" kern="0" cap="none" spc="0" normalizeH="0" baseline="0" noProof="0" dirty="0">
                <a:ln>
                  <a:noFill/>
                </a:ln>
                <a:solidFill>
                  <a:srgbClr val="000000">
                    <a:lumMod val="65000"/>
                    <a:lumOff val="35000"/>
                  </a:srgbClr>
                </a:solidFill>
                <a:effectLst/>
                <a:uLnTx/>
                <a:uFillTx/>
                <a:latin typeface="Aptos" panose="020B0004020202020204" pitchFamily="34" charset="0"/>
                <a:ea typeface="Inter"/>
                <a:cs typeface="Arial"/>
                <a:sym typeface="Arial"/>
              </a:rPr>
              <a:t>: </a:t>
            </a:r>
            <a:r>
              <a:rPr kumimoji="0" lang="fr-FR" sz="2000" b="1" i="0" u="none" strike="noStrike" kern="0" cap="none" spc="0" normalizeH="0" baseline="0" noProof="0" dirty="0">
                <a:ln>
                  <a:noFill/>
                </a:ln>
                <a:solidFill>
                  <a:srgbClr val="000000">
                    <a:lumMod val="65000"/>
                    <a:lumOff val="35000"/>
                  </a:srgbClr>
                </a:solidFill>
                <a:effectLst/>
                <a:uLnTx/>
                <a:uFillTx/>
                <a:latin typeface="Aptos" panose="020B0004020202020204" pitchFamily="34" charset="0"/>
                <a:ea typeface="Inter"/>
                <a:cs typeface="Arial"/>
                <a:sym typeface="Arial"/>
              </a:rPr>
              <a:t>Les enjeux du déploiement</a:t>
            </a:r>
            <a:endParaRPr kumimoji="0" lang="fr-FR" sz="2000" b="1" i="0" u="none" strike="noStrike" kern="0" cap="none" spc="0" normalizeH="0" baseline="0" noProof="0" dirty="0">
              <a:ln>
                <a:noFill/>
              </a:ln>
              <a:solidFill>
                <a:srgbClr val="000000">
                  <a:lumMod val="65000"/>
                  <a:lumOff val="35000"/>
                </a:srgbClr>
              </a:solidFill>
              <a:effectLst/>
              <a:uLnTx/>
              <a:uFillTx/>
              <a:latin typeface="Aptos" panose="020B0004020202020204" pitchFamily="34" charset="0"/>
              <a:ea typeface="Inter"/>
              <a:cs typeface="Arial"/>
              <a:sym typeface="Inter"/>
            </a:endParaRPr>
          </a:p>
        </p:txBody>
      </p:sp>
      <p:pic>
        <p:nvPicPr>
          <p:cNvPr id="4" name="Image 3" descr="Une image contenant texte, capture d’écran, logo, cercle&#10;&#10;Le contenu généré par l’IA peut être incorrect.">
            <a:extLst>
              <a:ext uri="{FF2B5EF4-FFF2-40B4-BE49-F238E27FC236}">
                <a16:creationId xmlns:a16="http://schemas.microsoft.com/office/drawing/2014/main" id="{D8A5CFA0-FF45-AE0D-EF4D-7853A368D7E9}"/>
              </a:ext>
            </a:extLst>
          </p:cNvPr>
          <p:cNvPicPr>
            <a:picLocks noChangeAspect="1"/>
          </p:cNvPicPr>
          <p:nvPr/>
        </p:nvPicPr>
        <p:blipFill>
          <a:blip r:embed="rId4"/>
          <a:stretch>
            <a:fillRect/>
          </a:stretch>
        </p:blipFill>
        <p:spPr>
          <a:xfrm>
            <a:off x="161416" y="1107612"/>
            <a:ext cx="3204446" cy="3295121"/>
          </a:xfrm>
          <a:prstGeom prst="rect">
            <a:avLst/>
          </a:prstGeom>
        </p:spPr>
      </p:pic>
      <p:sp>
        <p:nvSpPr>
          <p:cNvPr id="6" name="Rectangle 2">
            <a:extLst>
              <a:ext uri="{FF2B5EF4-FFF2-40B4-BE49-F238E27FC236}">
                <a16:creationId xmlns:a16="http://schemas.microsoft.com/office/drawing/2014/main" id="{2BB535E2-7B9A-84D6-2357-AFCAA0F89625}"/>
              </a:ext>
            </a:extLst>
          </p:cNvPr>
          <p:cNvSpPr>
            <a:spLocks noChangeArrowheads="1"/>
          </p:cNvSpPr>
          <p:nvPr/>
        </p:nvSpPr>
        <p:spPr bwMode="auto">
          <a:xfrm>
            <a:off x="3985703" y="1208595"/>
            <a:ext cx="4708340" cy="3093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sz="1500" dirty="0">
                <a:solidFill>
                  <a:schemeClr val="tx1">
                    <a:lumMod val="65000"/>
                    <a:lumOff val="35000"/>
                  </a:schemeClr>
                </a:solidFill>
                <a:latin typeface="Aptos" panose="020B0004020202020204" pitchFamily="34" charset="0"/>
              </a:rPr>
              <a:t>Clarifier les rôles et responsabilités dès le lancement.</a:t>
            </a:r>
          </a:p>
          <a:p>
            <a:pPr marL="0" marR="0" lvl="0" indent="0" algn="l" defTabSz="914400" rtl="0" eaLnBrk="0" fontAlgn="base" latinLnBrk="0" hangingPunct="0">
              <a:lnSpc>
                <a:spcPct val="100000"/>
              </a:lnSpc>
              <a:spcBef>
                <a:spcPct val="0"/>
              </a:spcBef>
              <a:spcAft>
                <a:spcPct val="0"/>
              </a:spcAft>
              <a:buClrTx/>
              <a:buSzTx/>
              <a:tabLst/>
            </a:pPr>
            <a:endParaRPr lang="fr-FR" altLang="fr-FR" sz="1500" dirty="0">
              <a:solidFill>
                <a:schemeClr val="tx1">
                  <a:lumMod val="65000"/>
                  <a:lumOff val="35000"/>
                </a:schemeClr>
              </a:solidFill>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sz="1500" dirty="0">
                <a:solidFill>
                  <a:schemeClr val="tx1">
                    <a:lumMod val="65000"/>
                    <a:lumOff val="35000"/>
                  </a:schemeClr>
                </a:solidFill>
                <a:latin typeface="Aptos" panose="020B0004020202020204" pitchFamily="34" charset="0"/>
              </a:rPr>
              <a:t>Assurer l’adhésion des équipes métiers et locales.</a:t>
            </a:r>
          </a:p>
          <a:p>
            <a:pPr marL="0" marR="0" lvl="0" indent="0" algn="l" defTabSz="914400" rtl="0" eaLnBrk="0" fontAlgn="base" latinLnBrk="0" hangingPunct="0">
              <a:lnSpc>
                <a:spcPct val="100000"/>
              </a:lnSpc>
              <a:spcBef>
                <a:spcPct val="0"/>
              </a:spcBef>
              <a:spcAft>
                <a:spcPct val="0"/>
              </a:spcAft>
              <a:buClrTx/>
              <a:buSzTx/>
              <a:buFontTx/>
              <a:buChar char="•"/>
              <a:tabLst/>
            </a:pPr>
            <a:endParaRPr lang="fr-FR" altLang="fr-FR" sz="1500" dirty="0">
              <a:solidFill>
                <a:schemeClr val="tx1">
                  <a:lumMod val="65000"/>
                  <a:lumOff val="35000"/>
                </a:schemeClr>
              </a:solidFill>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sz="1500" dirty="0">
                <a:solidFill>
                  <a:schemeClr val="tx1">
                    <a:lumMod val="65000"/>
                    <a:lumOff val="35000"/>
                  </a:schemeClr>
                </a:solidFill>
                <a:latin typeface="Aptos" panose="020B0004020202020204" pitchFamily="34" charset="0"/>
              </a:rPr>
              <a:t>Standardiser sans nuire à l’agilité produit.</a:t>
            </a:r>
          </a:p>
          <a:p>
            <a:pPr marL="0" marR="0" lvl="0" indent="0" algn="l" defTabSz="914400" rtl="0" eaLnBrk="0" fontAlgn="base" latinLnBrk="0" hangingPunct="0">
              <a:lnSpc>
                <a:spcPct val="100000"/>
              </a:lnSpc>
              <a:spcBef>
                <a:spcPct val="0"/>
              </a:spcBef>
              <a:spcAft>
                <a:spcPct val="0"/>
              </a:spcAft>
              <a:buClrTx/>
              <a:buSzTx/>
              <a:buFontTx/>
              <a:buChar char="•"/>
              <a:tabLst/>
            </a:pPr>
            <a:endParaRPr lang="fr-FR" altLang="fr-FR" sz="1500" dirty="0">
              <a:solidFill>
                <a:schemeClr val="tx1">
                  <a:lumMod val="65000"/>
                  <a:lumOff val="35000"/>
                </a:schemeClr>
              </a:solidFill>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sz="1500" dirty="0">
                <a:solidFill>
                  <a:schemeClr val="tx1">
                    <a:lumMod val="65000"/>
                    <a:lumOff val="35000"/>
                  </a:schemeClr>
                </a:solidFill>
                <a:latin typeface="Aptos" panose="020B0004020202020204" pitchFamily="34" charset="0"/>
              </a:rPr>
              <a:t>Éviter une centralisation excessive du </a:t>
            </a:r>
            <a:r>
              <a:rPr lang="fr-FR" altLang="fr-FR" sz="1500" dirty="0" err="1">
                <a:solidFill>
                  <a:schemeClr val="tx1">
                    <a:lumMod val="65000"/>
                    <a:lumOff val="35000"/>
                  </a:schemeClr>
                </a:solidFill>
                <a:latin typeface="Aptos" panose="020B0004020202020204" pitchFamily="34" charset="0"/>
              </a:rPr>
              <a:t>CoE</a:t>
            </a:r>
            <a:r>
              <a:rPr lang="fr-FR" altLang="fr-FR" sz="1500" dirty="0">
                <a:solidFill>
                  <a:schemeClr val="tx1">
                    <a:lumMod val="65000"/>
                    <a:lumOff val="35000"/>
                  </a:schemeClr>
                </a:solidFill>
                <a:latin typeface="Aptos" panose="020B00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lang="fr-FR" altLang="fr-FR" sz="1500" dirty="0">
              <a:solidFill>
                <a:schemeClr val="tx1">
                  <a:lumMod val="65000"/>
                  <a:lumOff val="35000"/>
                </a:schemeClr>
              </a:solidFill>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sz="1500" dirty="0">
                <a:solidFill>
                  <a:schemeClr val="tx1">
                    <a:lumMod val="65000"/>
                    <a:lumOff val="35000"/>
                  </a:schemeClr>
                </a:solidFill>
                <a:latin typeface="Aptos" panose="020B0004020202020204" pitchFamily="34" charset="0"/>
              </a:rPr>
              <a:t>Démontrer rapidement la valeur business.</a:t>
            </a:r>
          </a:p>
          <a:p>
            <a:pPr marL="0" marR="0" lvl="0" indent="0" algn="l" defTabSz="914400" rtl="0" eaLnBrk="0" fontAlgn="base" latinLnBrk="0" hangingPunct="0">
              <a:lnSpc>
                <a:spcPct val="100000"/>
              </a:lnSpc>
              <a:spcBef>
                <a:spcPct val="0"/>
              </a:spcBef>
              <a:spcAft>
                <a:spcPct val="0"/>
              </a:spcAft>
              <a:buClrTx/>
              <a:buSzTx/>
              <a:buFontTx/>
              <a:buChar char="•"/>
              <a:tabLst/>
            </a:pPr>
            <a:endParaRPr lang="fr-FR" altLang="fr-FR" sz="1500" dirty="0">
              <a:solidFill>
                <a:schemeClr val="tx1">
                  <a:lumMod val="65000"/>
                  <a:lumOff val="35000"/>
                </a:schemeClr>
              </a:solidFill>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sz="1500" dirty="0">
                <a:solidFill>
                  <a:schemeClr val="tx1">
                    <a:lumMod val="65000"/>
                    <a:lumOff val="35000"/>
                  </a:schemeClr>
                </a:solidFill>
                <a:latin typeface="Aptos" panose="020B0004020202020204" pitchFamily="34" charset="0"/>
              </a:rPr>
              <a:t>Intégrer les contraintes réglementaires et régionales.</a:t>
            </a:r>
          </a:p>
          <a:p>
            <a:pPr marL="0" marR="0" lvl="0" indent="0" algn="l" defTabSz="914400" rtl="0" eaLnBrk="0" fontAlgn="base" latinLnBrk="0" hangingPunct="0">
              <a:lnSpc>
                <a:spcPct val="100000"/>
              </a:lnSpc>
              <a:spcBef>
                <a:spcPct val="0"/>
              </a:spcBef>
              <a:spcAft>
                <a:spcPct val="0"/>
              </a:spcAft>
              <a:buClrTx/>
              <a:buSzTx/>
              <a:buFontTx/>
              <a:buChar char="•"/>
              <a:tabLst/>
            </a:pPr>
            <a:endParaRPr lang="fr-FR" altLang="fr-FR" sz="1500" dirty="0">
              <a:solidFill>
                <a:schemeClr val="tx1">
                  <a:lumMod val="65000"/>
                  <a:lumOff val="35000"/>
                </a:schemeClr>
              </a:solidFill>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sz="1500" dirty="0">
                <a:solidFill>
                  <a:schemeClr val="tx1">
                    <a:lumMod val="65000"/>
                    <a:lumOff val="35000"/>
                  </a:schemeClr>
                </a:solidFill>
                <a:latin typeface="Aptos" panose="020B0004020202020204" pitchFamily="34" charset="0"/>
              </a:rPr>
              <a:t>Piloter la performance du </a:t>
            </a:r>
            <a:r>
              <a:rPr lang="fr-FR" altLang="fr-FR" sz="1500" dirty="0" err="1">
                <a:solidFill>
                  <a:schemeClr val="tx1">
                    <a:lumMod val="65000"/>
                    <a:lumOff val="35000"/>
                  </a:schemeClr>
                </a:solidFill>
                <a:latin typeface="Aptos" panose="020B0004020202020204" pitchFamily="34" charset="0"/>
              </a:rPr>
              <a:t>CoE</a:t>
            </a:r>
            <a:r>
              <a:rPr lang="fr-FR" altLang="fr-FR" sz="1500" dirty="0">
                <a:solidFill>
                  <a:schemeClr val="tx1">
                    <a:lumMod val="65000"/>
                    <a:lumOff val="35000"/>
                  </a:schemeClr>
                </a:solidFill>
                <a:latin typeface="Aptos" panose="020B0004020202020204" pitchFamily="34" charset="0"/>
              </a:rPr>
              <a:t> dans la durée.</a:t>
            </a:r>
          </a:p>
        </p:txBody>
      </p:sp>
    </p:spTree>
    <p:extLst>
      <p:ext uri="{BB962C8B-B14F-4D97-AF65-F5344CB8AC3E}">
        <p14:creationId xmlns:p14="http://schemas.microsoft.com/office/powerpoint/2010/main" val="28782299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102"/>
        <p:cNvGrpSpPr/>
        <p:nvPr/>
      </p:nvGrpSpPr>
      <p:grpSpPr>
        <a:xfrm>
          <a:off x="0" y="0"/>
          <a:ext cx="0" cy="0"/>
          <a:chOff x="0" y="0"/>
          <a:chExt cx="0" cy="0"/>
        </a:xfrm>
      </p:grpSpPr>
      <p:pic>
        <p:nvPicPr>
          <p:cNvPr id="5" name="Google Shape;56;p13">
            <a:extLst>
              <a:ext uri="{FF2B5EF4-FFF2-40B4-BE49-F238E27FC236}">
                <a16:creationId xmlns:a16="http://schemas.microsoft.com/office/drawing/2014/main" id="{CBC21C7B-992C-ECA4-CA06-6A9AAECFDD59}"/>
              </a:ext>
            </a:extLst>
          </p:cNvPr>
          <p:cNvPicPr preferRelativeResize="0"/>
          <p:nvPr/>
        </p:nvPicPr>
        <p:blipFill>
          <a:blip r:embed="rId3">
            <a:alphaModFix/>
          </a:blip>
          <a:stretch>
            <a:fillRect/>
          </a:stretch>
        </p:blipFill>
        <p:spPr>
          <a:xfrm>
            <a:off x="76200" y="90544"/>
            <a:ext cx="973275" cy="651050"/>
          </a:xfrm>
          <a:prstGeom prst="rect">
            <a:avLst/>
          </a:prstGeom>
          <a:noFill/>
          <a:ln>
            <a:noFill/>
          </a:ln>
        </p:spPr>
      </p:pic>
      <p:sp>
        <p:nvSpPr>
          <p:cNvPr id="2" name="ZoneTexte 1">
            <a:extLst>
              <a:ext uri="{FF2B5EF4-FFF2-40B4-BE49-F238E27FC236}">
                <a16:creationId xmlns:a16="http://schemas.microsoft.com/office/drawing/2014/main" id="{DCC3FBC5-F656-A8E3-7E6B-DF69C4288F65}"/>
              </a:ext>
            </a:extLst>
          </p:cNvPr>
          <p:cNvSpPr txBox="1"/>
          <p:nvPr/>
        </p:nvSpPr>
        <p:spPr>
          <a:xfrm>
            <a:off x="1120487" y="0"/>
            <a:ext cx="7670221"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Arial"/>
              <a:buNone/>
              <a:tabLst/>
              <a:defRPr/>
            </a:pPr>
            <a:r>
              <a:rPr kumimoji="0" lang="fr-FR" sz="2000" b="0" i="0" u="none" strike="noStrike" kern="0" cap="none" spc="0" normalizeH="0" baseline="0" noProof="0" dirty="0">
                <a:ln>
                  <a:noFill/>
                </a:ln>
                <a:solidFill>
                  <a:srgbClr val="000000">
                    <a:lumMod val="65000"/>
                    <a:lumOff val="35000"/>
                  </a:srgbClr>
                </a:solidFill>
                <a:effectLst/>
                <a:uLnTx/>
                <a:uFillTx/>
                <a:latin typeface="Aptos" panose="020B0004020202020204" pitchFamily="34" charset="0"/>
                <a:ea typeface="Inter"/>
                <a:cs typeface="Arial"/>
                <a:sym typeface="Inter"/>
              </a:rPr>
              <a:t>Partie 3 - </a:t>
            </a:r>
            <a:r>
              <a:rPr kumimoji="0" lang="fr-FR" sz="2000" b="0" i="0" u="none" strike="noStrike" kern="0" cap="none" spc="0" normalizeH="0" baseline="0" noProof="0" dirty="0">
                <a:ln>
                  <a:noFill/>
                </a:ln>
                <a:solidFill>
                  <a:srgbClr val="000000">
                    <a:lumMod val="65000"/>
                    <a:lumOff val="35000"/>
                  </a:srgbClr>
                </a:solidFill>
                <a:effectLst/>
                <a:uLnTx/>
                <a:uFillTx/>
                <a:latin typeface="Aptos" panose="020B0004020202020204" pitchFamily="34" charset="0"/>
                <a:cs typeface="Arial"/>
                <a:sym typeface="Arial"/>
              </a:rPr>
              <a:t>Déploiement &amp; pilotage  </a:t>
            </a:r>
            <a:r>
              <a:rPr kumimoji="0" lang="fr-FR" sz="2000" b="0" i="0" u="none" strike="noStrike" kern="0" cap="none" spc="0" normalizeH="0" baseline="0" noProof="0" dirty="0">
                <a:ln>
                  <a:noFill/>
                </a:ln>
                <a:solidFill>
                  <a:srgbClr val="000000">
                    <a:lumMod val="65000"/>
                    <a:lumOff val="35000"/>
                  </a:srgbClr>
                </a:solidFill>
                <a:effectLst/>
                <a:uLnTx/>
                <a:uFillTx/>
                <a:latin typeface="Aptos" panose="020B0004020202020204" pitchFamily="34" charset="0"/>
                <a:ea typeface="Inter"/>
                <a:cs typeface="Arial"/>
                <a:sym typeface="Arial"/>
              </a:rPr>
              <a:t>: </a:t>
            </a:r>
            <a:r>
              <a:rPr kumimoji="0" lang="fr-FR" sz="2000" b="1" i="0" u="none" strike="noStrike" kern="0" cap="none" spc="0" normalizeH="0" baseline="0" noProof="0" dirty="0">
                <a:ln>
                  <a:noFill/>
                </a:ln>
                <a:solidFill>
                  <a:srgbClr val="000000">
                    <a:lumMod val="65000"/>
                    <a:lumOff val="35000"/>
                  </a:srgbClr>
                </a:solidFill>
                <a:effectLst/>
                <a:uLnTx/>
                <a:uFillTx/>
                <a:latin typeface="Aptos" panose="020B0004020202020204" pitchFamily="34" charset="0"/>
                <a:ea typeface="Inter"/>
                <a:cs typeface="Arial"/>
                <a:sym typeface="Arial"/>
              </a:rPr>
              <a:t>Le calendrier du déploiement</a:t>
            </a:r>
            <a:endParaRPr kumimoji="0" lang="fr-FR" sz="2000" b="1" i="0" u="none" strike="noStrike" kern="0" cap="none" spc="0" normalizeH="0" baseline="0" noProof="0" dirty="0">
              <a:ln>
                <a:noFill/>
              </a:ln>
              <a:solidFill>
                <a:srgbClr val="000000">
                  <a:lumMod val="65000"/>
                  <a:lumOff val="35000"/>
                </a:srgbClr>
              </a:solidFill>
              <a:effectLst/>
              <a:uLnTx/>
              <a:uFillTx/>
              <a:latin typeface="Aptos" panose="020B0004020202020204" pitchFamily="34" charset="0"/>
              <a:ea typeface="Inter"/>
              <a:cs typeface="Arial"/>
              <a:sym typeface="Inter"/>
            </a:endParaRPr>
          </a:p>
        </p:txBody>
      </p:sp>
      <p:sp>
        <p:nvSpPr>
          <p:cNvPr id="3" name="Shape 1">
            <a:extLst>
              <a:ext uri="{FF2B5EF4-FFF2-40B4-BE49-F238E27FC236}">
                <a16:creationId xmlns:a16="http://schemas.microsoft.com/office/drawing/2014/main" id="{D23216C7-51B1-9D8D-9801-66313DEEAFB7}"/>
              </a:ext>
            </a:extLst>
          </p:cNvPr>
          <p:cNvSpPr/>
          <p:nvPr/>
        </p:nvSpPr>
        <p:spPr>
          <a:xfrm>
            <a:off x="140801" y="850439"/>
            <a:ext cx="2743200" cy="3840480"/>
          </a:xfrm>
          <a:prstGeom prst="rect">
            <a:avLst/>
          </a:prstGeom>
          <a:solidFill>
            <a:srgbClr val="F8F9FA"/>
          </a:solidFill>
          <a:ln/>
        </p:spPr>
      </p:sp>
      <p:sp>
        <p:nvSpPr>
          <p:cNvPr id="6" name="Shape 2">
            <a:extLst>
              <a:ext uri="{FF2B5EF4-FFF2-40B4-BE49-F238E27FC236}">
                <a16:creationId xmlns:a16="http://schemas.microsoft.com/office/drawing/2014/main" id="{FE113372-C7E9-E072-D979-8F51CEE7EFF0}"/>
              </a:ext>
            </a:extLst>
          </p:cNvPr>
          <p:cNvSpPr/>
          <p:nvPr/>
        </p:nvSpPr>
        <p:spPr>
          <a:xfrm>
            <a:off x="133520" y="852092"/>
            <a:ext cx="2743200" cy="73152"/>
          </a:xfrm>
          <a:prstGeom prst="rect">
            <a:avLst/>
          </a:prstGeom>
          <a:solidFill>
            <a:srgbClr val="10B981"/>
          </a:solidFill>
          <a:ln/>
        </p:spPr>
      </p:sp>
      <p:pic>
        <p:nvPicPr>
          <p:cNvPr id="8" name="Image 0" descr="preencoded.png">
            <a:extLst>
              <a:ext uri="{FF2B5EF4-FFF2-40B4-BE49-F238E27FC236}">
                <a16:creationId xmlns:a16="http://schemas.microsoft.com/office/drawing/2014/main" id="{9C2858BA-EF83-74CF-060A-E2868AA1A4E4}"/>
              </a:ext>
            </a:extLst>
          </p:cNvPr>
          <p:cNvPicPr>
            <a:picLocks noChangeAspect="1"/>
          </p:cNvPicPr>
          <p:nvPr/>
        </p:nvPicPr>
        <p:blipFill>
          <a:blip r:embed="rId4"/>
          <a:stretch>
            <a:fillRect/>
          </a:stretch>
        </p:blipFill>
        <p:spPr>
          <a:xfrm>
            <a:off x="316400" y="1034972"/>
            <a:ext cx="365760" cy="365760"/>
          </a:xfrm>
          <a:prstGeom prst="rect">
            <a:avLst/>
          </a:prstGeom>
        </p:spPr>
      </p:pic>
      <p:sp>
        <p:nvSpPr>
          <p:cNvPr id="10" name="Shape 3">
            <a:extLst>
              <a:ext uri="{FF2B5EF4-FFF2-40B4-BE49-F238E27FC236}">
                <a16:creationId xmlns:a16="http://schemas.microsoft.com/office/drawing/2014/main" id="{E739066B-EAE4-FB13-B5F5-0C4831E76734}"/>
              </a:ext>
            </a:extLst>
          </p:cNvPr>
          <p:cNvSpPr/>
          <p:nvPr/>
        </p:nvSpPr>
        <p:spPr>
          <a:xfrm>
            <a:off x="2328080" y="1034972"/>
            <a:ext cx="365760" cy="365760"/>
          </a:xfrm>
          <a:prstGeom prst="ellipse">
            <a:avLst/>
          </a:prstGeom>
          <a:solidFill>
            <a:srgbClr val="10B981"/>
          </a:solidFill>
          <a:ln/>
        </p:spPr>
      </p:sp>
      <p:sp>
        <p:nvSpPr>
          <p:cNvPr id="11" name="Text 4">
            <a:extLst>
              <a:ext uri="{FF2B5EF4-FFF2-40B4-BE49-F238E27FC236}">
                <a16:creationId xmlns:a16="http://schemas.microsoft.com/office/drawing/2014/main" id="{731ECCAA-0953-0D27-D3AC-933CE1D80B2D}"/>
              </a:ext>
            </a:extLst>
          </p:cNvPr>
          <p:cNvSpPr/>
          <p:nvPr/>
        </p:nvSpPr>
        <p:spPr>
          <a:xfrm>
            <a:off x="2328080" y="1034972"/>
            <a:ext cx="365760" cy="365760"/>
          </a:xfrm>
          <a:prstGeom prst="rect">
            <a:avLst/>
          </a:prstGeom>
          <a:noFill/>
          <a:ln/>
        </p:spPr>
        <p:txBody>
          <a:bodyPr wrap="square" rtlCol="0" anchor="ctr"/>
          <a:lstStyle/>
          <a:p>
            <a:pPr marL="0" indent="0" algn="ctr">
              <a:buNone/>
            </a:pPr>
            <a:r>
              <a:rPr lang="en-US" sz="2000" b="1" dirty="0">
                <a:solidFill>
                  <a:srgbClr val="FFFFFF"/>
                </a:solidFill>
                <a:latin typeface="Aptos "/>
              </a:rPr>
              <a:t>1</a:t>
            </a:r>
            <a:endParaRPr lang="en-US" sz="2000" dirty="0">
              <a:latin typeface="Aptos "/>
            </a:endParaRPr>
          </a:p>
        </p:txBody>
      </p:sp>
      <p:sp>
        <p:nvSpPr>
          <p:cNvPr id="12" name="Text 5">
            <a:extLst>
              <a:ext uri="{FF2B5EF4-FFF2-40B4-BE49-F238E27FC236}">
                <a16:creationId xmlns:a16="http://schemas.microsoft.com/office/drawing/2014/main" id="{0B84A503-A5A5-460D-DA78-E7C7F15CF829}"/>
              </a:ext>
            </a:extLst>
          </p:cNvPr>
          <p:cNvSpPr/>
          <p:nvPr/>
        </p:nvSpPr>
        <p:spPr>
          <a:xfrm>
            <a:off x="316400" y="1560515"/>
            <a:ext cx="2111211" cy="274320"/>
          </a:xfrm>
          <a:prstGeom prst="rect">
            <a:avLst/>
          </a:prstGeom>
          <a:noFill/>
          <a:ln/>
        </p:spPr>
        <p:txBody>
          <a:bodyPr wrap="square" rtlCol="0" anchor="ctr"/>
          <a:lstStyle/>
          <a:p>
            <a:pPr marL="0" indent="0">
              <a:buNone/>
            </a:pPr>
            <a:r>
              <a:rPr lang="en-US" sz="1500" b="1" dirty="0">
                <a:solidFill>
                  <a:srgbClr val="000000">
                    <a:lumMod val="65000"/>
                    <a:lumOff val="35000"/>
                  </a:srgbClr>
                </a:solidFill>
                <a:latin typeface="Aptos" panose="020B0004020202020204" pitchFamily="34" charset="0"/>
                <a:ea typeface="Inter"/>
              </a:rPr>
              <a:t>Fondations &amp; </a:t>
            </a:r>
            <a:r>
              <a:rPr lang="en-US" sz="1500" b="1" dirty="0" err="1">
                <a:solidFill>
                  <a:srgbClr val="000000">
                    <a:lumMod val="65000"/>
                    <a:lumOff val="35000"/>
                  </a:srgbClr>
                </a:solidFill>
                <a:latin typeface="Aptos" panose="020B0004020202020204" pitchFamily="34" charset="0"/>
                <a:ea typeface="Inter"/>
              </a:rPr>
              <a:t>Cadrage</a:t>
            </a:r>
            <a:endParaRPr lang="en-US" sz="1500" b="1" dirty="0">
              <a:solidFill>
                <a:srgbClr val="000000">
                  <a:lumMod val="65000"/>
                  <a:lumOff val="35000"/>
                </a:srgbClr>
              </a:solidFill>
              <a:latin typeface="Aptos" panose="020B0004020202020204" pitchFamily="34" charset="0"/>
              <a:ea typeface="Inter"/>
            </a:endParaRPr>
          </a:p>
        </p:txBody>
      </p:sp>
      <p:sp>
        <p:nvSpPr>
          <p:cNvPr id="13" name="Text 6">
            <a:extLst>
              <a:ext uri="{FF2B5EF4-FFF2-40B4-BE49-F238E27FC236}">
                <a16:creationId xmlns:a16="http://schemas.microsoft.com/office/drawing/2014/main" id="{93DB1A3C-06DD-557A-2CEB-A9E331B016B6}"/>
              </a:ext>
            </a:extLst>
          </p:cNvPr>
          <p:cNvSpPr/>
          <p:nvPr/>
        </p:nvSpPr>
        <p:spPr>
          <a:xfrm>
            <a:off x="316400" y="1812212"/>
            <a:ext cx="2377440" cy="182880"/>
          </a:xfrm>
          <a:prstGeom prst="rect">
            <a:avLst/>
          </a:prstGeom>
          <a:noFill/>
          <a:ln/>
        </p:spPr>
        <p:txBody>
          <a:bodyPr wrap="square" rtlCol="0" anchor="ctr"/>
          <a:lstStyle/>
          <a:p>
            <a:pPr marL="0" indent="0">
              <a:buNone/>
            </a:pPr>
            <a:r>
              <a:rPr lang="en-US" sz="1100" dirty="0" err="1">
                <a:solidFill>
                  <a:srgbClr val="000000">
                    <a:lumMod val="65000"/>
                    <a:lumOff val="35000"/>
                  </a:srgbClr>
                </a:solidFill>
                <a:latin typeface="Aptos" panose="020B0004020202020204" pitchFamily="34" charset="0"/>
              </a:rPr>
              <a:t>Mois</a:t>
            </a:r>
            <a:r>
              <a:rPr lang="en-US" sz="1100" dirty="0">
                <a:solidFill>
                  <a:srgbClr val="000000">
                    <a:lumMod val="65000"/>
                    <a:lumOff val="35000"/>
                  </a:srgbClr>
                </a:solidFill>
                <a:latin typeface="Aptos" panose="020B0004020202020204" pitchFamily="34" charset="0"/>
              </a:rPr>
              <a:t> 0–3</a:t>
            </a:r>
          </a:p>
        </p:txBody>
      </p:sp>
      <p:sp>
        <p:nvSpPr>
          <p:cNvPr id="14" name="Text 7">
            <a:extLst>
              <a:ext uri="{FF2B5EF4-FFF2-40B4-BE49-F238E27FC236}">
                <a16:creationId xmlns:a16="http://schemas.microsoft.com/office/drawing/2014/main" id="{142C5768-0385-3070-1D3E-8A3EBABF7C5A}"/>
              </a:ext>
            </a:extLst>
          </p:cNvPr>
          <p:cNvSpPr/>
          <p:nvPr/>
        </p:nvSpPr>
        <p:spPr>
          <a:xfrm>
            <a:off x="316400" y="2132252"/>
            <a:ext cx="2377440" cy="182880"/>
          </a:xfrm>
          <a:prstGeom prst="rect">
            <a:avLst/>
          </a:prstGeom>
          <a:noFill/>
          <a:ln/>
        </p:spPr>
        <p:txBody>
          <a:bodyPr wrap="square" rtlCol="0" anchor="ctr"/>
          <a:lstStyle/>
          <a:p>
            <a:pPr marL="0" indent="0">
              <a:buNone/>
            </a:pPr>
            <a:r>
              <a:rPr lang="en-US" sz="1200" b="1" kern="0" spc="100" dirty="0">
                <a:solidFill>
                  <a:srgbClr val="10B981"/>
                </a:solidFill>
                <a:latin typeface="Aptos "/>
                <a:ea typeface="Arial" pitchFamily="34" charset="-122"/>
                <a:cs typeface="Arial" pitchFamily="34" charset="-120"/>
              </a:rPr>
              <a:t>OBJECTIF</a:t>
            </a:r>
            <a:endParaRPr lang="en-US" sz="1200" dirty="0">
              <a:latin typeface="Aptos "/>
            </a:endParaRPr>
          </a:p>
        </p:txBody>
      </p:sp>
      <p:sp>
        <p:nvSpPr>
          <p:cNvPr id="15" name="Text 8">
            <a:extLst>
              <a:ext uri="{FF2B5EF4-FFF2-40B4-BE49-F238E27FC236}">
                <a16:creationId xmlns:a16="http://schemas.microsoft.com/office/drawing/2014/main" id="{7ED0C3FD-85AA-578C-476E-2C7B11E7EC8F}"/>
              </a:ext>
            </a:extLst>
          </p:cNvPr>
          <p:cNvSpPr/>
          <p:nvPr/>
        </p:nvSpPr>
        <p:spPr>
          <a:xfrm>
            <a:off x="316400" y="2360852"/>
            <a:ext cx="2377440" cy="548640"/>
          </a:xfrm>
          <a:prstGeom prst="rect">
            <a:avLst/>
          </a:prstGeom>
          <a:noFill/>
          <a:ln/>
        </p:spPr>
        <p:txBody>
          <a:bodyPr wrap="square" rtlCol="0" anchor="ctr"/>
          <a:lstStyle/>
          <a:p>
            <a:pPr marL="0" indent="0">
              <a:lnSpc>
                <a:spcPts val="1400"/>
              </a:lnSpc>
              <a:buNone/>
            </a:pPr>
            <a:r>
              <a:rPr lang="en-US" sz="1100" dirty="0">
                <a:solidFill>
                  <a:schemeClr val="accent5">
                    <a:lumMod val="75000"/>
                  </a:schemeClr>
                </a:solidFill>
                <a:latin typeface="Aptos "/>
                <a:ea typeface="Arial" pitchFamily="34" charset="-122"/>
                <a:cs typeface="Arial" pitchFamily="34" charset="-120"/>
              </a:rPr>
              <a:t>• Comprendre l'existant</a:t>
            </a:r>
            <a:endParaRPr lang="en-US" sz="1100" dirty="0">
              <a:solidFill>
                <a:schemeClr val="accent5">
                  <a:lumMod val="75000"/>
                </a:schemeClr>
              </a:solidFill>
              <a:latin typeface="Aptos "/>
            </a:endParaRPr>
          </a:p>
          <a:p>
            <a:pPr marL="0" indent="0">
              <a:lnSpc>
                <a:spcPts val="1400"/>
              </a:lnSpc>
              <a:buNone/>
            </a:pPr>
            <a:r>
              <a:rPr lang="en-US" sz="1100" dirty="0">
                <a:solidFill>
                  <a:schemeClr val="accent5">
                    <a:lumMod val="75000"/>
                  </a:schemeClr>
                </a:solidFill>
                <a:latin typeface="Aptos "/>
                <a:ea typeface="Arial" pitchFamily="34" charset="-122"/>
                <a:cs typeface="Arial" pitchFamily="34" charset="-120"/>
              </a:rPr>
              <a:t>• Définir le rôle du CoE</a:t>
            </a:r>
            <a:endParaRPr lang="en-US" sz="1100" dirty="0">
              <a:solidFill>
                <a:schemeClr val="accent5">
                  <a:lumMod val="75000"/>
                </a:schemeClr>
              </a:solidFill>
              <a:latin typeface="Aptos "/>
            </a:endParaRPr>
          </a:p>
        </p:txBody>
      </p:sp>
      <p:sp>
        <p:nvSpPr>
          <p:cNvPr id="16" name="Text 9">
            <a:extLst>
              <a:ext uri="{FF2B5EF4-FFF2-40B4-BE49-F238E27FC236}">
                <a16:creationId xmlns:a16="http://schemas.microsoft.com/office/drawing/2014/main" id="{F53BEEAB-ABE3-253C-2E0E-EE3DC3006736}"/>
              </a:ext>
            </a:extLst>
          </p:cNvPr>
          <p:cNvSpPr/>
          <p:nvPr/>
        </p:nvSpPr>
        <p:spPr>
          <a:xfrm>
            <a:off x="316400" y="3000932"/>
            <a:ext cx="2377440" cy="182880"/>
          </a:xfrm>
          <a:prstGeom prst="rect">
            <a:avLst/>
          </a:prstGeom>
          <a:noFill/>
          <a:ln/>
        </p:spPr>
        <p:txBody>
          <a:bodyPr wrap="square" rtlCol="0" anchor="ctr"/>
          <a:lstStyle/>
          <a:p>
            <a:pPr marL="0" indent="0">
              <a:buNone/>
            </a:pPr>
            <a:r>
              <a:rPr lang="en-US" sz="1200" b="1" kern="0" spc="100" dirty="0">
                <a:solidFill>
                  <a:srgbClr val="10B981"/>
                </a:solidFill>
                <a:latin typeface="Aptos "/>
                <a:ea typeface="Arial" pitchFamily="34" charset="-122"/>
                <a:cs typeface="Arial" pitchFamily="34" charset="-120"/>
              </a:rPr>
              <a:t>ACTIONS</a:t>
            </a:r>
            <a:endParaRPr lang="en-US" sz="1200" dirty="0">
              <a:latin typeface="Aptos "/>
            </a:endParaRPr>
          </a:p>
        </p:txBody>
      </p:sp>
      <p:sp>
        <p:nvSpPr>
          <p:cNvPr id="17" name="Text 10">
            <a:extLst>
              <a:ext uri="{FF2B5EF4-FFF2-40B4-BE49-F238E27FC236}">
                <a16:creationId xmlns:a16="http://schemas.microsoft.com/office/drawing/2014/main" id="{7B2D516F-97C7-E938-C50A-2264CCB53C5A}"/>
              </a:ext>
            </a:extLst>
          </p:cNvPr>
          <p:cNvSpPr/>
          <p:nvPr/>
        </p:nvSpPr>
        <p:spPr>
          <a:xfrm>
            <a:off x="316400" y="3229532"/>
            <a:ext cx="2377440" cy="640080"/>
          </a:xfrm>
          <a:prstGeom prst="rect">
            <a:avLst/>
          </a:prstGeom>
          <a:noFill/>
          <a:ln/>
        </p:spPr>
        <p:txBody>
          <a:bodyPr wrap="square" rtlCol="0" anchor="ctr"/>
          <a:lstStyle/>
          <a:p>
            <a:pPr>
              <a:lnSpc>
                <a:spcPts val="1400"/>
              </a:lnSpc>
            </a:pPr>
            <a:r>
              <a:rPr lang="en-US" sz="1100" dirty="0">
                <a:solidFill>
                  <a:schemeClr val="accent5">
                    <a:lumMod val="75000"/>
                  </a:schemeClr>
                </a:solidFill>
                <a:latin typeface="Aptos "/>
                <a:cs typeface="Arial" pitchFamily="34" charset="-120"/>
              </a:rPr>
              <a:t>• </a:t>
            </a:r>
            <a:r>
              <a:rPr lang="en-US" sz="1100" dirty="0" err="1">
                <a:solidFill>
                  <a:schemeClr val="accent5">
                    <a:lumMod val="75000"/>
                  </a:schemeClr>
                </a:solidFill>
                <a:latin typeface="Aptos "/>
                <a:cs typeface="Arial" pitchFamily="34" charset="-120"/>
              </a:rPr>
              <a:t>Cartographie</a:t>
            </a:r>
            <a:r>
              <a:rPr lang="en-US" sz="1100" dirty="0">
                <a:solidFill>
                  <a:schemeClr val="accent5">
                    <a:lumMod val="75000"/>
                  </a:schemeClr>
                </a:solidFill>
                <a:latin typeface="Aptos "/>
                <a:cs typeface="Arial" pitchFamily="34" charset="-120"/>
              </a:rPr>
              <a:t> data</a:t>
            </a:r>
          </a:p>
          <a:p>
            <a:pPr>
              <a:lnSpc>
                <a:spcPts val="1400"/>
              </a:lnSpc>
            </a:pPr>
            <a:r>
              <a:rPr lang="en-US" sz="1100" dirty="0">
                <a:solidFill>
                  <a:schemeClr val="accent5">
                    <a:lumMod val="75000"/>
                  </a:schemeClr>
                </a:solidFill>
                <a:latin typeface="Aptos "/>
                <a:cs typeface="Arial" pitchFamily="34" charset="-120"/>
              </a:rPr>
              <a:t>• Audit KPI &amp; </a:t>
            </a:r>
            <a:r>
              <a:rPr lang="en-US" sz="1100" dirty="0" err="1">
                <a:solidFill>
                  <a:schemeClr val="accent5">
                    <a:lumMod val="75000"/>
                  </a:schemeClr>
                </a:solidFill>
                <a:latin typeface="Aptos "/>
                <a:cs typeface="Arial" pitchFamily="34" charset="-120"/>
              </a:rPr>
              <a:t>outils</a:t>
            </a:r>
            <a:endParaRPr lang="en-US" sz="1100" dirty="0">
              <a:solidFill>
                <a:schemeClr val="accent5">
                  <a:lumMod val="75000"/>
                </a:schemeClr>
              </a:solidFill>
              <a:latin typeface="Aptos "/>
              <a:cs typeface="Arial" pitchFamily="34" charset="-120"/>
            </a:endParaRPr>
          </a:p>
          <a:p>
            <a:pPr>
              <a:lnSpc>
                <a:spcPts val="1400"/>
              </a:lnSpc>
            </a:pPr>
            <a:r>
              <a:rPr lang="en-US" sz="1100" dirty="0">
                <a:solidFill>
                  <a:schemeClr val="accent5">
                    <a:lumMod val="75000"/>
                  </a:schemeClr>
                </a:solidFill>
                <a:latin typeface="Aptos "/>
                <a:cs typeface="Arial" pitchFamily="34" charset="-120"/>
              </a:rPr>
              <a:t>• Standards </a:t>
            </a:r>
            <a:r>
              <a:rPr lang="en-US" sz="1100" dirty="0" err="1">
                <a:solidFill>
                  <a:schemeClr val="accent5">
                    <a:lumMod val="75000"/>
                  </a:schemeClr>
                </a:solidFill>
                <a:latin typeface="Aptos "/>
                <a:cs typeface="Arial" pitchFamily="34" charset="-120"/>
              </a:rPr>
              <a:t>prioritaires</a:t>
            </a:r>
            <a:endParaRPr lang="en-US" sz="1100" dirty="0">
              <a:latin typeface="Aptos "/>
            </a:endParaRPr>
          </a:p>
        </p:txBody>
      </p:sp>
      <p:sp>
        <p:nvSpPr>
          <p:cNvPr id="18" name="Shape 11">
            <a:extLst>
              <a:ext uri="{FF2B5EF4-FFF2-40B4-BE49-F238E27FC236}">
                <a16:creationId xmlns:a16="http://schemas.microsoft.com/office/drawing/2014/main" id="{6AA57134-8713-6B5B-FFD4-CC5DFA979730}"/>
              </a:ext>
            </a:extLst>
          </p:cNvPr>
          <p:cNvSpPr/>
          <p:nvPr/>
        </p:nvSpPr>
        <p:spPr>
          <a:xfrm>
            <a:off x="316400" y="4052492"/>
            <a:ext cx="2377440" cy="457200"/>
          </a:xfrm>
          <a:prstGeom prst="rect">
            <a:avLst/>
          </a:prstGeom>
          <a:solidFill>
            <a:srgbClr val="FFFFFF"/>
          </a:solidFill>
          <a:ln w="19050">
            <a:solidFill>
              <a:srgbClr val="10B981"/>
            </a:solidFill>
            <a:prstDash val="solid"/>
          </a:ln>
        </p:spPr>
      </p:sp>
      <p:sp>
        <p:nvSpPr>
          <p:cNvPr id="19" name="Text 12">
            <a:extLst>
              <a:ext uri="{FF2B5EF4-FFF2-40B4-BE49-F238E27FC236}">
                <a16:creationId xmlns:a16="http://schemas.microsoft.com/office/drawing/2014/main" id="{C7FA16AD-F3D8-0FA9-2696-AA7D620FCAA2}"/>
              </a:ext>
            </a:extLst>
          </p:cNvPr>
          <p:cNvSpPr/>
          <p:nvPr/>
        </p:nvSpPr>
        <p:spPr>
          <a:xfrm>
            <a:off x="407840" y="4098212"/>
            <a:ext cx="2194560" cy="137160"/>
          </a:xfrm>
          <a:prstGeom prst="rect">
            <a:avLst/>
          </a:prstGeom>
          <a:noFill/>
          <a:ln/>
        </p:spPr>
        <p:txBody>
          <a:bodyPr wrap="square" rtlCol="0" anchor="ctr"/>
          <a:lstStyle/>
          <a:p>
            <a:pPr marL="0" indent="0">
              <a:buNone/>
            </a:pPr>
            <a:r>
              <a:rPr lang="en-US" sz="1200" b="1" kern="0" spc="100" dirty="0">
                <a:solidFill>
                  <a:srgbClr val="10B981"/>
                </a:solidFill>
                <a:latin typeface="Aptos "/>
                <a:ea typeface="Arial" pitchFamily="34" charset="-122"/>
                <a:cs typeface="Arial" pitchFamily="34" charset="-120"/>
              </a:rPr>
              <a:t>RÉSULTAT</a:t>
            </a:r>
            <a:endParaRPr lang="en-US" sz="1200" dirty="0">
              <a:latin typeface="Aptos "/>
            </a:endParaRPr>
          </a:p>
        </p:txBody>
      </p:sp>
      <p:sp>
        <p:nvSpPr>
          <p:cNvPr id="20" name="Text 13">
            <a:extLst>
              <a:ext uri="{FF2B5EF4-FFF2-40B4-BE49-F238E27FC236}">
                <a16:creationId xmlns:a16="http://schemas.microsoft.com/office/drawing/2014/main" id="{6CE214F8-4B26-D60A-9329-D5E6DA92706A}"/>
              </a:ext>
            </a:extLst>
          </p:cNvPr>
          <p:cNvSpPr/>
          <p:nvPr/>
        </p:nvSpPr>
        <p:spPr>
          <a:xfrm>
            <a:off x="407840" y="4262804"/>
            <a:ext cx="2194560" cy="228600"/>
          </a:xfrm>
          <a:prstGeom prst="rect">
            <a:avLst/>
          </a:prstGeom>
          <a:noFill/>
          <a:ln/>
        </p:spPr>
        <p:txBody>
          <a:bodyPr wrap="square" rtlCol="0" anchor="ctr"/>
          <a:lstStyle/>
          <a:p>
            <a:pPr marL="0" indent="0">
              <a:buNone/>
            </a:pPr>
            <a:r>
              <a:rPr lang="en-US" sz="1100" b="1" dirty="0">
                <a:solidFill>
                  <a:srgbClr val="1A1A1A"/>
                </a:solidFill>
                <a:latin typeface="Aptos "/>
                <a:ea typeface="Arial" pitchFamily="34" charset="-122"/>
                <a:cs typeface="Arial" pitchFamily="34" charset="-120"/>
              </a:rPr>
              <a:t>Vision partagée &amp; cadre clair</a:t>
            </a:r>
            <a:endParaRPr lang="en-US" sz="1100" dirty="0">
              <a:latin typeface="Aptos "/>
            </a:endParaRPr>
          </a:p>
        </p:txBody>
      </p:sp>
      <p:sp>
        <p:nvSpPr>
          <p:cNvPr id="21" name="Shape 14">
            <a:extLst>
              <a:ext uri="{FF2B5EF4-FFF2-40B4-BE49-F238E27FC236}">
                <a16:creationId xmlns:a16="http://schemas.microsoft.com/office/drawing/2014/main" id="{64C74111-0BDD-45C9-22F8-0B0FABAC4550}"/>
              </a:ext>
            </a:extLst>
          </p:cNvPr>
          <p:cNvSpPr/>
          <p:nvPr/>
        </p:nvSpPr>
        <p:spPr>
          <a:xfrm>
            <a:off x="3196760" y="852092"/>
            <a:ext cx="2743200" cy="3840480"/>
          </a:xfrm>
          <a:prstGeom prst="rect">
            <a:avLst/>
          </a:prstGeom>
          <a:solidFill>
            <a:srgbClr val="F8F9FA"/>
          </a:solidFill>
          <a:ln/>
        </p:spPr>
      </p:sp>
      <p:sp>
        <p:nvSpPr>
          <p:cNvPr id="22" name="Shape 15">
            <a:extLst>
              <a:ext uri="{FF2B5EF4-FFF2-40B4-BE49-F238E27FC236}">
                <a16:creationId xmlns:a16="http://schemas.microsoft.com/office/drawing/2014/main" id="{5F855E25-6051-0257-A60F-9CBE3BCD1D39}"/>
              </a:ext>
            </a:extLst>
          </p:cNvPr>
          <p:cNvSpPr/>
          <p:nvPr/>
        </p:nvSpPr>
        <p:spPr>
          <a:xfrm>
            <a:off x="3196760" y="852092"/>
            <a:ext cx="2743200" cy="73152"/>
          </a:xfrm>
          <a:prstGeom prst="rect">
            <a:avLst/>
          </a:prstGeom>
          <a:solidFill>
            <a:srgbClr val="F59E0B"/>
          </a:solidFill>
          <a:ln/>
        </p:spPr>
      </p:sp>
      <p:pic>
        <p:nvPicPr>
          <p:cNvPr id="23" name="Image 1" descr="preencoded.png">
            <a:extLst>
              <a:ext uri="{FF2B5EF4-FFF2-40B4-BE49-F238E27FC236}">
                <a16:creationId xmlns:a16="http://schemas.microsoft.com/office/drawing/2014/main" id="{3C88E2BF-0B80-D81E-978D-D2B8CBF2CCDC}"/>
              </a:ext>
            </a:extLst>
          </p:cNvPr>
          <p:cNvPicPr>
            <a:picLocks noChangeAspect="1"/>
          </p:cNvPicPr>
          <p:nvPr/>
        </p:nvPicPr>
        <p:blipFill>
          <a:blip r:embed="rId5"/>
          <a:stretch>
            <a:fillRect/>
          </a:stretch>
        </p:blipFill>
        <p:spPr>
          <a:xfrm>
            <a:off x="3379640" y="1034972"/>
            <a:ext cx="365760" cy="365760"/>
          </a:xfrm>
          <a:prstGeom prst="rect">
            <a:avLst/>
          </a:prstGeom>
        </p:spPr>
      </p:pic>
      <p:sp>
        <p:nvSpPr>
          <p:cNvPr id="24" name="Shape 16">
            <a:extLst>
              <a:ext uri="{FF2B5EF4-FFF2-40B4-BE49-F238E27FC236}">
                <a16:creationId xmlns:a16="http://schemas.microsoft.com/office/drawing/2014/main" id="{6FF455EE-59D4-2660-D395-524598114EAB}"/>
              </a:ext>
            </a:extLst>
          </p:cNvPr>
          <p:cNvSpPr/>
          <p:nvPr/>
        </p:nvSpPr>
        <p:spPr>
          <a:xfrm>
            <a:off x="5391320" y="1034972"/>
            <a:ext cx="365760" cy="365760"/>
          </a:xfrm>
          <a:prstGeom prst="ellipse">
            <a:avLst/>
          </a:prstGeom>
          <a:solidFill>
            <a:srgbClr val="F59E0B"/>
          </a:solidFill>
          <a:ln/>
        </p:spPr>
      </p:sp>
      <p:sp>
        <p:nvSpPr>
          <p:cNvPr id="25" name="Text 17">
            <a:extLst>
              <a:ext uri="{FF2B5EF4-FFF2-40B4-BE49-F238E27FC236}">
                <a16:creationId xmlns:a16="http://schemas.microsoft.com/office/drawing/2014/main" id="{88612F72-CFE3-DF99-120E-322CC96C2B0A}"/>
              </a:ext>
            </a:extLst>
          </p:cNvPr>
          <p:cNvSpPr/>
          <p:nvPr/>
        </p:nvSpPr>
        <p:spPr>
          <a:xfrm>
            <a:off x="5391320" y="1034972"/>
            <a:ext cx="365760" cy="365760"/>
          </a:xfrm>
          <a:prstGeom prst="rect">
            <a:avLst/>
          </a:prstGeom>
          <a:noFill/>
          <a:ln/>
        </p:spPr>
        <p:txBody>
          <a:bodyPr wrap="square" rtlCol="0" anchor="ctr"/>
          <a:lstStyle/>
          <a:p>
            <a:pPr marL="0" indent="0" algn="ctr">
              <a:buNone/>
            </a:pPr>
            <a:r>
              <a:rPr lang="en-US" sz="2000" b="1" dirty="0">
                <a:solidFill>
                  <a:srgbClr val="FFFFFF"/>
                </a:solidFill>
                <a:latin typeface="Aptos "/>
              </a:rPr>
              <a:t>2</a:t>
            </a:r>
            <a:endParaRPr lang="en-US" sz="2000" dirty="0">
              <a:latin typeface="Aptos "/>
            </a:endParaRPr>
          </a:p>
        </p:txBody>
      </p:sp>
      <p:sp>
        <p:nvSpPr>
          <p:cNvPr id="26" name="Text 18">
            <a:extLst>
              <a:ext uri="{FF2B5EF4-FFF2-40B4-BE49-F238E27FC236}">
                <a16:creationId xmlns:a16="http://schemas.microsoft.com/office/drawing/2014/main" id="{763556A3-BA83-7C25-A818-E96D74A8AD62}"/>
              </a:ext>
            </a:extLst>
          </p:cNvPr>
          <p:cNvSpPr/>
          <p:nvPr/>
        </p:nvSpPr>
        <p:spPr>
          <a:xfrm>
            <a:off x="3343217" y="1569659"/>
            <a:ext cx="2286000" cy="274320"/>
          </a:xfrm>
          <a:prstGeom prst="rect">
            <a:avLst/>
          </a:prstGeom>
          <a:noFill/>
          <a:ln/>
        </p:spPr>
        <p:txBody>
          <a:bodyPr wrap="square" rtlCol="0" anchor="ctr"/>
          <a:lstStyle/>
          <a:p>
            <a:r>
              <a:rPr lang="en-US" sz="1500" b="1" dirty="0">
                <a:solidFill>
                  <a:srgbClr val="000000">
                    <a:lumMod val="65000"/>
                    <a:lumOff val="35000"/>
                  </a:srgbClr>
                </a:solidFill>
                <a:latin typeface="Aptos" panose="020B0004020202020204" pitchFamily="34" charset="0"/>
                <a:ea typeface="Inter"/>
              </a:rPr>
              <a:t>Lancement &amp; Validation</a:t>
            </a:r>
          </a:p>
        </p:txBody>
      </p:sp>
      <p:sp>
        <p:nvSpPr>
          <p:cNvPr id="27" name="Text 19">
            <a:extLst>
              <a:ext uri="{FF2B5EF4-FFF2-40B4-BE49-F238E27FC236}">
                <a16:creationId xmlns:a16="http://schemas.microsoft.com/office/drawing/2014/main" id="{7D5D500C-E451-7CE7-E0C2-50C73A671E6A}"/>
              </a:ext>
            </a:extLst>
          </p:cNvPr>
          <p:cNvSpPr/>
          <p:nvPr/>
        </p:nvSpPr>
        <p:spPr>
          <a:xfrm>
            <a:off x="3379640" y="1812212"/>
            <a:ext cx="2377440" cy="182880"/>
          </a:xfrm>
          <a:prstGeom prst="rect">
            <a:avLst/>
          </a:prstGeom>
          <a:noFill/>
          <a:ln/>
        </p:spPr>
        <p:txBody>
          <a:bodyPr wrap="square" rtlCol="0" anchor="ctr"/>
          <a:lstStyle/>
          <a:p>
            <a:r>
              <a:rPr lang="en-US" sz="1100" dirty="0" err="1">
                <a:solidFill>
                  <a:srgbClr val="000000">
                    <a:lumMod val="65000"/>
                    <a:lumOff val="35000"/>
                  </a:srgbClr>
                </a:solidFill>
                <a:latin typeface="Aptos" panose="020B0004020202020204" pitchFamily="34" charset="0"/>
              </a:rPr>
              <a:t>Mois</a:t>
            </a:r>
            <a:r>
              <a:rPr lang="en-US" sz="1100" dirty="0">
                <a:solidFill>
                  <a:srgbClr val="000000">
                    <a:lumMod val="65000"/>
                    <a:lumOff val="35000"/>
                  </a:srgbClr>
                </a:solidFill>
                <a:latin typeface="Aptos" panose="020B0004020202020204" pitchFamily="34" charset="0"/>
              </a:rPr>
              <a:t> 4–8</a:t>
            </a:r>
          </a:p>
        </p:txBody>
      </p:sp>
      <p:sp>
        <p:nvSpPr>
          <p:cNvPr id="28" name="Text 20">
            <a:extLst>
              <a:ext uri="{FF2B5EF4-FFF2-40B4-BE49-F238E27FC236}">
                <a16:creationId xmlns:a16="http://schemas.microsoft.com/office/drawing/2014/main" id="{0B154CCC-3A61-1B32-DDAE-877F35B0B938}"/>
              </a:ext>
            </a:extLst>
          </p:cNvPr>
          <p:cNvSpPr/>
          <p:nvPr/>
        </p:nvSpPr>
        <p:spPr>
          <a:xfrm>
            <a:off x="3379640" y="2132252"/>
            <a:ext cx="2377440" cy="182880"/>
          </a:xfrm>
          <a:prstGeom prst="rect">
            <a:avLst/>
          </a:prstGeom>
          <a:noFill/>
          <a:ln/>
        </p:spPr>
        <p:txBody>
          <a:bodyPr wrap="square" rtlCol="0" anchor="ctr"/>
          <a:lstStyle/>
          <a:p>
            <a:pPr marL="0" indent="0">
              <a:buNone/>
            </a:pPr>
            <a:r>
              <a:rPr lang="en-US" sz="1200" b="1" kern="0" spc="100" dirty="0">
                <a:solidFill>
                  <a:srgbClr val="F59E0B"/>
                </a:solidFill>
                <a:latin typeface="Aptos "/>
                <a:ea typeface="Arial" pitchFamily="34" charset="-122"/>
                <a:cs typeface="Arial" pitchFamily="34" charset="-120"/>
              </a:rPr>
              <a:t>OBJECTIF</a:t>
            </a:r>
            <a:endParaRPr lang="en-US" sz="1200" dirty="0">
              <a:latin typeface="Aptos "/>
            </a:endParaRPr>
          </a:p>
        </p:txBody>
      </p:sp>
      <p:sp>
        <p:nvSpPr>
          <p:cNvPr id="29" name="Text 21">
            <a:extLst>
              <a:ext uri="{FF2B5EF4-FFF2-40B4-BE49-F238E27FC236}">
                <a16:creationId xmlns:a16="http://schemas.microsoft.com/office/drawing/2014/main" id="{27C05292-0DBC-9B52-D09B-05C92607B5DB}"/>
              </a:ext>
            </a:extLst>
          </p:cNvPr>
          <p:cNvSpPr/>
          <p:nvPr/>
        </p:nvSpPr>
        <p:spPr>
          <a:xfrm>
            <a:off x="3379640" y="2360852"/>
            <a:ext cx="2377440" cy="548640"/>
          </a:xfrm>
          <a:prstGeom prst="rect">
            <a:avLst/>
          </a:prstGeom>
          <a:noFill/>
          <a:ln/>
        </p:spPr>
        <p:txBody>
          <a:bodyPr wrap="square" rtlCol="0" anchor="ctr"/>
          <a:lstStyle/>
          <a:p>
            <a:pPr>
              <a:lnSpc>
                <a:spcPts val="1400"/>
              </a:lnSpc>
            </a:pPr>
            <a:r>
              <a:rPr lang="en-US" sz="1100" dirty="0">
                <a:solidFill>
                  <a:schemeClr val="accent5">
                    <a:lumMod val="75000"/>
                  </a:schemeClr>
                </a:solidFill>
                <a:latin typeface="Aptos "/>
                <a:cs typeface="Arial" pitchFamily="34" charset="-120"/>
              </a:rPr>
              <a:t>• </a:t>
            </a:r>
            <a:r>
              <a:rPr lang="en-US" sz="1100" dirty="0" err="1">
                <a:solidFill>
                  <a:schemeClr val="accent5">
                    <a:lumMod val="75000"/>
                  </a:schemeClr>
                </a:solidFill>
                <a:latin typeface="Aptos "/>
                <a:cs typeface="Arial" pitchFamily="34" charset="-120"/>
              </a:rPr>
              <a:t>Créer</a:t>
            </a:r>
            <a:r>
              <a:rPr lang="en-US" sz="1100" dirty="0">
                <a:solidFill>
                  <a:schemeClr val="accent5">
                    <a:lumMod val="75000"/>
                  </a:schemeClr>
                </a:solidFill>
                <a:latin typeface="Aptos "/>
                <a:cs typeface="Arial" pitchFamily="34" charset="-120"/>
              </a:rPr>
              <a:t> le CoE « </a:t>
            </a:r>
            <a:r>
              <a:rPr lang="en-US" sz="1100" dirty="0" err="1">
                <a:solidFill>
                  <a:schemeClr val="accent5">
                    <a:lumMod val="75000"/>
                  </a:schemeClr>
                </a:solidFill>
                <a:latin typeface="Aptos "/>
                <a:cs typeface="Arial" pitchFamily="34" charset="-120"/>
              </a:rPr>
              <a:t>léger</a:t>
            </a:r>
            <a:r>
              <a:rPr lang="en-US" sz="1100" dirty="0">
                <a:solidFill>
                  <a:schemeClr val="accent5">
                    <a:lumMod val="75000"/>
                  </a:schemeClr>
                </a:solidFill>
                <a:latin typeface="Aptos "/>
                <a:cs typeface="Arial" pitchFamily="34" charset="-120"/>
              </a:rPr>
              <a:t> »</a:t>
            </a:r>
          </a:p>
          <a:p>
            <a:pPr>
              <a:lnSpc>
                <a:spcPts val="1400"/>
              </a:lnSpc>
            </a:pPr>
            <a:r>
              <a:rPr lang="en-US" sz="1100" dirty="0">
                <a:solidFill>
                  <a:schemeClr val="accent5">
                    <a:lumMod val="75000"/>
                  </a:schemeClr>
                </a:solidFill>
                <a:latin typeface="Aptos "/>
                <a:cs typeface="Arial" pitchFamily="34" charset="-120"/>
              </a:rPr>
              <a:t>• Tester via </a:t>
            </a:r>
            <a:r>
              <a:rPr lang="en-US" sz="1100" dirty="0" err="1">
                <a:solidFill>
                  <a:schemeClr val="accent5">
                    <a:lumMod val="75000"/>
                  </a:schemeClr>
                </a:solidFill>
                <a:latin typeface="Aptos "/>
                <a:cs typeface="Arial" pitchFamily="34" charset="-120"/>
              </a:rPr>
              <a:t>pilotes</a:t>
            </a:r>
            <a:endParaRPr lang="en-US" sz="1100" dirty="0">
              <a:solidFill>
                <a:schemeClr val="accent5">
                  <a:lumMod val="75000"/>
                </a:schemeClr>
              </a:solidFill>
              <a:latin typeface="Aptos "/>
              <a:cs typeface="Arial" pitchFamily="34" charset="-120"/>
            </a:endParaRPr>
          </a:p>
        </p:txBody>
      </p:sp>
      <p:sp>
        <p:nvSpPr>
          <p:cNvPr id="30" name="Text 22">
            <a:extLst>
              <a:ext uri="{FF2B5EF4-FFF2-40B4-BE49-F238E27FC236}">
                <a16:creationId xmlns:a16="http://schemas.microsoft.com/office/drawing/2014/main" id="{6B70BCA6-4D5F-2719-31B9-D07011ED9AA8}"/>
              </a:ext>
            </a:extLst>
          </p:cNvPr>
          <p:cNvSpPr/>
          <p:nvPr/>
        </p:nvSpPr>
        <p:spPr>
          <a:xfrm>
            <a:off x="3379640" y="3000932"/>
            <a:ext cx="2377440" cy="182880"/>
          </a:xfrm>
          <a:prstGeom prst="rect">
            <a:avLst/>
          </a:prstGeom>
          <a:noFill/>
          <a:ln/>
        </p:spPr>
        <p:txBody>
          <a:bodyPr wrap="square" rtlCol="0" anchor="ctr"/>
          <a:lstStyle/>
          <a:p>
            <a:pPr marL="0" indent="0">
              <a:buNone/>
            </a:pPr>
            <a:r>
              <a:rPr lang="en-US" sz="1200" b="1" kern="0" spc="100" dirty="0">
                <a:solidFill>
                  <a:srgbClr val="F59E0B"/>
                </a:solidFill>
                <a:latin typeface="Aptos "/>
                <a:ea typeface="Arial" pitchFamily="34" charset="-122"/>
                <a:cs typeface="Arial" pitchFamily="34" charset="-120"/>
              </a:rPr>
              <a:t>ACTIONS</a:t>
            </a:r>
            <a:endParaRPr lang="en-US" sz="1200" dirty="0">
              <a:latin typeface="Aptos "/>
            </a:endParaRPr>
          </a:p>
        </p:txBody>
      </p:sp>
      <p:sp>
        <p:nvSpPr>
          <p:cNvPr id="31" name="Text 23">
            <a:extLst>
              <a:ext uri="{FF2B5EF4-FFF2-40B4-BE49-F238E27FC236}">
                <a16:creationId xmlns:a16="http://schemas.microsoft.com/office/drawing/2014/main" id="{612126C8-13EE-1D63-3F5D-88BD2A91E844}"/>
              </a:ext>
            </a:extLst>
          </p:cNvPr>
          <p:cNvSpPr/>
          <p:nvPr/>
        </p:nvSpPr>
        <p:spPr>
          <a:xfrm>
            <a:off x="3379640" y="3229532"/>
            <a:ext cx="2377440" cy="640080"/>
          </a:xfrm>
          <a:prstGeom prst="rect">
            <a:avLst/>
          </a:prstGeom>
          <a:noFill/>
          <a:ln/>
        </p:spPr>
        <p:txBody>
          <a:bodyPr wrap="square" rtlCol="0" anchor="ctr"/>
          <a:lstStyle/>
          <a:p>
            <a:pPr marL="0" indent="0">
              <a:lnSpc>
                <a:spcPts val="1400"/>
              </a:lnSpc>
              <a:buFont typeface="Arial"/>
              <a:buNone/>
            </a:pPr>
            <a:r>
              <a:rPr lang="en-US" sz="1100" dirty="0">
                <a:solidFill>
                  <a:schemeClr val="accent5">
                    <a:lumMod val="75000"/>
                  </a:schemeClr>
                </a:solidFill>
                <a:latin typeface="Aptos "/>
                <a:cs typeface="Arial" pitchFamily="34" charset="-120"/>
              </a:rPr>
              <a:t>• Équipe </a:t>
            </a:r>
            <a:r>
              <a:rPr lang="en-US" sz="1100" dirty="0" err="1">
                <a:solidFill>
                  <a:schemeClr val="accent5">
                    <a:lumMod val="75000"/>
                  </a:schemeClr>
                </a:solidFill>
                <a:latin typeface="Aptos "/>
                <a:cs typeface="Arial" pitchFamily="34" charset="-120"/>
              </a:rPr>
              <a:t>CoE</a:t>
            </a:r>
            <a:endParaRPr lang="en-US" sz="1100" dirty="0">
              <a:solidFill>
                <a:schemeClr val="accent5">
                  <a:lumMod val="75000"/>
                </a:schemeClr>
              </a:solidFill>
              <a:latin typeface="Aptos "/>
              <a:cs typeface="Arial" pitchFamily="34" charset="-120"/>
            </a:endParaRPr>
          </a:p>
          <a:p>
            <a:pPr marL="0" indent="0">
              <a:lnSpc>
                <a:spcPts val="1400"/>
              </a:lnSpc>
              <a:buFont typeface="Arial"/>
              <a:buNone/>
            </a:pPr>
            <a:r>
              <a:rPr lang="en-US" sz="1100" dirty="0">
                <a:solidFill>
                  <a:schemeClr val="accent5">
                    <a:lumMod val="75000"/>
                  </a:schemeClr>
                </a:solidFill>
                <a:latin typeface="Aptos "/>
                <a:cs typeface="Arial" pitchFamily="34" charset="-120"/>
              </a:rPr>
              <a:t>• </a:t>
            </a:r>
            <a:r>
              <a:rPr lang="en-US" sz="1100" dirty="0" err="1">
                <a:solidFill>
                  <a:schemeClr val="accent5">
                    <a:lumMod val="75000"/>
                  </a:schemeClr>
                </a:solidFill>
                <a:latin typeface="Aptos "/>
                <a:cs typeface="Arial" pitchFamily="34" charset="-120"/>
              </a:rPr>
              <a:t>Outils</a:t>
            </a:r>
            <a:r>
              <a:rPr lang="en-US" sz="1100" dirty="0">
                <a:solidFill>
                  <a:schemeClr val="accent5">
                    <a:lumMod val="75000"/>
                  </a:schemeClr>
                </a:solidFill>
                <a:latin typeface="Aptos "/>
                <a:cs typeface="Arial" pitchFamily="34" charset="-120"/>
              </a:rPr>
              <a:t> </a:t>
            </a:r>
            <a:r>
              <a:rPr lang="en-US" sz="1100" dirty="0" err="1">
                <a:solidFill>
                  <a:schemeClr val="accent5">
                    <a:lumMod val="75000"/>
                  </a:schemeClr>
                </a:solidFill>
                <a:latin typeface="Aptos "/>
                <a:cs typeface="Arial" pitchFamily="34" charset="-120"/>
              </a:rPr>
              <a:t>communs</a:t>
            </a:r>
            <a:endParaRPr lang="en-US" sz="1100" dirty="0">
              <a:solidFill>
                <a:schemeClr val="accent5">
                  <a:lumMod val="75000"/>
                </a:schemeClr>
              </a:solidFill>
              <a:latin typeface="Aptos "/>
              <a:cs typeface="Arial" pitchFamily="34" charset="-120"/>
            </a:endParaRPr>
          </a:p>
          <a:p>
            <a:pPr marL="0" indent="0">
              <a:lnSpc>
                <a:spcPts val="1400"/>
              </a:lnSpc>
              <a:buFont typeface="Arial"/>
              <a:buNone/>
            </a:pPr>
            <a:r>
              <a:rPr lang="en-US" sz="1100" dirty="0">
                <a:solidFill>
                  <a:schemeClr val="accent5">
                    <a:lumMod val="75000"/>
                  </a:schemeClr>
                </a:solidFill>
                <a:latin typeface="Aptos "/>
                <a:cs typeface="Arial" pitchFamily="34" charset="-120"/>
              </a:rPr>
              <a:t>• Déploiement 2–3 </a:t>
            </a:r>
            <a:r>
              <a:rPr lang="en-US" sz="1100" dirty="0" err="1">
                <a:solidFill>
                  <a:schemeClr val="accent5">
                    <a:lumMod val="75000"/>
                  </a:schemeClr>
                </a:solidFill>
                <a:latin typeface="Aptos "/>
                <a:cs typeface="Arial" pitchFamily="34" charset="-120"/>
              </a:rPr>
              <a:t>domaines</a:t>
            </a:r>
            <a:endParaRPr lang="en-US" sz="1100" dirty="0">
              <a:solidFill>
                <a:schemeClr val="accent5">
                  <a:lumMod val="75000"/>
                </a:schemeClr>
              </a:solidFill>
              <a:latin typeface="Aptos "/>
              <a:cs typeface="Arial" pitchFamily="34" charset="-120"/>
            </a:endParaRPr>
          </a:p>
        </p:txBody>
      </p:sp>
      <p:sp>
        <p:nvSpPr>
          <p:cNvPr id="32" name="Shape 24">
            <a:extLst>
              <a:ext uri="{FF2B5EF4-FFF2-40B4-BE49-F238E27FC236}">
                <a16:creationId xmlns:a16="http://schemas.microsoft.com/office/drawing/2014/main" id="{5E4906EC-A5A7-16DB-5119-B27E96BA37F5}"/>
              </a:ext>
            </a:extLst>
          </p:cNvPr>
          <p:cNvSpPr/>
          <p:nvPr/>
        </p:nvSpPr>
        <p:spPr>
          <a:xfrm>
            <a:off x="3379640" y="4052492"/>
            <a:ext cx="2377440" cy="457200"/>
          </a:xfrm>
          <a:prstGeom prst="rect">
            <a:avLst/>
          </a:prstGeom>
          <a:solidFill>
            <a:srgbClr val="FFFFFF"/>
          </a:solidFill>
          <a:ln w="19050">
            <a:solidFill>
              <a:srgbClr val="F59E0B"/>
            </a:solidFill>
            <a:prstDash val="solid"/>
          </a:ln>
        </p:spPr>
      </p:sp>
      <p:sp>
        <p:nvSpPr>
          <p:cNvPr id="33" name="Text 25">
            <a:extLst>
              <a:ext uri="{FF2B5EF4-FFF2-40B4-BE49-F238E27FC236}">
                <a16:creationId xmlns:a16="http://schemas.microsoft.com/office/drawing/2014/main" id="{9703709C-BD03-9DEF-F581-842A088349EB}"/>
              </a:ext>
            </a:extLst>
          </p:cNvPr>
          <p:cNvSpPr/>
          <p:nvPr/>
        </p:nvSpPr>
        <p:spPr>
          <a:xfrm>
            <a:off x="3471080" y="4098212"/>
            <a:ext cx="2194560" cy="137160"/>
          </a:xfrm>
          <a:prstGeom prst="rect">
            <a:avLst/>
          </a:prstGeom>
          <a:noFill/>
          <a:ln/>
        </p:spPr>
        <p:txBody>
          <a:bodyPr wrap="square" rtlCol="0" anchor="ctr"/>
          <a:lstStyle/>
          <a:p>
            <a:pPr marL="0" indent="0">
              <a:buNone/>
            </a:pPr>
            <a:r>
              <a:rPr lang="en-US" sz="1200" b="1" kern="0" spc="100" dirty="0">
                <a:solidFill>
                  <a:srgbClr val="F59E0B"/>
                </a:solidFill>
                <a:latin typeface="Aptos "/>
                <a:ea typeface="Arial" pitchFamily="34" charset="-122"/>
                <a:cs typeface="Arial" pitchFamily="34" charset="-120"/>
              </a:rPr>
              <a:t>RÉSULTAT</a:t>
            </a:r>
            <a:endParaRPr lang="en-US" sz="1200" dirty="0">
              <a:latin typeface="Aptos "/>
            </a:endParaRPr>
          </a:p>
        </p:txBody>
      </p:sp>
      <p:sp>
        <p:nvSpPr>
          <p:cNvPr id="34" name="Text 26">
            <a:extLst>
              <a:ext uri="{FF2B5EF4-FFF2-40B4-BE49-F238E27FC236}">
                <a16:creationId xmlns:a16="http://schemas.microsoft.com/office/drawing/2014/main" id="{FEC0A755-3C7A-51F1-FCE9-627E614D3D98}"/>
              </a:ext>
            </a:extLst>
          </p:cNvPr>
          <p:cNvSpPr/>
          <p:nvPr/>
        </p:nvSpPr>
        <p:spPr>
          <a:xfrm>
            <a:off x="3471080" y="4262804"/>
            <a:ext cx="2194560" cy="228600"/>
          </a:xfrm>
          <a:prstGeom prst="rect">
            <a:avLst/>
          </a:prstGeom>
          <a:noFill/>
          <a:ln/>
        </p:spPr>
        <p:txBody>
          <a:bodyPr wrap="square" rtlCol="0" anchor="ctr"/>
          <a:lstStyle/>
          <a:p>
            <a:pPr marL="0" indent="0">
              <a:buNone/>
            </a:pPr>
            <a:r>
              <a:rPr lang="en-US" sz="1100" b="1" dirty="0">
                <a:solidFill>
                  <a:srgbClr val="1A1A1A"/>
                </a:solidFill>
                <a:latin typeface="Aptos "/>
                <a:ea typeface="Arial" pitchFamily="34" charset="-122"/>
                <a:cs typeface="Arial" pitchFamily="34" charset="-120"/>
              </a:rPr>
              <a:t>Preuve de valeur concrète</a:t>
            </a:r>
            <a:endParaRPr lang="en-US" sz="1100" dirty="0">
              <a:latin typeface="Aptos "/>
            </a:endParaRPr>
          </a:p>
        </p:txBody>
      </p:sp>
      <p:sp>
        <p:nvSpPr>
          <p:cNvPr id="35" name="Shape 27">
            <a:extLst>
              <a:ext uri="{FF2B5EF4-FFF2-40B4-BE49-F238E27FC236}">
                <a16:creationId xmlns:a16="http://schemas.microsoft.com/office/drawing/2014/main" id="{B7050E5D-7E92-44F1-48AA-C9091705E2AA}"/>
              </a:ext>
            </a:extLst>
          </p:cNvPr>
          <p:cNvSpPr/>
          <p:nvPr/>
        </p:nvSpPr>
        <p:spPr>
          <a:xfrm>
            <a:off x="6260000" y="852092"/>
            <a:ext cx="2743200" cy="3840480"/>
          </a:xfrm>
          <a:prstGeom prst="rect">
            <a:avLst/>
          </a:prstGeom>
          <a:solidFill>
            <a:srgbClr val="F8F9FA"/>
          </a:solidFill>
          <a:ln/>
        </p:spPr>
      </p:sp>
      <p:sp>
        <p:nvSpPr>
          <p:cNvPr id="36" name="Shape 28">
            <a:extLst>
              <a:ext uri="{FF2B5EF4-FFF2-40B4-BE49-F238E27FC236}">
                <a16:creationId xmlns:a16="http://schemas.microsoft.com/office/drawing/2014/main" id="{7B99058F-C510-3451-C85D-802131D08D1D}"/>
              </a:ext>
            </a:extLst>
          </p:cNvPr>
          <p:cNvSpPr/>
          <p:nvPr/>
        </p:nvSpPr>
        <p:spPr>
          <a:xfrm>
            <a:off x="6260000" y="852092"/>
            <a:ext cx="2743200" cy="73152"/>
          </a:xfrm>
          <a:prstGeom prst="rect">
            <a:avLst/>
          </a:prstGeom>
          <a:solidFill>
            <a:srgbClr val="8B5CF6"/>
          </a:solidFill>
          <a:ln/>
        </p:spPr>
      </p:sp>
      <p:pic>
        <p:nvPicPr>
          <p:cNvPr id="37" name="Image 2" descr="preencoded.png">
            <a:extLst>
              <a:ext uri="{FF2B5EF4-FFF2-40B4-BE49-F238E27FC236}">
                <a16:creationId xmlns:a16="http://schemas.microsoft.com/office/drawing/2014/main" id="{55EA6B72-4F2B-6666-753A-931E091FB0E8}"/>
              </a:ext>
            </a:extLst>
          </p:cNvPr>
          <p:cNvPicPr>
            <a:picLocks noChangeAspect="1"/>
          </p:cNvPicPr>
          <p:nvPr/>
        </p:nvPicPr>
        <p:blipFill>
          <a:blip r:embed="rId6"/>
          <a:stretch>
            <a:fillRect/>
          </a:stretch>
        </p:blipFill>
        <p:spPr>
          <a:xfrm>
            <a:off x="6442880" y="1034972"/>
            <a:ext cx="365760" cy="365760"/>
          </a:xfrm>
          <a:prstGeom prst="rect">
            <a:avLst/>
          </a:prstGeom>
        </p:spPr>
      </p:pic>
      <p:sp>
        <p:nvSpPr>
          <p:cNvPr id="38" name="Shape 29">
            <a:extLst>
              <a:ext uri="{FF2B5EF4-FFF2-40B4-BE49-F238E27FC236}">
                <a16:creationId xmlns:a16="http://schemas.microsoft.com/office/drawing/2014/main" id="{F7A175C7-6174-3160-D0CC-437DC735A6E8}"/>
              </a:ext>
            </a:extLst>
          </p:cNvPr>
          <p:cNvSpPr/>
          <p:nvPr/>
        </p:nvSpPr>
        <p:spPr>
          <a:xfrm>
            <a:off x="8454560" y="1034972"/>
            <a:ext cx="365760" cy="365760"/>
          </a:xfrm>
          <a:prstGeom prst="ellipse">
            <a:avLst/>
          </a:prstGeom>
          <a:solidFill>
            <a:srgbClr val="8B5CF6"/>
          </a:solidFill>
          <a:ln/>
        </p:spPr>
      </p:sp>
      <p:sp>
        <p:nvSpPr>
          <p:cNvPr id="39" name="Text 30">
            <a:extLst>
              <a:ext uri="{FF2B5EF4-FFF2-40B4-BE49-F238E27FC236}">
                <a16:creationId xmlns:a16="http://schemas.microsoft.com/office/drawing/2014/main" id="{EE2597AD-13E5-DBCB-F7E4-95D5867C8669}"/>
              </a:ext>
            </a:extLst>
          </p:cNvPr>
          <p:cNvSpPr/>
          <p:nvPr/>
        </p:nvSpPr>
        <p:spPr>
          <a:xfrm>
            <a:off x="8454560" y="1034972"/>
            <a:ext cx="365760" cy="365760"/>
          </a:xfrm>
          <a:prstGeom prst="rect">
            <a:avLst/>
          </a:prstGeom>
          <a:noFill/>
          <a:ln/>
        </p:spPr>
        <p:txBody>
          <a:bodyPr wrap="square" rtlCol="0" anchor="ctr"/>
          <a:lstStyle/>
          <a:p>
            <a:pPr marL="0" indent="0" algn="ctr">
              <a:buNone/>
            </a:pPr>
            <a:r>
              <a:rPr lang="en-US" sz="2000" b="1" dirty="0">
                <a:solidFill>
                  <a:srgbClr val="FFFFFF"/>
                </a:solidFill>
                <a:latin typeface="Aptos "/>
              </a:rPr>
              <a:t>3</a:t>
            </a:r>
            <a:endParaRPr lang="en-US" sz="2000" dirty="0">
              <a:latin typeface="Aptos "/>
            </a:endParaRPr>
          </a:p>
        </p:txBody>
      </p:sp>
      <p:sp>
        <p:nvSpPr>
          <p:cNvPr id="40" name="Text 31">
            <a:extLst>
              <a:ext uri="{FF2B5EF4-FFF2-40B4-BE49-F238E27FC236}">
                <a16:creationId xmlns:a16="http://schemas.microsoft.com/office/drawing/2014/main" id="{E1CC957F-F020-89AA-80F2-8D2256F99B6E}"/>
              </a:ext>
            </a:extLst>
          </p:cNvPr>
          <p:cNvSpPr/>
          <p:nvPr/>
        </p:nvSpPr>
        <p:spPr>
          <a:xfrm>
            <a:off x="6259189" y="1569781"/>
            <a:ext cx="2743200" cy="274320"/>
          </a:xfrm>
          <a:prstGeom prst="rect">
            <a:avLst/>
          </a:prstGeom>
          <a:noFill/>
          <a:ln/>
        </p:spPr>
        <p:txBody>
          <a:bodyPr wrap="square" rtlCol="0" anchor="ctr"/>
          <a:lstStyle/>
          <a:p>
            <a:pPr marL="0" indent="0">
              <a:buFont typeface="Arial"/>
              <a:buNone/>
            </a:pPr>
            <a:r>
              <a:rPr lang="en-US" sz="1500" b="1" dirty="0">
                <a:solidFill>
                  <a:srgbClr val="000000">
                    <a:lumMod val="65000"/>
                    <a:lumOff val="35000"/>
                  </a:srgbClr>
                </a:solidFill>
                <a:latin typeface="Aptos" panose="020B0004020202020204" pitchFamily="34" charset="0"/>
                <a:ea typeface="Inter"/>
              </a:rPr>
              <a:t>Déploiement &amp; </a:t>
            </a:r>
            <a:r>
              <a:rPr lang="en-US" sz="1500" b="1" dirty="0" err="1">
                <a:solidFill>
                  <a:srgbClr val="000000">
                    <a:lumMod val="65000"/>
                    <a:lumOff val="35000"/>
                  </a:srgbClr>
                </a:solidFill>
                <a:latin typeface="Aptos" panose="020B0004020202020204" pitchFamily="34" charset="0"/>
                <a:ea typeface="Inter"/>
              </a:rPr>
              <a:t>Pérennisation</a:t>
            </a:r>
            <a:endParaRPr lang="en-US" sz="1500" b="1" dirty="0">
              <a:solidFill>
                <a:srgbClr val="000000">
                  <a:lumMod val="65000"/>
                  <a:lumOff val="35000"/>
                </a:srgbClr>
              </a:solidFill>
              <a:latin typeface="Aptos" panose="020B0004020202020204" pitchFamily="34" charset="0"/>
              <a:ea typeface="Inter"/>
            </a:endParaRPr>
          </a:p>
        </p:txBody>
      </p:sp>
      <p:sp>
        <p:nvSpPr>
          <p:cNvPr id="41" name="Text 32">
            <a:extLst>
              <a:ext uri="{FF2B5EF4-FFF2-40B4-BE49-F238E27FC236}">
                <a16:creationId xmlns:a16="http://schemas.microsoft.com/office/drawing/2014/main" id="{7CE99762-2041-08CF-1005-C12916618D5C}"/>
              </a:ext>
            </a:extLst>
          </p:cNvPr>
          <p:cNvSpPr/>
          <p:nvPr/>
        </p:nvSpPr>
        <p:spPr>
          <a:xfrm>
            <a:off x="6441252" y="1823524"/>
            <a:ext cx="2377440" cy="182880"/>
          </a:xfrm>
          <a:prstGeom prst="rect">
            <a:avLst/>
          </a:prstGeom>
          <a:noFill/>
          <a:ln/>
        </p:spPr>
        <p:txBody>
          <a:bodyPr wrap="square" rtlCol="0" anchor="ctr"/>
          <a:lstStyle/>
          <a:p>
            <a:pPr marL="0" indent="0">
              <a:buFont typeface="Arial"/>
              <a:buNone/>
            </a:pPr>
            <a:r>
              <a:rPr lang="en-US" sz="1100" dirty="0">
                <a:solidFill>
                  <a:srgbClr val="000000">
                    <a:lumMod val="65000"/>
                    <a:lumOff val="35000"/>
                  </a:srgbClr>
                </a:solidFill>
                <a:latin typeface="Aptos" panose="020B0004020202020204" pitchFamily="34" charset="0"/>
              </a:rPr>
              <a:t>Mois 9+</a:t>
            </a:r>
          </a:p>
        </p:txBody>
      </p:sp>
      <p:sp>
        <p:nvSpPr>
          <p:cNvPr id="42" name="Text 33">
            <a:extLst>
              <a:ext uri="{FF2B5EF4-FFF2-40B4-BE49-F238E27FC236}">
                <a16:creationId xmlns:a16="http://schemas.microsoft.com/office/drawing/2014/main" id="{E21ECDF6-EA83-54CE-3F87-F36D59224451}"/>
              </a:ext>
            </a:extLst>
          </p:cNvPr>
          <p:cNvSpPr/>
          <p:nvPr/>
        </p:nvSpPr>
        <p:spPr>
          <a:xfrm>
            <a:off x="6442880" y="2132252"/>
            <a:ext cx="2377440" cy="182880"/>
          </a:xfrm>
          <a:prstGeom prst="rect">
            <a:avLst/>
          </a:prstGeom>
          <a:noFill/>
          <a:ln/>
        </p:spPr>
        <p:txBody>
          <a:bodyPr wrap="square" rtlCol="0" anchor="ctr"/>
          <a:lstStyle/>
          <a:p>
            <a:pPr marL="0" indent="0">
              <a:buNone/>
            </a:pPr>
            <a:r>
              <a:rPr lang="en-US" sz="1200" b="1" kern="0" spc="100" dirty="0">
                <a:solidFill>
                  <a:srgbClr val="8B5CF6"/>
                </a:solidFill>
                <a:latin typeface="Aptos "/>
                <a:ea typeface="Arial" pitchFamily="34" charset="-122"/>
                <a:cs typeface="Arial" pitchFamily="34" charset="-120"/>
              </a:rPr>
              <a:t>OBJECTIF</a:t>
            </a:r>
            <a:endParaRPr lang="en-US" sz="1200" dirty="0">
              <a:latin typeface="Aptos "/>
            </a:endParaRPr>
          </a:p>
        </p:txBody>
      </p:sp>
      <p:sp>
        <p:nvSpPr>
          <p:cNvPr id="43" name="Text 34">
            <a:extLst>
              <a:ext uri="{FF2B5EF4-FFF2-40B4-BE49-F238E27FC236}">
                <a16:creationId xmlns:a16="http://schemas.microsoft.com/office/drawing/2014/main" id="{A3D9C4F1-8D2E-71E7-1491-C880F6570EFA}"/>
              </a:ext>
            </a:extLst>
          </p:cNvPr>
          <p:cNvSpPr/>
          <p:nvPr/>
        </p:nvSpPr>
        <p:spPr>
          <a:xfrm>
            <a:off x="6442880" y="2360852"/>
            <a:ext cx="2377440" cy="548640"/>
          </a:xfrm>
          <a:prstGeom prst="rect">
            <a:avLst/>
          </a:prstGeom>
          <a:noFill/>
          <a:ln/>
        </p:spPr>
        <p:txBody>
          <a:bodyPr wrap="square" rtlCol="0" anchor="ctr"/>
          <a:lstStyle/>
          <a:p>
            <a:pPr marL="0" indent="0">
              <a:lnSpc>
                <a:spcPts val="1400"/>
              </a:lnSpc>
              <a:buNone/>
            </a:pPr>
            <a:r>
              <a:rPr lang="en-US" sz="1100" dirty="0">
                <a:solidFill>
                  <a:schemeClr val="accent5">
                    <a:lumMod val="75000"/>
                  </a:schemeClr>
                </a:solidFill>
                <a:latin typeface="Aptos "/>
                <a:cs typeface="Arial" pitchFamily="34" charset="-120"/>
              </a:rPr>
              <a:t>• Étendre à </a:t>
            </a:r>
            <a:r>
              <a:rPr lang="en-US" sz="1100" dirty="0" err="1">
                <a:solidFill>
                  <a:schemeClr val="accent5">
                    <a:lumMod val="75000"/>
                  </a:schemeClr>
                </a:solidFill>
                <a:latin typeface="Aptos "/>
                <a:cs typeface="Arial" pitchFamily="34" charset="-120"/>
              </a:rPr>
              <a:t>l'échelle</a:t>
            </a:r>
            <a:endParaRPr lang="en-US" sz="1100" dirty="0">
              <a:solidFill>
                <a:schemeClr val="accent5">
                  <a:lumMod val="75000"/>
                </a:schemeClr>
              </a:solidFill>
              <a:latin typeface="Aptos "/>
              <a:cs typeface="Arial" pitchFamily="34" charset="-120"/>
            </a:endParaRPr>
          </a:p>
          <a:p>
            <a:pPr marL="0" indent="0">
              <a:lnSpc>
                <a:spcPts val="1400"/>
              </a:lnSpc>
              <a:buNone/>
            </a:pPr>
            <a:r>
              <a:rPr lang="en-US" sz="1100" dirty="0">
                <a:solidFill>
                  <a:schemeClr val="accent5">
                    <a:lumMod val="75000"/>
                  </a:schemeClr>
                </a:solidFill>
                <a:latin typeface="Aptos "/>
                <a:cs typeface="Arial" pitchFamily="34" charset="-120"/>
              </a:rPr>
              <a:t>• </a:t>
            </a:r>
            <a:r>
              <a:rPr lang="en-US" sz="1100" dirty="0" err="1">
                <a:solidFill>
                  <a:schemeClr val="accent5">
                    <a:lumMod val="75000"/>
                  </a:schemeClr>
                </a:solidFill>
                <a:latin typeface="Aptos "/>
                <a:cs typeface="Arial" pitchFamily="34" charset="-120"/>
              </a:rPr>
              <a:t>Amélioration</a:t>
            </a:r>
            <a:r>
              <a:rPr lang="en-US" sz="1100" dirty="0">
                <a:solidFill>
                  <a:schemeClr val="accent5">
                    <a:lumMod val="75000"/>
                  </a:schemeClr>
                </a:solidFill>
                <a:latin typeface="Aptos "/>
                <a:cs typeface="Arial" pitchFamily="34" charset="-120"/>
              </a:rPr>
              <a:t> continue</a:t>
            </a:r>
          </a:p>
        </p:txBody>
      </p:sp>
      <p:sp>
        <p:nvSpPr>
          <p:cNvPr id="44" name="Text 35">
            <a:extLst>
              <a:ext uri="{FF2B5EF4-FFF2-40B4-BE49-F238E27FC236}">
                <a16:creationId xmlns:a16="http://schemas.microsoft.com/office/drawing/2014/main" id="{5DD0E12A-5106-86CE-7501-ED4C3F9FBCAF}"/>
              </a:ext>
            </a:extLst>
          </p:cNvPr>
          <p:cNvSpPr/>
          <p:nvPr/>
        </p:nvSpPr>
        <p:spPr>
          <a:xfrm>
            <a:off x="6442880" y="3000932"/>
            <a:ext cx="2377440" cy="182880"/>
          </a:xfrm>
          <a:prstGeom prst="rect">
            <a:avLst/>
          </a:prstGeom>
          <a:noFill/>
          <a:ln/>
        </p:spPr>
        <p:txBody>
          <a:bodyPr wrap="square" rtlCol="0" anchor="ctr"/>
          <a:lstStyle/>
          <a:p>
            <a:pPr marL="0" indent="0">
              <a:buNone/>
            </a:pPr>
            <a:r>
              <a:rPr lang="en-US" sz="1200" b="1" kern="0" spc="100" dirty="0">
                <a:solidFill>
                  <a:srgbClr val="8B5CF6"/>
                </a:solidFill>
                <a:latin typeface="Aptos "/>
                <a:ea typeface="Arial" pitchFamily="34" charset="-122"/>
                <a:cs typeface="Arial" pitchFamily="34" charset="-120"/>
              </a:rPr>
              <a:t>ACTIONS</a:t>
            </a:r>
            <a:endParaRPr lang="en-US" sz="1200" dirty="0">
              <a:latin typeface="Aptos "/>
            </a:endParaRPr>
          </a:p>
        </p:txBody>
      </p:sp>
      <p:sp>
        <p:nvSpPr>
          <p:cNvPr id="45" name="Text 36">
            <a:extLst>
              <a:ext uri="{FF2B5EF4-FFF2-40B4-BE49-F238E27FC236}">
                <a16:creationId xmlns:a16="http://schemas.microsoft.com/office/drawing/2014/main" id="{EC771050-EB4D-9323-7057-FC8470F6F6BC}"/>
              </a:ext>
            </a:extLst>
          </p:cNvPr>
          <p:cNvSpPr/>
          <p:nvPr/>
        </p:nvSpPr>
        <p:spPr>
          <a:xfrm>
            <a:off x="6442880" y="3229532"/>
            <a:ext cx="2377440" cy="640080"/>
          </a:xfrm>
          <a:prstGeom prst="rect">
            <a:avLst/>
          </a:prstGeom>
          <a:noFill/>
          <a:ln/>
        </p:spPr>
        <p:txBody>
          <a:bodyPr wrap="square" rtlCol="0" anchor="ctr"/>
          <a:lstStyle/>
          <a:p>
            <a:pPr>
              <a:lnSpc>
                <a:spcPts val="1400"/>
              </a:lnSpc>
            </a:pPr>
            <a:r>
              <a:rPr lang="en-US" sz="1100" dirty="0">
                <a:solidFill>
                  <a:schemeClr val="accent5">
                    <a:lumMod val="75000"/>
                  </a:schemeClr>
                </a:solidFill>
                <a:latin typeface="Aptos "/>
                <a:cs typeface="Arial" pitchFamily="34" charset="-120"/>
              </a:rPr>
              <a:t>• Extension </a:t>
            </a:r>
            <a:r>
              <a:rPr lang="en-US" sz="1100" dirty="0" err="1">
                <a:solidFill>
                  <a:schemeClr val="accent5">
                    <a:lumMod val="75000"/>
                  </a:schemeClr>
                </a:solidFill>
                <a:latin typeface="Aptos "/>
                <a:cs typeface="Arial" pitchFamily="34" charset="-120"/>
              </a:rPr>
              <a:t>tous</a:t>
            </a:r>
            <a:r>
              <a:rPr lang="en-US" sz="1100" dirty="0">
                <a:solidFill>
                  <a:schemeClr val="accent5">
                    <a:lumMod val="75000"/>
                  </a:schemeClr>
                </a:solidFill>
                <a:latin typeface="Aptos "/>
                <a:cs typeface="Arial" pitchFamily="34" charset="-120"/>
              </a:rPr>
              <a:t> </a:t>
            </a:r>
            <a:r>
              <a:rPr lang="en-US" sz="1100" dirty="0" err="1">
                <a:solidFill>
                  <a:schemeClr val="accent5">
                    <a:lumMod val="75000"/>
                  </a:schemeClr>
                </a:solidFill>
                <a:latin typeface="Aptos "/>
                <a:cs typeface="Arial" pitchFamily="34" charset="-120"/>
              </a:rPr>
              <a:t>domaines</a:t>
            </a:r>
            <a:endParaRPr lang="en-US" sz="1100" dirty="0">
              <a:solidFill>
                <a:schemeClr val="accent5">
                  <a:lumMod val="75000"/>
                </a:schemeClr>
              </a:solidFill>
              <a:latin typeface="Aptos "/>
              <a:cs typeface="Arial" pitchFamily="34" charset="-120"/>
            </a:endParaRPr>
          </a:p>
          <a:p>
            <a:pPr>
              <a:lnSpc>
                <a:spcPts val="1400"/>
              </a:lnSpc>
            </a:pPr>
            <a:r>
              <a:rPr lang="en-US" sz="1100" dirty="0">
                <a:solidFill>
                  <a:schemeClr val="accent5">
                    <a:lumMod val="75000"/>
                  </a:schemeClr>
                </a:solidFill>
                <a:latin typeface="Aptos "/>
                <a:cs typeface="Arial" pitchFamily="34" charset="-120"/>
              </a:rPr>
              <a:t>• </a:t>
            </a:r>
            <a:r>
              <a:rPr lang="en-US" sz="1100" dirty="0" err="1">
                <a:solidFill>
                  <a:schemeClr val="accent5">
                    <a:lumMod val="75000"/>
                  </a:schemeClr>
                </a:solidFill>
                <a:latin typeface="Aptos "/>
                <a:cs typeface="Arial" pitchFamily="34" charset="-120"/>
              </a:rPr>
              <a:t>Harmonisation</a:t>
            </a:r>
            <a:r>
              <a:rPr lang="en-US" sz="1100" dirty="0">
                <a:solidFill>
                  <a:schemeClr val="accent5">
                    <a:lumMod val="75000"/>
                  </a:schemeClr>
                </a:solidFill>
                <a:latin typeface="Aptos "/>
                <a:cs typeface="Arial" pitchFamily="34" charset="-120"/>
              </a:rPr>
              <a:t> KPI</a:t>
            </a:r>
          </a:p>
          <a:p>
            <a:pPr>
              <a:lnSpc>
                <a:spcPts val="1400"/>
              </a:lnSpc>
            </a:pPr>
            <a:r>
              <a:rPr lang="en-US" sz="1100" dirty="0">
                <a:solidFill>
                  <a:schemeClr val="accent5">
                    <a:lumMod val="75000"/>
                  </a:schemeClr>
                </a:solidFill>
                <a:latin typeface="Aptos "/>
                <a:cs typeface="Arial" pitchFamily="34" charset="-120"/>
              </a:rPr>
              <a:t>• Audits &amp; </a:t>
            </a:r>
            <a:r>
              <a:rPr lang="en-US" sz="1100" dirty="0" err="1">
                <a:solidFill>
                  <a:schemeClr val="accent5">
                    <a:lumMod val="75000"/>
                  </a:schemeClr>
                </a:solidFill>
                <a:latin typeface="Aptos "/>
                <a:cs typeface="Arial" pitchFamily="34" charset="-120"/>
              </a:rPr>
              <a:t>mesure</a:t>
            </a:r>
            <a:r>
              <a:rPr lang="en-US" sz="1100" dirty="0">
                <a:solidFill>
                  <a:schemeClr val="accent5">
                    <a:lumMod val="75000"/>
                  </a:schemeClr>
                </a:solidFill>
                <a:latin typeface="Aptos "/>
                <a:cs typeface="Arial" pitchFamily="34" charset="-120"/>
              </a:rPr>
              <a:t> continue</a:t>
            </a:r>
          </a:p>
        </p:txBody>
      </p:sp>
      <p:sp>
        <p:nvSpPr>
          <p:cNvPr id="46" name="Shape 37">
            <a:extLst>
              <a:ext uri="{FF2B5EF4-FFF2-40B4-BE49-F238E27FC236}">
                <a16:creationId xmlns:a16="http://schemas.microsoft.com/office/drawing/2014/main" id="{748BAA31-D2AE-6A59-9AE3-4AAD525BC9B1}"/>
              </a:ext>
            </a:extLst>
          </p:cNvPr>
          <p:cNvSpPr/>
          <p:nvPr/>
        </p:nvSpPr>
        <p:spPr>
          <a:xfrm>
            <a:off x="6442880" y="4052492"/>
            <a:ext cx="2377440" cy="457200"/>
          </a:xfrm>
          <a:prstGeom prst="rect">
            <a:avLst/>
          </a:prstGeom>
          <a:solidFill>
            <a:srgbClr val="FFFFFF"/>
          </a:solidFill>
          <a:ln w="19050">
            <a:solidFill>
              <a:srgbClr val="8B5CF6"/>
            </a:solidFill>
            <a:prstDash val="solid"/>
          </a:ln>
        </p:spPr>
      </p:sp>
      <p:sp>
        <p:nvSpPr>
          <p:cNvPr id="47" name="Text 38">
            <a:extLst>
              <a:ext uri="{FF2B5EF4-FFF2-40B4-BE49-F238E27FC236}">
                <a16:creationId xmlns:a16="http://schemas.microsoft.com/office/drawing/2014/main" id="{B0A7BFF2-2FC4-708F-3AFD-547F5A3F90E8}"/>
              </a:ext>
            </a:extLst>
          </p:cNvPr>
          <p:cNvSpPr/>
          <p:nvPr/>
        </p:nvSpPr>
        <p:spPr>
          <a:xfrm>
            <a:off x="6534320" y="4098212"/>
            <a:ext cx="2194560" cy="137160"/>
          </a:xfrm>
          <a:prstGeom prst="rect">
            <a:avLst/>
          </a:prstGeom>
          <a:noFill/>
          <a:ln/>
        </p:spPr>
        <p:txBody>
          <a:bodyPr wrap="square" rtlCol="0" anchor="ctr"/>
          <a:lstStyle/>
          <a:p>
            <a:pPr marL="0" indent="0">
              <a:buNone/>
            </a:pPr>
            <a:r>
              <a:rPr lang="en-US" sz="1200" b="1" kern="0" spc="100" dirty="0">
                <a:solidFill>
                  <a:srgbClr val="8B5CF6"/>
                </a:solidFill>
                <a:latin typeface="Aptos "/>
                <a:ea typeface="Arial" pitchFamily="34" charset="-122"/>
                <a:cs typeface="Arial" pitchFamily="34" charset="-120"/>
              </a:rPr>
              <a:t>RÉSULTAT</a:t>
            </a:r>
            <a:endParaRPr lang="en-US" sz="1200" dirty="0">
              <a:latin typeface="Aptos "/>
            </a:endParaRPr>
          </a:p>
        </p:txBody>
      </p:sp>
      <p:sp>
        <p:nvSpPr>
          <p:cNvPr id="48" name="Text 39">
            <a:extLst>
              <a:ext uri="{FF2B5EF4-FFF2-40B4-BE49-F238E27FC236}">
                <a16:creationId xmlns:a16="http://schemas.microsoft.com/office/drawing/2014/main" id="{9BC75EF4-91D3-D688-760A-F5609F27E092}"/>
              </a:ext>
            </a:extLst>
          </p:cNvPr>
          <p:cNvSpPr/>
          <p:nvPr/>
        </p:nvSpPr>
        <p:spPr>
          <a:xfrm>
            <a:off x="6534320" y="4262804"/>
            <a:ext cx="2194560" cy="228600"/>
          </a:xfrm>
          <a:prstGeom prst="rect">
            <a:avLst/>
          </a:prstGeom>
          <a:noFill/>
          <a:ln/>
        </p:spPr>
        <p:txBody>
          <a:bodyPr wrap="square" rtlCol="0" anchor="ctr"/>
          <a:lstStyle/>
          <a:p>
            <a:pPr marL="0" indent="0">
              <a:buNone/>
            </a:pPr>
            <a:r>
              <a:rPr lang="en-US" sz="1100" b="1" dirty="0">
                <a:solidFill>
                  <a:srgbClr val="1A1A1A"/>
                </a:solidFill>
                <a:latin typeface="Aptos "/>
                <a:ea typeface="Arial" pitchFamily="34" charset="-122"/>
                <a:cs typeface="Arial" pitchFamily="34" charset="-120"/>
              </a:rPr>
              <a:t>Maturité data à l'échelle</a:t>
            </a:r>
            <a:endParaRPr lang="en-US" sz="1100" dirty="0">
              <a:latin typeface="Aptos "/>
            </a:endParaRPr>
          </a:p>
        </p:txBody>
      </p:sp>
      <p:sp>
        <p:nvSpPr>
          <p:cNvPr id="4" name="ZoneTexte 3">
            <a:extLst>
              <a:ext uri="{FF2B5EF4-FFF2-40B4-BE49-F238E27FC236}">
                <a16:creationId xmlns:a16="http://schemas.microsoft.com/office/drawing/2014/main" id="{75D2160F-11ED-3DA0-B554-A8268290EB4C}"/>
              </a:ext>
            </a:extLst>
          </p:cNvPr>
          <p:cNvSpPr txBox="1"/>
          <p:nvPr/>
        </p:nvSpPr>
        <p:spPr>
          <a:xfrm>
            <a:off x="7408476" y="4757292"/>
            <a:ext cx="2092168" cy="400110"/>
          </a:xfrm>
          <a:prstGeom prst="rect">
            <a:avLst/>
          </a:prstGeom>
          <a:noFill/>
        </p:spPr>
        <p:txBody>
          <a:bodyPr wrap="square" rtlCol="0">
            <a:spAutoFit/>
          </a:bodyPr>
          <a:lstStyle/>
          <a:p>
            <a:pPr marL="285750" indent="-285750">
              <a:buFont typeface="Wingdings" panose="05000000000000000000" pitchFamily="2" charset="2"/>
              <a:buChar char="ü"/>
            </a:pPr>
            <a:r>
              <a:rPr lang="fr-FR" sz="1000" dirty="0">
                <a:solidFill>
                  <a:schemeClr val="tx1">
                    <a:lumMod val="65000"/>
                    <a:lumOff val="35000"/>
                  </a:schemeClr>
                </a:solidFill>
                <a:latin typeface="Aptos" panose="020B0004020202020204" pitchFamily="34" charset="0"/>
                <a:ea typeface="Inter"/>
                <a:hlinkClick r:id="rId7"/>
              </a:rPr>
              <a:t>Lien vers le plan d’implémentation</a:t>
            </a:r>
            <a:endParaRPr lang="fr-FR" sz="1000" dirty="0">
              <a:solidFill>
                <a:schemeClr val="tx1">
                  <a:lumMod val="65000"/>
                  <a:lumOff val="35000"/>
                </a:schemeClr>
              </a:solidFill>
              <a:latin typeface="Aptos" panose="020B0004020202020204" pitchFamily="34" charset="0"/>
              <a:ea typeface="Inter"/>
            </a:endParaRPr>
          </a:p>
        </p:txBody>
      </p:sp>
    </p:spTree>
    <p:extLst>
      <p:ext uri="{BB962C8B-B14F-4D97-AF65-F5344CB8AC3E}">
        <p14:creationId xmlns:p14="http://schemas.microsoft.com/office/powerpoint/2010/main" val="23184266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DBD0"/>
        </a:solidFill>
        <a:effectLst/>
      </p:bgPr>
    </p:bg>
    <p:spTree>
      <p:nvGrpSpPr>
        <p:cNvPr id="1" name="Shape 109"/>
        <p:cNvGrpSpPr/>
        <p:nvPr/>
      </p:nvGrpSpPr>
      <p:grpSpPr>
        <a:xfrm>
          <a:off x="0" y="0"/>
          <a:ext cx="0" cy="0"/>
          <a:chOff x="0" y="0"/>
          <a:chExt cx="0" cy="0"/>
        </a:xfrm>
      </p:grpSpPr>
      <p:sp>
        <p:nvSpPr>
          <p:cNvPr id="110" name="Google Shape;110;p19"/>
          <p:cNvSpPr txBox="1">
            <a:spLocks noGrp="1"/>
          </p:cNvSpPr>
          <p:nvPr>
            <p:ph type="ctrTitle" idx="4294967295"/>
          </p:nvPr>
        </p:nvSpPr>
        <p:spPr>
          <a:xfrm>
            <a:off x="1358971" y="1621844"/>
            <a:ext cx="6592218" cy="103006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sz="5600" b="1" dirty="0">
                <a:solidFill>
                  <a:srgbClr val="0E3449"/>
                </a:solidFill>
                <a:latin typeface="Aptos" panose="020B0004020202020204" pitchFamily="34" charset="0"/>
                <a:ea typeface="Inter"/>
                <a:cs typeface="Inter"/>
                <a:sym typeface="Inter"/>
              </a:rPr>
              <a:t>Temps d’échange</a:t>
            </a:r>
            <a:endParaRPr sz="5600" b="1" dirty="0">
              <a:solidFill>
                <a:srgbClr val="0E3449"/>
              </a:solidFill>
              <a:latin typeface="Aptos" panose="020B0004020202020204" pitchFamily="34" charset="0"/>
              <a:ea typeface="Inter"/>
              <a:cs typeface="Inter"/>
              <a:sym typeface="Inter"/>
            </a:endParaRPr>
          </a:p>
        </p:txBody>
      </p:sp>
      <p:pic>
        <p:nvPicPr>
          <p:cNvPr id="111" name="Google Shape;111;p19"/>
          <p:cNvPicPr preferRelativeResize="0"/>
          <p:nvPr/>
        </p:nvPicPr>
        <p:blipFill>
          <a:blip r:embed="rId3">
            <a:alphaModFix/>
          </a:blip>
          <a:stretch>
            <a:fillRect/>
          </a:stretch>
        </p:blipFill>
        <p:spPr>
          <a:xfrm>
            <a:off x="3918625" y="3006625"/>
            <a:ext cx="4599299" cy="2136876"/>
          </a:xfrm>
          <a:prstGeom prst="rect">
            <a:avLst/>
          </a:prstGeom>
          <a:noFill/>
          <a:ln>
            <a:noFill/>
          </a:ln>
        </p:spPr>
      </p:pic>
      <p:pic>
        <p:nvPicPr>
          <p:cNvPr id="2" name="Google Shape;56;p13">
            <a:extLst>
              <a:ext uri="{FF2B5EF4-FFF2-40B4-BE49-F238E27FC236}">
                <a16:creationId xmlns:a16="http://schemas.microsoft.com/office/drawing/2014/main" id="{63257B83-5FC2-0173-AC28-A87C9F40D8A7}"/>
              </a:ext>
            </a:extLst>
          </p:cNvPr>
          <p:cNvPicPr preferRelativeResize="0"/>
          <p:nvPr/>
        </p:nvPicPr>
        <p:blipFill>
          <a:blip r:embed="rId4">
            <a:alphaModFix/>
          </a:blip>
          <a:stretch>
            <a:fillRect/>
          </a:stretch>
        </p:blipFill>
        <p:spPr>
          <a:xfrm>
            <a:off x="76200" y="90544"/>
            <a:ext cx="973275" cy="65105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1880</Words>
  <Application>Microsoft Office PowerPoint</Application>
  <PresentationFormat>Affichage à l'écran (16:9)</PresentationFormat>
  <Paragraphs>179</Paragraphs>
  <Slides>13</Slides>
  <Notes>13</Notes>
  <HiddenSlides>0</HiddenSlides>
  <MMClips>0</MMClips>
  <ScaleCrop>false</ScaleCrop>
  <HeadingPairs>
    <vt:vector size="8" baseType="variant">
      <vt:variant>
        <vt:lpstr>Polices utilisées</vt:lpstr>
      </vt:variant>
      <vt:variant>
        <vt:i4>5</vt:i4>
      </vt:variant>
      <vt:variant>
        <vt:lpstr>Thème</vt:lpstr>
      </vt:variant>
      <vt:variant>
        <vt:i4>1</vt:i4>
      </vt:variant>
      <vt:variant>
        <vt:lpstr>Serveurs OLE incorporés</vt:lpstr>
      </vt:variant>
      <vt:variant>
        <vt:i4>1</vt:i4>
      </vt:variant>
      <vt:variant>
        <vt:lpstr>Titres des diapositives</vt:lpstr>
      </vt:variant>
      <vt:variant>
        <vt:i4>13</vt:i4>
      </vt:variant>
    </vt:vector>
  </HeadingPairs>
  <TitlesOfParts>
    <vt:vector size="20" baseType="lpstr">
      <vt:lpstr>Aptos</vt:lpstr>
      <vt:lpstr>Wingdings</vt:lpstr>
      <vt:lpstr>Courier New</vt:lpstr>
      <vt:lpstr>Arial</vt:lpstr>
      <vt:lpstr>Aptos </vt:lpstr>
      <vt:lpstr>Simple Light</vt:lpstr>
      <vt:lpstr>Worksheet</vt:lpstr>
      <vt:lpstr>Projet</vt:lpstr>
      <vt:lpstr>Contexte du projet</vt:lpstr>
      <vt:lpstr>Présentation des 3 étapes du projet</vt:lpstr>
      <vt:lpstr>Partie 1 - Diagnostic &amp; cadrage:  Niveau de maturité Spotify</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Temps d’échange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david jaoui</dc:creator>
  <cp:lastModifiedBy>david jaoui</cp:lastModifiedBy>
  <cp:revision>56</cp:revision>
  <dcterms:modified xsi:type="dcterms:W3CDTF">2026-02-06T09:36:54Z</dcterms:modified>
</cp:coreProperties>
</file>